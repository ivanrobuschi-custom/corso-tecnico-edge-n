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83" r:id="rId6"/>
    <p:sldMasterId id="2147483698" r:id="rId7"/>
  </p:sldMasterIdLst>
  <p:notesMasterIdLst>
    <p:notesMasterId r:id="rId43"/>
  </p:notesMasterIdLst>
  <p:sldIdLst>
    <p:sldId id="256" r:id="rId8"/>
    <p:sldId id="2147479296" r:id="rId9"/>
    <p:sldId id="2147479302" r:id="rId10"/>
    <p:sldId id="2147479303" r:id="rId11"/>
    <p:sldId id="2147479377" r:id="rId12"/>
    <p:sldId id="2147479330" r:id="rId13"/>
    <p:sldId id="2147479393" r:id="rId14"/>
    <p:sldId id="2147479372" r:id="rId15"/>
    <p:sldId id="2147479410" r:id="rId16"/>
    <p:sldId id="2147479293" r:id="rId17"/>
    <p:sldId id="2147479387" r:id="rId18"/>
    <p:sldId id="2147479379" r:id="rId19"/>
    <p:sldId id="4192" r:id="rId20"/>
    <p:sldId id="2147479411" r:id="rId21"/>
    <p:sldId id="4198" r:id="rId22"/>
    <p:sldId id="2147479412" r:id="rId23"/>
    <p:sldId id="4196" r:id="rId24"/>
    <p:sldId id="2147479413" r:id="rId25"/>
    <p:sldId id="4193" r:id="rId26"/>
    <p:sldId id="2147479376" r:id="rId27"/>
    <p:sldId id="2147479380" r:id="rId28"/>
    <p:sldId id="2147479381" r:id="rId29"/>
    <p:sldId id="2147479373" r:id="rId30"/>
    <p:sldId id="2147479375" r:id="rId31"/>
    <p:sldId id="2147479353" r:id="rId32"/>
    <p:sldId id="2147479374" r:id="rId33"/>
    <p:sldId id="2147479414" r:id="rId34"/>
    <p:sldId id="2147479416" r:id="rId35"/>
    <p:sldId id="2147479415" r:id="rId36"/>
    <p:sldId id="2147479394" r:id="rId37"/>
    <p:sldId id="2147479406" r:id="rId38"/>
    <p:sldId id="2147479395" r:id="rId39"/>
    <p:sldId id="2147479405" r:id="rId40"/>
    <p:sldId id="2147479401" r:id="rId41"/>
    <p:sldId id="2147479407" r:id="rId4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234" userDrawn="1">
          <p15:clr>
            <a:srgbClr val="A4A3A4"/>
          </p15:clr>
        </p15:guide>
        <p15:guide id="3" pos="1050" userDrawn="1">
          <p15:clr>
            <a:srgbClr val="A4A3A4"/>
          </p15:clr>
        </p15:guide>
        <p15:guide id="4" orient="horz" pos="6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105E99-5A2A-37A7-6208-1FAC253A4C16}" name="Davide Adorni" initials="DA" userId="S::d.adorni@custom.it::9e70d776-8721-427a-b111-713a1620c6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ACA1"/>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724002-766A-4638-9C48-8298D3FF6E06}" v="115" dt="2026-02-11T10:41:50.964"/>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4"/>
    <p:restoredTop sz="94719"/>
  </p:normalViewPr>
  <p:slideViewPr>
    <p:cSldViewPr snapToGrid="0">
      <p:cViewPr>
        <p:scale>
          <a:sx n="99" d="100"/>
          <a:sy n="99" d="100"/>
        </p:scale>
        <p:origin x="58" y="58"/>
      </p:cViewPr>
      <p:guideLst>
        <p:guide pos="3840"/>
        <p:guide pos="234"/>
        <p:guide pos="1050"/>
        <p:guide orient="horz" pos="6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e Adorni" userId="9e70d776-8721-427a-b111-713a1620c6e9" providerId="ADAL" clId="{8E7457C8-399E-4B96-A290-2E100CA2FE8A}"/>
    <pc:docChg chg="undo custSel addSld delSld modSld sldOrd">
      <pc:chgData name="Davide Adorni" userId="9e70d776-8721-427a-b111-713a1620c6e9" providerId="ADAL" clId="{8E7457C8-399E-4B96-A290-2E100CA2FE8A}" dt="2026-02-10T14:50:47.393" v="733" actId="20577"/>
      <pc:docMkLst>
        <pc:docMk/>
      </pc:docMkLst>
      <pc:sldChg chg="ord">
        <pc:chgData name="Davide Adorni" userId="9e70d776-8721-427a-b111-713a1620c6e9" providerId="ADAL" clId="{8E7457C8-399E-4B96-A290-2E100CA2FE8A}" dt="2026-02-05T13:41:08.506" v="44"/>
        <pc:sldMkLst>
          <pc:docMk/>
          <pc:sldMk cId="1809775774" sldId="4192"/>
        </pc:sldMkLst>
      </pc:sldChg>
      <pc:sldChg chg="ord">
        <pc:chgData name="Davide Adorni" userId="9e70d776-8721-427a-b111-713a1620c6e9" providerId="ADAL" clId="{8E7457C8-399E-4B96-A290-2E100CA2FE8A}" dt="2026-02-05T13:41:08.506" v="44"/>
        <pc:sldMkLst>
          <pc:docMk/>
          <pc:sldMk cId="3459696750" sldId="4193"/>
        </pc:sldMkLst>
      </pc:sldChg>
      <pc:sldChg chg="ord">
        <pc:chgData name="Davide Adorni" userId="9e70d776-8721-427a-b111-713a1620c6e9" providerId="ADAL" clId="{8E7457C8-399E-4B96-A290-2E100CA2FE8A}" dt="2026-02-05T13:41:08.506" v="44"/>
        <pc:sldMkLst>
          <pc:docMk/>
          <pc:sldMk cId="750938177" sldId="4196"/>
        </pc:sldMkLst>
      </pc:sldChg>
      <pc:sldChg chg="ord">
        <pc:chgData name="Davide Adorni" userId="9e70d776-8721-427a-b111-713a1620c6e9" providerId="ADAL" clId="{8E7457C8-399E-4B96-A290-2E100CA2FE8A}" dt="2026-02-05T13:41:08.506" v="44"/>
        <pc:sldMkLst>
          <pc:docMk/>
          <pc:sldMk cId="2922241636" sldId="4198"/>
        </pc:sldMkLst>
      </pc:sldChg>
      <pc:sldChg chg="addSp delSp modSp mod ord">
        <pc:chgData name="Davide Adorni" userId="9e70d776-8721-427a-b111-713a1620c6e9" providerId="ADAL" clId="{8E7457C8-399E-4B96-A290-2E100CA2FE8A}" dt="2026-02-09T09:10:55.114" v="500" actId="3626"/>
        <pc:sldMkLst>
          <pc:docMk/>
          <pc:sldMk cId="2115539545" sldId="2147479293"/>
        </pc:sldMkLst>
        <pc:spChg chg="add del mod">
          <ac:chgData name="Davide Adorni" userId="9e70d776-8721-427a-b111-713a1620c6e9" providerId="ADAL" clId="{8E7457C8-399E-4B96-A290-2E100CA2FE8A}" dt="2026-02-09T09:10:55.114" v="500" actId="3626"/>
          <ac:spMkLst>
            <pc:docMk/>
            <pc:sldMk cId="2115539545" sldId="2147479293"/>
            <ac:spMk id="2" creationId="{299C0266-BCCF-4EC1-AACC-151B4592A6C1}"/>
          </ac:spMkLst>
        </pc:spChg>
      </pc:sldChg>
      <pc:sldChg chg="ord">
        <pc:chgData name="Davide Adorni" userId="9e70d776-8721-427a-b111-713a1620c6e9" providerId="ADAL" clId="{8E7457C8-399E-4B96-A290-2E100CA2FE8A}" dt="2026-02-05T14:00:32.817" v="346"/>
        <pc:sldMkLst>
          <pc:docMk/>
          <pc:sldMk cId="2037620482" sldId="2147479330"/>
        </pc:sldMkLst>
      </pc:sldChg>
      <pc:sldChg chg="ord">
        <pc:chgData name="Davide Adorni" userId="9e70d776-8721-427a-b111-713a1620c6e9" providerId="ADAL" clId="{8E7457C8-399E-4B96-A290-2E100CA2FE8A}" dt="2026-02-05T14:04:31.728" v="394"/>
        <pc:sldMkLst>
          <pc:docMk/>
          <pc:sldMk cId="4052906054" sldId="2147479353"/>
        </pc:sldMkLst>
      </pc:sldChg>
      <pc:sldChg chg="ord">
        <pc:chgData name="Davide Adorni" userId="9e70d776-8721-427a-b111-713a1620c6e9" providerId="ADAL" clId="{8E7457C8-399E-4B96-A290-2E100CA2FE8A}" dt="2026-02-05T13:41:08.506" v="44"/>
        <pc:sldMkLst>
          <pc:docMk/>
          <pc:sldMk cId="581779490" sldId="2147479372"/>
        </pc:sldMkLst>
      </pc:sldChg>
      <pc:sldChg chg="ord">
        <pc:chgData name="Davide Adorni" userId="9e70d776-8721-427a-b111-713a1620c6e9" providerId="ADAL" clId="{8E7457C8-399E-4B96-A290-2E100CA2FE8A}" dt="2026-02-10T14:43:06.756" v="653"/>
        <pc:sldMkLst>
          <pc:docMk/>
          <pc:sldMk cId="3537984703" sldId="2147479373"/>
        </pc:sldMkLst>
      </pc:sldChg>
      <pc:sldChg chg="modSp mod">
        <pc:chgData name="Davide Adorni" userId="9e70d776-8721-427a-b111-713a1620c6e9" providerId="ADAL" clId="{8E7457C8-399E-4B96-A290-2E100CA2FE8A}" dt="2026-02-10T14:44:23.381" v="730" actId="20577"/>
        <pc:sldMkLst>
          <pc:docMk/>
          <pc:sldMk cId="1910318259" sldId="2147479374"/>
        </pc:sldMkLst>
        <pc:spChg chg="mod">
          <ac:chgData name="Davide Adorni" userId="9e70d776-8721-427a-b111-713a1620c6e9" providerId="ADAL" clId="{8E7457C8-399E-4B96-A290-2E100CA2FE8A}" dt="2026-02-05T13:42:36.789" v="73" actId="20577"/>
          <ac:spMkLst>
            <pc:docMk/>
            <pc:sldMk cId="1910318259" sldId="2147479374"/>
            <ac:spMk id="2" creationId="{A7D773AD-743D-7356-DAC4-468FAFEE3CD0}"/>
          </ac:spMkLst>
        </pc:spChg>
        <pc:spChg chg="mod">
          <ac:chgData name="Davide Adorni" userId="9e70d776-8721-427a-b111-713a1620c6e9" providerId="ADAL" clId="{8E7457C8-399E-4B96-A290-2E100CA2FE8A}" dt="2026-02-10T14:44:23.381" v="730" actId="20577"/>
          <ac:spMkLst>
            <pc:docMk/>
            <pc:sldMk cId="1910318259" sldId="2147479374"/>
            <ac:spMk id="4" creationId="{5A22AA96-C6B2-8A9E-6678-9FAB07794794}"/>
          </ac:spMkLst>
        </pc:spChg>
      </pc:sldChg>
      <pc:sldChg chg="ord">
        <pc:chgData name="Davide Adorni" userId="9e70d776-8721-427a-b111-713a1620c6e9" providerId="ADAL" clId="{8E7457C8-399E-4B96-A290-2E100CA2FE8A}" dt="2026-02-05T14:05:50.573" v="399"/>
        <pc:sldMkLst>
          <pc:docMk/>
          <pc:sldMk cId="1974977750" sldId="2147479375"/>
        </pc:sldMkLst>
      </pc:sldChg>
      <pc:sldChg chg="ord">
        <pc:chgData name="Davide Adorni" userId="9e70d776-8721-427a-b111-713a1620c6e9" providerId="ADAL" clId="{8E7457C8-399E-4B96-A290-2E100CA2FE8A}" dt="2026-02-05T14:04:08.410" v="392"/>
        <pc:sldMkLst>
          <pc:docMk/>
          <pc:sldMk cId="1046014651" sldId="2147479376"/>
        </pc:sldMkLst>
      </pc:sldChg>
      <pc:sldChg chg="addSp modSp mod modShow">
        <pc:chgData name="Davide Adorni" userId="9e70d776-8721-427a-b111-713a1620c6e9" providerId="ADAL" clId="{8E7457C8-399E-4B96-A290-2E100CA2FE8A}" dt="2026-02-09T10:19:08.344" v="647" actId="729"/>
        <pc:sldMkLst>
          <pc:docMk/>
          <pc:sldMk cId="721781443" sldId="2147479377"/>
        </pc:sldMkLst>
        <pc:spChg chg="mod">
          <ac:chgData name="Davide Adorni" userId="9e70d776-8721-427a-b111-713a1620c6e9" providerId="ADAL" clId="{8E7457C8-399E-4B96-A290-2E100CA2FE8A}" dt="2026-02-05T14:03:24.999" v="390" actId="20577"/>
          <ac:spMkLst>
            <pc:docMk/>
            <pc:sldMk cId="721781443" sldId="2147479377"/>
            <ac:spMk id="4" creationId="{A595A36F-B76B-61C1-47CF-A8A5DB8FD247}"/>
          </ac:spMkLst>
        </pc:spChg>
        <pc:picChg chg="add">
          <ac:chgData name="Davide Adorni" userId="9e70d776-8721-427a-b111-713a1620c6e9" providerId="ADAL" clId="{8E7457C8-399E-4B96-A290-2E100CA2FE8A}" dt="2026-02-09T09:09:29.372" v="465"/>
          <ac:picMkLst>
            <pc:docMk/>
            <pc:sldMk cId="721781443" sldId="2147479377"/>
            <ac:picMk id="3" creationId="{2EA0844F-0FCC-9A59-DB11-3BD7272CC2E3}"/>
          </ac:picMkLst>
        </pc:picChg>
      </pc:sldChg>
      <pc:sldChg chg="ord">
        <pc:chgData name="Davide Adorni" userId="9e70d776-8721-427a-b111-713a1620c6e9" providerId="ADAL" clId="{8E7457C8-399E-4B96-A290-2E100CA2FE8A}" dt="2026-02-05T13:41:08.506" v="44"/>
        <pc:sldMkLst>
          <pc:docMk/>
          <pc:sldMk cId="1000806401" sldId="2147479379"/>
        </pc:sldMkLst>
      </pc:sldChg>
      <pc:sldChg chg="ord">
        <pc:chgData name="Davide Adorni" userId="9e70d776-8721-427a-b111-713a1620c6e9" providerId="ADAL" clId="{8E7457C8-399E-4B96-A290-2E100CA2FE8A}" dt="2026-02-05T14:05:34.831" v="397"/>
        <pc:sldMkLst>
          <pc:docMk/>
          <pc:sldMk cId="4026941220" sldId="2147479380"/>
        </pc:sldMkLst>
      </pc:sldChg>
      <pc:sldChg chg="ord">
        <pc:chgData name="Davide Adorni" userId="9e70d776-8721-427a-b111-713a1620c6e9" providerId="ADAL" clId="{8E7457C8-399E-4B96-A290-2E100CA2FE8A}" dt="2026-02-05T14:05:34.831" v="397"/>
        <pc:sldMkLst>
          <pc:docMk/>
          <pc:sldMk cId="3306094795" sldId="2147479381"/>
        </pc:sldMkLst>
      </pc:sldChg>
      <pc:sldChg chg="ord">
        <pc:chgData name="Davide Adorni" userId="9e70d776-8721-427a-b111-713a1620c6e9" providerId="ADAL" clId="{8E7457C8-399E-4B96-A290-2E100CA2FE8A}" dt="2026-02-05T13:41:08.506" v="44"/>
        <pc:sldMkLst>
          <pc:docMk/>
          <pc:sldMk cId="3229851254" sldId="2147479387"/>
        </pc:sldMkLst>
      </pc:sldChg>
      <pc:sldChg chg="ord">
        <pc:chgData name="Davide Adorni" userId="9e70d776-8721-427a-b111-713a1620c6e9" providerId="ADAL" clId="{8E7457C8-399E-4B96-A290-2E100CA2FE8A}" dt="2026-02-05T13:41:08.506" v="44"/>
        <pc:sldMkLst>
          <pc:docMk/>
          <pc:sldMk cId="3384653396" sldId="2147479393"/>
        </pc:sldMkLst>
      </pc:sldChg>
      <pc:sldChg chg="add del">
        <pc:chgData name="Davide Adorni" userId="9e70d776-8721-427a-b111-713a1620c6e9" providerId="ADAL" clId="{8E7457C8-399E-4B96-A290-2E100CA2FE8A}" dt="2026-02-05T14:02:08.124" v="352" actId="47"/>
        <pc:sldMkLst>
          <pc:docMk/>
          <pc:sldMk cId="2313846866" sldId="2147479394"/>
        </pc:sldMkLst>
      </pc:sldChg>
      <pc:sldChg chg="modSp mod">
        <pc:chgData name="Davide Adorni" userId="9e70d776-8721-427a-b111-713a1620c6e9" providerId="ADAL" clId="{8E7457C8-399E-4B96-A290-2E100CA2FE8A}" dt="2026-02-10T14:50:47.393" v="733" actId="20577"/>
        <pc:sldMkLst>
          <pc:docMk/>
          <pc:sldMk cId="4252998663" sldId="2147479405"/>
        </pc:sldMkLst>
        <pc:spChg chg="mod">
          <ac:chgData name="Davide Adorni" userId="9e70d776-8721-427a-b111-713a1620c6e9" providerId="ADAL" clId="{8E7457C8-399E-4B96-A290-2E100CA2FE8A}" dt="2026-02-10T14:50:47.393" v="733" actId="20577"/>
          <ac:spMkLst>
            <pc:docMk/>
            <pc:sldMk cId="4252998663" sldId="2147479405"/>
            <ac:spMk id="5" creationId="{B89E0A56-15A4-D2FE-FC8D-9D09DDC3343C}"/>
          </ac:spMkLst>
        </pc:spChg>
      </pc:sldChg>
      <pc:sldChg chg="addSp modSp add mod">
        <pc:chgData name="Davide Adorni" userId="9e70d776-8721-427a-b111-713a1620c6e9" providerId="ADAL" clId="{8E7457C8-399E-4B96-A290-2E100CA2FE8A}" dt="2026-02-09T09:19:22.499" v="504" actId="208"/>
        <pc:sldMkLst>
          <pc:docMk/>
          <pc:sldMk cId="4053018707" sldId="2147479410"/>
        </pc:sldMkLst>
        <pc:spChg chg="add mod">
          <ac:chgData name="Davide Adorni" userId="9e70d776-8721-427a-b111-713a1620c6e9" providerId="ADAL" clId="{8E7457C8-399E-4B96-A290-2E100CA2FE8A}" dt="2026-02-09T09:19:22.499" v="504" actId="208"/>
          <ac:spMkLst>
            <pc:docMk/>
            <pc:sldMk cId="4053018707" sldId="2147479410"/>
            <ac:spMk id="2" creationId="{E10D1274-5307-75C1-9E4D-B6137B3993DE}"/>
          </ac:spMkLst>
        </pc:spChg>
      </pc:sldChg>
      <pc:sldChg chg="modSp add mod">
        <pc:chgData name="Davide Adorni" userId="9e70d776-8721-427a-b111-713a1620c6e9" providerId="ADAL" clId="{8E7457C8-399E-4B96-A290-2E100CA2FE8A}" dt="2026-02-09T09:19:39.565" v="506" actId="1076"/>
        <pc:sldMkLst>
          <pc:docMk/>
          <pc:sldMk cId="1481896916" sldId="2147479411"/>
        </pc:sldMkLst>
        <pc:spChg chg="mod">
          <ac:chgData name="Davide Adorni" userId="9e70d776-8721-427a-b111-713a1620c6e9" providerId="ADAL" clId="{8E7457C8-399E-4B96-A290-2E100CA2FE8A}" dt="2026-02-09T09:19:39.565" v="506" actId="1076"/>
          <ac:spMkLst>
            <pc:docMk/>
            <pc:sldMk cId="1481896916" sldId="2147479411"/>
            <ac:spMk id="2" creationId="{5C79D938-7EDC-3A63-7A02-987B19E80A6B}"/>
          </ac:spMkLst>
        </pc:spChg>
      </pc:sldChg>
      <pc:sldChg chg="modSp add mod ord">
        <pc:chgData name="Davide Adorni" userId="9e70d776-8721-427a-b111-713a1620c6e9" providerId="ADAL" clId="{8E7457C8-399E-4B96-A290-2E100CA2FE8A}" dt="2026-02-09T09:20:06.797" v="510" actId="1076"/>
        <pc:sldMkLst>
          <pc:docMk/>
          <pc:sldMk cId="1600974754" sldId="2147479412"/>
        </pc:sldMkLst>
        <pc:spChg chg="mod">
          <ac:chgData name="Davide Adorni" userId="9e70d776-8721-427a-b111-713a1620c6e9" providerId="ADAL" clId="{8E7457C8-399E-4B96-A290-2E100CA2FE8A}" dt="2026-02-09T09:20:06.797" v="510" actId="1076"/>
          <ac:spMkLst>
            <pc:docMk/>
            <pc:sldMk cId="1600974754" sldId="2147479412"/>
            <ac:spMk id="2" creationId="{09939F59-94B9-72B0-C372-ACB693324750}"/>
          </ac:spMkLst>
        </pc:spChg>
      </pc:sldChg>
      <pc:sldChg chg="modSp add mod">
        <pc:chgData name="Davide Adorni" userId="9e70d776-8721-427a-b111-713a1620c6e9" providerId="ADAL" clId="{8E7457C8-399E-4B96-A290-2E100CA2FE8A}" dt="2026-02-09T09:20:20.017" v="512" actId="1076"/>
        <pc:sldMkLst>
          <pc:docMk/>
          <pc:sldMk cId="2317705418" sldId="2147479413"/>
        </pc:sldMkLst>
        <pc:spChg chg="mod">
          <ac:chgData name="Davide Adorni" userId="9e70d776-8721-427a-b111-713a1620c6e9" providerId="ADAL" clId="{8E7457C8-399E-4B96-A290-2E100CA2FE8A}" dt="2026-02-09T09:20:20.017" v="512" actId="1076"/>
          <ac:spMkLst>
            <pc:docMk/>
            <pc:sldMk cId="2317705418" sldId="2147479413"/>
            <ac:spMk id="2" creationId="{62F2E950-EEAB-78CF-EF89-2AE082999BD5}"/>
          </ac:spMkLst>
        </pc:spChg>
      </pc:sldChg>
      <pc:sldChg chg="addSp delSp modSp add mod ord">
        <pc:chgData name="Davide Adorni" userId="9e70d776-8721-427a-b111-713a1620c6e9" providerId="ADAL" clId="{8E7457C8-399E-4B96-A290-2E100CA2FE8A}" dt="2026-02-09T10:20:53.375" v="651" actId="208"/>
        <pc:sldMkLst>
          <pc:docMk/>
          <pc:sldMk cId="3812038034" sldId="2147479414"/>
        </pc:sldMkLst>
        <pc:spChg chg="add mod">
          <ac:chgData name="Davide Adorni" userId="9e70d776-8721-427a-b111-713a1620c6e9" providerId="ADAL" clId="{8E7457C8-399E-4B96-A290-2E100CA2FE8A}" dt="2026-02-09T09:57:39.071" v="612" actId="1076"/>
          <ac:spMkLst>
            <pc:docMk/>
            <pc:sldMk cId="3812038034" sldId="2147479414"/>
            <ac:spMk id="8" creationId="{09EAEFA6-C42D-162A-678D-42DFEED5981D}"/>
          </ac:spMkLst>
        </pc:spChg>
        <pc:grpChg chg="mod">
          <ac:chgData name="Davide Adorni" userId="9e70d776-8721-427a-b111-713a1620c6e9" providerId="ADAL" clId="{8E7457C8-399E-4B96-A290-2E100CA2FE8A}" dt="2026-02-09T09:57:45.831" v="645" actId="1035"/>
          <ac:grpSpMkLst>
            <pc:docMk/>
            <pc:sldMk cId="3812038034" sldId="2147479414"/>
            <ac:grpSpMk id="9" creationId="{E741FAB9-A675-9CCE-8DE9-FD6F89791CE1}"/>
          </ac:grpSpMkLst>
        </pc:grpChg>
        <pc:grpChg chg="mod">
          <ac:chgData name="Davide Adorni" userId="9e70d776-8721-427a-b111-713a1620c6e9" providerId="ADAL" clId="{8E7457C8-399E-4B96-A290-2E100CA2FE8A}" dt="2026-02-09T09:57:45.831" v="645" actId="1035"/>
          <ac:grpSpMkLst>
            <pc:docMk/>
            <pc:sldMk cId="3812038034" sldId="2147479414"/>
            <ac:grpSpMk id="12" creationId="{48D0C81B-516E-FAC4-3EB3-0834673868A6}"/>
          </ac:grpSpMkLst>
        </pc:grpChg>
        <pc:picChg chg="mod">
          <ac:chgData name="Davide Adorni" userId="9e70d776-8721-427a-b111-713a1620c6e9" providerId="ADAL" clId="{8E7457C8-399E-4B96-A290-2E100CA2FE8A}" dt="2026-02-09T09:57:08.880" v="574"/>
          <ac:picMkLst>
            <pc:docMk/>
            <pc:sldMk cId="3812038034" sldId="2147479414"/>
            <ac:picMk id="10" creationId="{E329AEC0-D063-3686-9DA3-CF6AA6FBCCF6}"/>
          </ac:picMkLst>
        </pc:picChg>
        <pc:picChg chg="mod">
          <ac:chgData name="Davide Adorni" userId="9e70d776-8721-427a-b111-713a1620c6e9" providerId="ADAL" clId="{8E7457C8-399E-4B96-A290-2E100CA2FE8A}" dt="2026-02-09T09:57:08.880" v="574"/>
          <ac:picMkLst>
            <pc:docMk/>
            <pc:sldMk cId="3812038034" sldId="2147479414"/>
            <ac:picMk id="11" creationId="{1AFD93FD-12FA-90B4-73C5-8C1A0E6973AD}"/>
          </ac:picMkLst>
        </pc:picChg>
        <pc:picChg chg="mod">
          <ac:chgData name="Davide Adorni" userId="9e70d776-8721-427a-b111-713a1620c6e9" providerId="ADAL" clId="{8E7457C8-399E-4B96-A290-2E100CA2FE8A}" dt="2026-02-09T09:57:08.880" v="574"/>
          <ac:picMkLst>
            <pc:docMk/>
            <pc:sldMk cId="3812038034" sldId="2147479414"/>
            <ac:picMk id="13" creationId="{907155E3-309D-64BB-1AFA-391E86830F64}"/>
          </ac:picMkLst>
        </pc:picChg>
        <pc:picChg chg="mod">
          <ac:chgData name="Davide Adorni" userId="9e70d776-8721-427a-b111-713a1620c6e9" providerId="ADAL" clId="{8E7457C8-399E-4B96-A290-2E100CA2FE8A}" dt="2026-02-09T09:57:08.880" v="574"/>
          <ac:picMkLst>
            <pc:docMk/>
            <pc:sldMk cId="3812038034" sldId="2147479414"/>
            <ac:picMk id="14" creationId="{2EEDD4BA-B208-C3A0-8A54-7D2369456E25}"/>
          </ac:picMkLst>
        </pc:picChg>
        <pc:picChg chg="add mod">
          <ac:chgData name="Davide Adorni" userId="9e70d776-8721-427a-b111-713a1620c6e9" providerId="ADAL" clId="{8E7457C8-399E-4B96-A290-2E100CA2FE8A}" dt="2026-02-09T09:57:45.831" v="645" actId="1035"/>
          <ac:picMkLst>
            <pc:docMk/>
            <pc:sldMk cId="3812038034" sldId="2147479414"/>
            <ac:picMk id="15" creationId="{8C160EAF-3865-D5A4-778F-234568611D65}"/>
          </ac:picMkLst>
        </pc:picChg>
        <pc:picChg chg="add mod">
          <ac:chgData name="Davide Adorni" userId="9e70d776-8721-427a-b111-713a1620c6e9" providerId="ADAL" clId="{8E7457C8-399E-4B96-A290-2E100CA2FE8A}" dt="2026-02-09T09:57:45.831" v="645" actId="1035"/>
          <ac:picMkLst>
            <pc:docMk/>
            <pc:sldMk cId="3812038034" sldId="2147479414"/>
            <ac:picMk id="16" creationId="{6B9A09AC-0046-4733-D453-42A994B9A89E}"/>
          </ac:picMkLst>
        </pc:picChg>
        <pc:picChg chg="add mod">
          <ac:chgData name="Davide Adorni" userId="9e70d776-8721-427a-b111-713a1620c6e9" providerId="ADAL" clId="{8E7457C8-399E-4B96-A290-2E100CA2FE8A}" dt="2026-02-09T10:20:53.375" v="651" actId="208"/>
          <ac:picMkLst>
            <pc:docMk/>
            <pc:sldMk cId="3812038034" sldId="2147479414"/>
            <ac:picMk id="17" creationId="{66E4E8D2-4C2A-5BEB-723B-3B28D27F6F87}"/>
          </ac:picMkLst>
        </pc:picChg>
        <pc:picChg chg="add mod">
          <ac:chgData name="Davide Adorni" userId="9e70d776-8721-427a-b111-713a1620c6e9" providerId="ADAL" clId="{8E7457C8-399E-4B96-A290-2E100CA2FE8A}" dt="2026-02-09T09:57:45.831" v="645" actId="1035"/>
          <ac:picMkLst>
            <pc:docMk/>
            <pc:sldMk cId="3812038034" sldId="2147479414"/>
            <ac:picMk id="18" creationId="{44FA48EC-5D8A-7335-7890-642C7C0CC1EA}"/>
          </ac:picMkLst>
        </pc:picChg>
        <pc:picChg chg="add mod">
          <ac:chgData name="Davide Adorni" userId="9e70d776-8721-427a-b111-713a1620c6e9" providerId="ADAL" clId="{8E7457C8-399E-4B96-A290-2E100CA2FE8A}" dt="2026-02-09T10:20:18.161" v="648" actId="207"/>
          <ac:picMkLst>
            <pc:docMk/>
            <pc:sldMk cId="3812038034" sldId="2147479414"/>
            <ac:picMk id="19" creationId="{998AE203-8EB0-8753-1903-3986DD3011BB}"/>
          </ac:picMkLst>
        </pc:picChg>
      </pc:sldChg>
      <pc:sldChg chg="addSp delSp modSp add mod">
        <pc:chgData name="Davide Adorni" userId="9e70d776-8721-427a-b111-713a1620c6e9" providerId="ADAL" clId="{8E7457C8-399E-4B96-A290-2E100CA2FE8A}" dt="2026-02-09T09:56:18.697" v="568" actId="207"/>
        <pc:sldMkLst>
          <pc:docMk/>
          <pc:sldMk cId="341289850" sldId="2147479415"/>
        </pc:sldMkLst>
        <pc:spChg chg="add mod">
          <ac:chgData name="Davide Adorni" userId="9e70d776-8721-427a-b111-713a1620c6e9" providerId="ADAL" clId="{8E7457C8-399E-4B96-A290-2E100CA2FE8A}" dt="2026-02-09T09:56:18.697" v="568" actId="207"/>
          <ac:spMkLst>
            <pc:docMk/>
            <pc:sldMk cId="341289850" sldId="2147479415"/>
            <ac:spMk id="2" creationId="{B8B03FC8-149D-6D64-8803-D4278933A459}"/>
          </ac:spMkLst>
        </pc:spChg>
      </pc:sldChg>
      <pc:sldChg chg="add">
        <pc:chgData name="Davide Adorni" userId="9e70d776-8721-427a-b111-713a1620c6e9" providerId="ADAL" clId="{8E7457C8-399E-4B96-A290-2E100CA2FE8A}" dt="2026-02-09T09:56:47.941" v="569" actId="2890"/>
        <pc:sldMkLst>
          <pc:docMk/>
          <pc:sldMk cId="421755199" sldId="2147479416"/>
        </pc:sldMkLst>
      </pc:sldChg>
    </pc:docChg>
  </pc:docChgLst>
  <pc:docChgLst>
    <pc:chgData name="Elisa Rozzi" userId="e13d4df0-4e2e-4151-ac8b-36d1750e5daf" providerId="ADAL" clId="{55C9AAF8-A734-46C7-B091-8962598A419A}"/>
    <pc:docChg chg="undo redo custSel delSld modSld">
      <pc:chgData name="Elisa Rozzi" userId="e13d4df0-4e2e-4151-ac8b-36d1750e5daf" providerId="ADAL" clId="{55C9AAF8-A734-46C7-B091-8962598A419A}" dt="2026-02-11T11:00:35.131" v="144" actId="1076"/>
      <pc:docMkLst>
        <pc:docMk/>
      </pc:docMkLst>
      <pc:sldChg chg="modTransition">
        <pc:chgData name="Elisa Rozzi" userId="e13d4df0-4e2e-4151-ac8b-36d1750e5daf" providerId="ADAL" clId="{55C9AAF8-A734-46C7-B091-8962598A419A}" dt="2026-02-11T10:32:32.668" v="59"/>
        <pc:sldMkLst>
          <pc:docMk/>
          <pc:sldMk cId="49584201" sldId="256"/>
        </pc:sldMkLst>
      </pc:sldChg>
      <pc:sldChg chg="modTransition">
        <pc:chgData name="Elisa Rozzi" userId="e13d4df0-4e2e-4151-ac8b-36d1750e5daf" providerId="ADAL" clId="{55C9AAF8-A734-46C7-B091-8962598A419A}" dt="2026-02-11T10:32:32.668" v="59"/>
        <pc:sldMkLst>
          <pc:docMk/>
          <pc:sldMk cId="1809775774" sldId="4192"/>
        </pc:sldMkLst>
      </pc:sldChg>
      <pc:sldChg chg="modTransition">
        <pc:chgData name="Elisa Rozzi" userId="e13d4df0-4e2e-4151-ac8b-36d1750e5daf" providerId="ADAL" clId="{55C9AAF8-A734-46C7-B091-8962598A419A}" dt="2026-02-11T10:32:32.668" v="59"/>
        <pc:sldMkLst>
          <pc:docMk/>
          <pc:sldMk cId="3459696750" sldId="4193"/>
        </pc:sldMkLst>
      </pc:sldChg>
      <pc:sldChg chg="modTransition">
        <pc:chgData name="Elisa Rozzi" userId="e13d4df0-4e2e-4151-ac8b-36d1750e5daf" providerId="ADAL" clId="{55C9AAF8-A734-46C7-B091-8962598A419A}" dt="2026-02-11T10:32:32.668" v="59"/>
        <pc:sldMkLst>
          <pc:docMk/>
          <pc:sldMk cId="750938177" sldId="4196"/>
        </pc:sldMkLst>
      </pc:sldChg>
      <pc:sldChg chg="modTransition">
        <pc:chgData name="Elisa Rozzi" userId="e13d4df0-4e2e-4151-ac8b-36d1750e5daf" providerId="ADAL" clId="{55C9AAF8-A734-46C7-B091-8962598A419A}" dt="2026-02-11T10:32:32.668" v="59"/>
        <pc:sldMkLst>
          <pc:docMk/>
          <pc:sldMk cId="2922241636" sldId="4198"/>
        </pc:sldMkLst>
      </pc:sldChg>
      <pc:sldChg chg="modTransition">
        <pc:chgData name="Elisa Rozzi" userId="e13d4df0-4e2e-4151-ac8b-36d1750e5daf" providerId="ADAL" clId="{55C9AAF8-A734-46C7-B091-8962598A419A}" dt="2026-02-11T10:32:32.668" v="59"/>
        <pc:sldMkLst>
          <pc:docMk/>
          <pc:sldMk cId="2115539545" sldId="2147479293"/>
        </pc:sldMkLst>
      </pc:sldChg>
      <pc:sldChg chg="modTransition">
        <pc:chgData name="Elisa Rozzi" userId="e13d4df0-4e2e-4151-ac8b-36d1750e5daf" providerId="ADAL" clId="{55C9AAF8-A734-46C7-B091-8962598A419A}" dt="2026-02-11T10:32:32.668" v="59"/>
        <pc:sldMkLst>
          <pc:docMk/>
          <pc:sldMk cId="1294643522" sldId="2147479296"/>
        </pc:sldMkLst>
      </pc:sldChg>
      <pc:sldChg chg="modTransition">
        <pc:chgData name="Elisa Rozzi" userId="e13d4df0-4e2e-4151-ac8b-36d1750e5daf" providerId="ADAL" clId="{55C9AAF8-A734-46C7-B091-8962598A419A}" dt="2026-02-11T10:32:32.668" v="59"/>
        <pc:sldMkLst>
          <pc:docMk/>
          <pc:sldMk cId="3197399404" sldId="2147479302"/>
        </pc:sldMkLst>
      </pc:sldChg>
      <pc:sldChg chg="modTransition">
        <pc:chgData name="Elisa Rozzi" userId="e13d4df0-4e2e-4151-ac8b-36d1750e5daf" providerId="ADAL" clId="{55C9AAF8-A734-46C7-B091-8962598A419A}" dt="2026-02-11T10:32:32.668" v="59"/>
        <pc:sldMkLst>
          <pc:docMk/>
          <pc:sldMk cId="2839812528" sldId="2147479303"/>
        </pc:sldMkLst>
      </pc:sldChg>
      <pc:sldChg chg="addSp modSp del mod">
        <pc:chgData name="Elisa Rozzi" userId="e13d4df0-4e2e-4151-ac8b-36d1750e5daf" providerId="ADAL" clId="{55C9AAF8-A734-46C7-B091-8962598A419A}" dt="2026-02-11T10:32:22.517" v="57" actId="47"/>
        <pc:sldMkLst>
          <pc:docMk/>
          <pc:sldMk cId="4268477285" sldId="2147479307"/>
        </pc:sldMkLst>
        <pc:spChg chg="mod">
          <ac:chgData name="Elisa Rozzi" userId="e13d4df0-4e2e-4151-ac8b-36d1750e5daf" providerId="ADAL" clId="{55C9AAF8-A734-46C7-B091-8962598A419A}" dt="2026-02-11T10:23:56.552" v="18" actId="1076"/>
          <ac:spMkLst>
            <pc:docMk/>
            <pc:sldMk cId="4268477285" sldId="2147479307"/>
            <ac:spMk id="19" creationId="{40A290CC-7138-1611-8F51-D6C3674C779E}"/>
          </ac:spMkLst>
        </pc:spChg>
        <pc:picChg chg="mod">
          <ac:chgData name="Elisa Rozzi" userId="e13d4df0-4e2e-4151-ac8b-36d1750e5daf" providerId="ADAL" clId="{55C9AAF8-A734-46C7-B091-8962598A419A}" dt="2026-02-11T10:23:57.499" v="19" actId="1076"/>
          <ac:picMkLst>
            <pc:docMk/>
            <pc:sldMk cId="4268477285" sldId="2147479307"/>
            <ac:picMk id="35" creationId="{85977506-BEDC-47B6-DFF4-94EF500A4B89}"/>
          </ac:picMkLst>
        </pc:picChg>
        <pc:picChg chg="add mod">
          <ac:chgData name="Elisa Rozzi" userId="e13d4df0-4e2e-4151-ac8b-36d1750e5daf" providerId="ADAL" clId="{55C9AAF8-A734-46C7-B091-8962598A419A}" dt="2026-02-11T10:26:57.199" v="32" actId="1076"/>
          <ac:picMkLst>
            <pc:docMk/>
            <pc:sldMk cId="4268477285" sldId="2147479307"/>
            <ac:picMk id="48" creationId="{6C5EEA32-2D34-D9D0-7FD4-F63947BFB8F8}"/>
          </ac:picMkLst>
        </pc:picChg>
        <pc:picChg chg="add mod">
          <ac:chgData name="Elisa Rozzi" userId="e13d4df0-4e2e-4151-ac8b-36d1750e5daf" providerId="ADAL" clId="{55C9AAF8-A734-46C7-B091-8962598A419A}" dt="2026-02-11T10:25:26.069" v="27" actId="1076"/>
          <ac:picMkLst>
            <pc:docMk/>
            <pc:sldMk cId="4268477285" sldId="2147479307"/>
            <ac:picMk id="49" creationId="{309359FE-AAB0-0D39-5095-BFBA3BE1BBFB}"/>
          </ac:picMkLst>
        </pc:picChg>
      </pc:sldChg>
      <pc:sldChg chg="modTransition">
        <pc:chgData name="Elisa Rozzi" userId="e13d4df0-4e2e-4151-ac8b-36d1750e5daf" providerId="ADAL" clId="{55C9AAF8-A734-46C7-B091-8962598A419A}" dt="2026-02-11T10:32:32.668" v="59"/>
        <pc:sldMkLst>
          <pc:docMk/>
          <pc:sldMk cId="2037620482" sldId="2147479330"/>
        </pc:sldMkLst>
      </pc:sldChg>
      <pc:sldChg chg="modTransition">
        <pc:chgData name="Elisa Rozzi" userId="e13d4df0-4e2e-4151-ac8b-36d1750e5daf" providerId="ADAL" clId="{55C9AAF8-A734-46C7-B091-8962598A419A}" dt="2026-02-11T10:32:32.668" v="59"/>
        <pc:sldMkLst>
          <pc:docMk/>
          <pc:sldMk cId="4052906054" sldId="2147479353"/>
        </pc:sldMkLst>
      </pc:sldChg>
      <pc:sldChg chg="modTransition">
        <pc:chgData name="Elisa Rozzi" userId="e13d4df0-4e2e-4151-ac8b-36d1750e5daf" providerId="ADAL" clId="{55C9AAF8-A734-46C7-B091-8962598A419A}" dt="2026-02-11T10:32:32.668" v="59"/>
        <pc:sldMkLst>
          <pc:docMk/>
          <pc:sldMk cId="581779490" sldId="2147479372"/>
        </pc:sldMkLst>
      </pc:sldChg>
      <pc:sldChg chg="modTransition">
        <pc:chgData name="Elisa Rozzi" userId="e13d4df0-4e2e-4151-ac8b-36d1750e5daf" providerId="ADAL" clId="{55C9AAF8-A734-46C7-B091-8962598A419A}" dt="2026-02-11T10:32:32.668" v="59"/>
        <pc:sldMkLst>
          <pc:docMk/>
          <pc:sldMk cId="3537984703" sldId="2147479373"/>
        </pc:sldMkLst>
      </pc:sldChg>
      <pc:sldChg chg="modTransition">
        <pc:chgData name="Elisa Rozzi" userId="e13d4df0-4e2e-4151-ac8b-36d1750e5daf" providerId="ADAL" clId="{55C9AAF8-A734-46C7-B091-8962598A419A}" dt="2026-02-11T10:32:32.668" v="59"/>
        <pc:sldMkLst>
          <pc:docMk/>
          <pc:sldMk cId="1910318259" sldId="2147479374"/>
        </pc:sldMkLst>
      </pc:sldChg>
      <pc:sldChg chg="modTransition">
        <pc:chgData name="Elisa Rozzi" userId="e13d4df0-4e2e-4151-ac8b-36d1750e5daf" providerId="ADAL" clId="{55C9AAF8-A734-46C7-B091-8962598A419A}" dt="2026-02-11T10:32:32.668" v="59"/>
        <pc:sldMkLst>
          <pc:docMk/>
          <pc:sldMk cId="1974977750" sldId="2147479375"/>
        </pc:sldMkLst>
      </pc:sldChg>
      <pc:sldChg chg="modTransition">
        <pc:chgData name="Elisa Rozzi" userId="e13d4df0-4e2e-4151-ac8b-36d1750e5daf" providerId="ADAL" clId="{55C9AAF8-A734-46C7-B091-8962598A419A}" dt="2026-02-11T10:32:32.668" v="59"/>
        <pc:sldMkLst>
          <pc:docMk/>
          <pc:sldMk cId="1046014651" sldId="2147479376"/>
        </pc:sldMkLst>
      </pc:sldChg>
      <pc:sldChg chg="addSp modSp mod modTransition modShow">
        <pc:chgData name="Elisa Rozzi" userId="e13d4df0-4e2e-4151-ac8b-36d1750e5daf" providerId="ADAL" clId="{55C9AAF8-A734-46C7-B091-8962598A419A}" dt="2026-02-11T10:32:32.668" v="59"/>
        <pc:sldMkLst>
          <pc:docMk/>
          <pc:sldMk cId="721781443" sldId="2147479377"/>
        </pc:sldMkLst>
        <pc:picChg chg="add mod">
          <ac:chgData name="Elisa Rozzi" userId="e13d4df0-4e2e-4151-ac8b-36d1750e5daf" providerId="ADAL" clId="{55C9AAF8-A734-46C7-B091-8962598A419A}" dt="2026-02-11T10:32:20.225" v="56"/>
          <ac:picMkLst>
            <pc:docMk/>
            <pc:sldMk cId="721781443" sldId="2147479377"/>
            <ac:picMk id="5" creationId="{04667171-747E-D509-3B3A-2947BCF60F42}"/>
          </ac:picMkLst>
        </pc:picChg>
        <pc:picChg chg="add mod">
          <ac:chgData name="Elisa Rozzi" userId="e13d4df0-4e2e-4151-ac8b-36d1750e5daf" providerId="ADAL" clId="{55C9AAF8-A734-46C7-B091-8962598A419A}" dt="2026-02-11T10:32:20.225" v="56"/>
          <ac:picMkLst>
            <pc:docMk/>
            <pc:sldMk cId="721781443" sldId="2147479377"/>
            <ac:picMk id="6" creationId="{64047261-B1C9-EFE7-2200-4C11AA012C43}"/>
          </ac:picMkLst>
        </pc:picChg>
      </pc:sldChg>
      <pc:sldChg chg="modTransition">
        <pc:chgData name="Elisa Rozzi" userId="e13d4df0-4e2e-4151-ac8b-36d1750e5daf" providerId="ADAL" clId="{55C9AAF8-A734-46C7-B091-8962598A419A}" dt="2026-02-11T10:32:32.668" v="59"/>
        <pc:sldMkLst>
          <pc:docMk/>
          <pc:sldMk cId="1000806401" sldId="2147479379"/>
        </pc:sldMkLst>
      </pc:sldChg>
      <pc:sldChg chg="modTransition">
        <pc:chgData name="Elisa Rozzi" userId="e13d4df0-4e2e-4151-ac8b-36d1750e5daf" providerId="ADAL" clId="{55C9AAF8-A734-46C7-B091-8962598A419A}" dt="2026-02-11T10:32:32.668" v="59"/>
        <pc:sldMkLst>
          <pc:docMk/>
          <pc:sldMk cId="4026941220" sldId="2147479380"/>
        </pc:sldMkLst>
      </pc:sldChg>
      <pc:sldChg chg="modTransition">
        <pc:chgData name="Elisa Rozzi" userId="e13d4df0-4e2e-4151-ac8b-36d1750e5daf" providerId="ADAL" clId="{55C9AAF8-A734-46C7-B091-8962598A419A}" dt="2026-02-11T10:32:32.668" v="59"/>
        <pc:sldMkLst>
          <pc:docMk/>
          <pc:sldMk cId="3306094795" sldId="2147479381"/>
        </pc:sldMkLst>
      </pc:sldChg>
      <pc:sldChg chg="modTransition">
        <pc:chgData name="Elisa Rozzi" userId="e13d4df0-4e2e-4151-ac8b-36d1750e5daf" providerId="ADAL" clId="{55C9AAF8-A734-46C7-B091-8962598A419A}" dt="2026-02-11T10:32:32.668" v="59"/>
        <pc:sldMkLst>
          <pc:docMk/>
          <pc:sldMk cId="3229851254" sldId="2147479387"/>
        </pc:sldMkLst>
      </pc:sldChg>
      <pc:sldChg chg="modTransition">
        <pc:chgData name="Elisa Rozzi" userId="e13d4df0-4e2e-4151-ac8b-36d1750e5daf" providerId="ADAL" clId="{55C9AAF8-A734-46C7-B091-8962598A419A}" dt="2026-02-11T10:32:32.668" v="59"/>
        <pc:sldMkLst>
          <pc:docMk/>
          <pc:sldMk cId="3384653396" sldId="2147479393"/>
        </pc:sldMkLst>
      </pc:sldChg>
      <pc:sldChg chg="modTransition">
        <pc:chgData name="Elisa Rozzi" userId="e13d4df0-4e2e-4151-ac8b-36d1750e5daf" providerId="ADAL" clId="{55C9AAF8-A734-46C7-B091-8962598A419A}" dt="2026-02-11T10:32:32.668" v="59"/>
        <pc:sldMkLst>
          <pc:docMk/>
          <pc:sldMk cId="2313846866" sldId="2147479394"/>
        </pc:sldMkLst>
      </pc:sldChg>
      <pc:sldChg chg="modSp mod modTransition">
        <pc:chgData name="Elisa Rozzi" userId="e13d4df0-4e2e-4151-ac8b-36d1750e5daf" providerId="ADAL" clId="{55C9AAF8-A734-46C7-B091-8962598A419A}" dt="2026-02-11T10:41:50.964" v="108" actId="1076"/>
        <pc:sldMkLst>
          <pc:docMk/>
          <pc:sldMk cId="77757674" sldId="2147479395"/>
        </pc:sldMkLst>
        <pc:spChg chg="mod">
          <ac:chgData name="Elisa Rozzi" userId="e13d4df0-4e2e-4151-ac8b-36d1750e5daf" providerId="ADAL" clId="{55C9AAF8-A734-46C7-B091-8962598A419A}" dt="2026-02-11T10:41:50.964" v="108" actId="1076"/>
          <ac:spMkLst>
            <pc:docMk/>
            <pc:sldMk cId="77757674" sldId="2147479395"/>
            <ac:spMk id="8" creationId="{ED977A07-8998-68E7-D297-A96AFF0E1C22}"/>
          </ac:spMkLst>
        </pc:spChg>
      </pc:sldChg>
      <pc:sldChg chg="modSp mod modTransition">
        <pc:chgData name="Elisa Rozzi" userId="e13d4df0-4e2e-4151-ac8b-36d1750e5daf" providerId="ADAL" clId="{55C9AAF8-A734-46C7-B091-8962598A419A}" dt="2026-02-11T11:00:35.131" v="144" actId="1076"/>
        <pc:sldMkLst>
          <pc:docMk/>
          <pc:sldMk cId="3842484464" sldId="2147479401"/>
        </pc:sldMkLst>
        <pc:spChg chg="mod">
          <ac:chgData name="Elisa Rozzi" userId="e13d4df0-4e2e-4151-ac8b-36d1750e5daf" providerId="ADAL" clId="{55C9AAF8-A734-46C7-B091-8962598A419A}" dt="2026-02-11T11:00:35.131" v="144" actId="1076"/>
          <ac:spMkLst>
            <pc:docMk/>
            <pc:sldMk cId="3842484464" sldId="2147479401"/>
            <ac:spMk id="32" creationId="{A0245C7C-A3CA-2821-8EBB-E4B8D50CD4EA}"/>
          </ac:spMkLst>
        </pc:spChg>
        <pc:spChg chg="mod">
          <ac:chgData name="Elisa Rozzi" userId="e13d4df0-4e2e-4151-ac8b-36d1750e5daf" providerId="ADAL" clId="{55C9AAF8-A734-46C7-B091-8962598A419A}" dt="2026-02-11T11:00:10.891" v="133" actId="1036"/>
          <ac:spMkLst>
            <pc:docMk/>
            <pc:sldMk cId="3842484464" sldId="2147479401"/>
            <ac:spMk id="33" creationId="{6ED43D53-3EE7-F806-75F9-679BB3C08B4D}"/>
          </ac:spMkLst>
        </pc:spChg>
      </pc:sldChg>
      <pc:sldChg chg="modSp mod modTransition">
        <pc:chgData name="Elisa Rozzi" userId="e13d4df0-4e2e-4151-ac8b-36d1750e5daf" providerId="ADAL" clId="{55C9AAF8-A734-46C7-B091-8962598A419A}" dt="2026-02-11T10:41:38.919" v="103" actId="1036"/>
        <pc:sldMkLst>
          <pc:docMk/>
          <pc:sldMk cId="4252998663" sldId="2147479405"/>
        </pc:sldMkLst>
        <pc:spChg chg="mod">
          <ac:chgData name="Elisa Rozzi" userId="e13d4df0-4e2e-4151-ac8b-36d1750e5daf" providerId="ADAL" clId="{55C9AAF8-A734-46C7-B091-8962598A419A}" dt="2026-02-11T10:41:38.919" v="103" actId="1036"/>
          <ac:spMkLst>
            <pc:docMk/>
            <pc:sldMk cId="4252998663" sldId="2147479405"/>
            <ac:spMk id="5" creationId="{B89E0A56-15A4-D2FE-FC8D-9D09DDC3343C}"/>
          </ac:spMkLst>
        </pc:spChg>
      </pc:sldChg>
      <pc:sldChg chg="addSp delSp modSp mod modTransition">
        <pc:chgData name="Elisa Rozzi" userId="e13d4df0-4e2e-4151-ac8b-36d1750e5daf" providerId="ADAL" clId="{55C9AAF8-A734-46C7-B091-8962598A419A}" dt="2026-02-11T10:59:46.472" v="128" actId="20577"/>
        <pc:sldMkLst>
          <pc:docMk/>
          <pc:sldMk cId="1170098311" sldId="2147479406"/>
        </pc:sldMkLst>
        <pc:spChg chg="add del mod">
          <ac:chgData name="Elisa Rozzi" userId="e13d4df0-4e2e-4151-ac8b-36d1750e5daf" providerId="ADAL" clId="{55C9AAF8-A734-46C7-B091-8962598A419A}" dt="2026-02-11T10:59:46.472" v="128" actId="20577"/>
          <ac:spMkLst>
            <pc:docMk/>
            <pc:sldMk cId="1170098311" sldId="2147479406"/>
            <ac:spMk id="4" creationId="{A5495491-A73D-344E-F867-593535DBB066}"/>
          </ac:spMkLst>
        </pc:spChg>
      </pc:sldChg>
      <pc:sldChg chg="modTransition">
        <pc:chgData name="Elisa Rozzi" userId="e13d4df0-4e2e-4151-ac8b-36d1750e5daf" providerId="ADAL" clId="{55C9AAF8-A734-46C7-B091-8962598A419A}" dt="2026-02-11T10:32:32.668" v="59"/>
        <pc:sldMkLst>
          <pc:docMk/>
          <pc:sldMk cId="1078811643" sldId="2147479407"/>
        </pc:sldMkLst>
      </pc:sldChg>
      <pc:sldChg chg="modTransition">
        <pc:chgData name="Elisa Rozzi" userId="e13d4df0-4e2e-4151-ac8b-36d1750e5daf" providerId="ADAL" clId="{55C9AAF8-A734-46C7-B091-8962598A419A}" dt="2026-02-11T10:32:32.668" v="59"/>
        <pc:sldMkLst>
          <pc:docMk/>
          <pc:sldMk cId="4053018707" sldId="2147479410"/>
        </pc:sldMkLst>
      </pc:sldChg>
      <pc:sldChg chg="modTransition">
        <pc:chgData name="Elisa Rozzi" userId="e13d4df0-4e2e-4151-ac8b-36d1750e5daf" providerId="ADAL" clId="{55C9AAF8-A734-46C7-B091-8962598A419A}" dt="2026-02-11T10:32:32.668" v="59"/>
        <pc:sldMkLst>
          <pc:docMk/>
          <pc:sldMk cId="1481896916" sldId="2147479411"/>
        </pc:sldMkLst>
      </pc:sldChg>
      <pc:sldChg chg="modTransition">
        <pc:chgData name="Elisa Rozzi" userId="e13d4df0-4e2e-4151-ac8b-36d1750e5daf" providerId="ADAL" clId="{55C9AAF8-A734-46C7-B091-8962598A419A}" dt="2026-02-11T10:32:32.668" v="59"/>
        <pc:sldMkLst>
          <pc:docMk/>
          <pc:sldMk cId="1600974754" sldId="2147479412"/>
        </pc:sldMkLst>
      </pc:sldChg>
      <pc:sldChg chg="modTransition">
        <pc:chgData name="Elisa Rozzi" userId="e13d4df0-4e2e-4151-ac8b-36d1750e5daf" providerId="ADAL" clId="{55C9AAF8-A734-46C7-B091-8962598A419A}" dt="2026-02-11T10:32:32.668" v="59"/>
        <pc:sldMkLst>
          <pc:docMk/>
          <pc:sldMk cId="2317705418" sldId="2147479413"/>
        </pc:sldMkLst>
      </pc:sldChg>
      <pc:sldChg chg="modSp mod modTransition">
        <pc:chgData name="Elisa Rozzi" userId="e13d4df0-4e2e-4151-ac8b-36d1750e5daf" providerId="ADAL" clId="{55C9AAF8-A734-46C7-B091-8962598A419A}" dt="2026-02-11T10:32:32.668" v="59"/>
        <pc:sldMkLst>
          <pc:docMk/>
          <pc:sldMk cId="3812038034" sldId="2147479414"/>
        </pc:sldMkLst>
        <pc:picChg chg="mod">
          <ac:chgData name="Elisa Rozzi" userId="e13d4df0-4e2e-4151-ac8b-36d1750e5daf" providerId="ADAL" clId="{55C9AAF8-A734-46C7-B091-8962598A419A}" dt="2026-02-11T10:27:20.486" v="38"/>
          <ac:picMkLst>
            <pc:docMk/>
            <pc:sldMk cId="3812038034" sldId="2147479414"/>
            <ac:picMk id="17" creationId="{66E4E8D2-4C2A-5BEB-723B-3B28D27F6F87}"/>
          </ac:picMkLst>
        </pc:picChg>
      </pc:sldChg>
      <pc:sldChg chg="addSp modSp mod modTransition">
        <pc:chgData name="Elisa Rozzi" userId="e13d4df0-4e2e-4151-ac8b-36d1750e5daf" providerId="ADAL" clId="{55C9AAF8-A734-46C7-B091-8962598A419A}" dt="2026-02-11T10:32:32.668" v="59"/>
        <pc:sldMkLst>
          <pc:docMk/>
          <pc:sldMk cId="341289850" sldId="2147479415"/>
        </pc:sldMkLst>
        <pc:picChg chg="add mod">
          <ac:chgData name="Elisa Rozzi" userId="e13d4df0-4e2e-4151-ac8b-36d1750e5daf" providerId="ADAL" clId="{55C9AAF8-A734-46C7-B091-8962598A419A}" dt="2026-02-11T10:30:58.934" v="55" actId="14100"/>
          <ac:picMkLst>
            <pc:docMk/>
            <pc:sldMk cId="341289850" sldId="2147479415"/>
            <ac:picMk id="3" creationId="{BF7C0810-4F57-47DB-6E80-A0ECD081502D}"/>
          </ac:picMkLst>
        </pc:picChg>
      </pc:sldChg>
      <pc:sldChg chg="addSp modSp mod modTransition">
        <pc:chgData name="Elisa Rozzi" userId="e13d4df0-4e2e-4151-ac8b-36d1750e5daf" providerId="ADAL" clId="{55C9AAF8-A734-46C7-B091-8962598A419A}" dt="2026-02-11T10:32:32.668" v="59"/>
        <pc:sldMkLst>
          <pc:docMk/>
          <pc:sldMk cId="421755199" sldId="2147479416"/>
        </pc:sldMkLst>
        <pc:picChg chg="add mod">
          <ac:chgData name="Elisa Rozzi" userId="e13d4df0-4e2e-4151-ac8b-36d1750e5daf" providerId="ADAL" clId="{55C9AAF8-A734-46C7-B091-8962598A419A}" dt="2026-02-11T10:29:29.290" v="50" actId="1076"/>
          <ac:picMkLst>
            <pc:docMk/>
            <pc:sldMk cId="421755199" sldId="2147479416"/>
            <ac:picMk id="2" creationId="{EA745064-7549-4B54-6B6B-1E0317FF2838}"/>
          </ac:picMkLst>
        </pc:picChg>
        <pc:picChg chg="add mod">
          <ac:chgData name="Elisa Rozzi" userId="e13d4df0-4e2e-4151-ac8b-36d1750e5daf" providerId="ADAL" clId="{55C9AAF8-A734-46C7-B091-8962598A419A}" dt="2026-02-11T10:29:29.290" v="50" actId="1076"/>
          <ac:picMkLst>
            <pc:docMk/>
            <pc:sldMk cId="421755199" sldId="2147479416"/>
            <ac:picMk id="4" creationId="{4FD37DAF-96AC-717E-BABE-AA61AEA4E4D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68CDE-8C22-4AC1-B60D-0C19EA4CE2DA}" type="datetimeFigureOut">
              <a:rPr lang="it-IT" smtClean="0"/>
              <a:t>11/02/2026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73D2F4-1D2F-4D1A-BD5A-DF5F51406260}" type="slidenum">
              <a:rPr lang="it-IT" smtClean="0"/>
              <a:t>‹N›</a:t>
            </a:fld>
            <a:endParaRPr lang="it-IT"/>
          </a:p>
        </p:txBody>
      </p:sp>
    </p:spTree>
    <p:extLst>
      <p:ext uri="{BB962C8B-B14F-4D97-AF65-F5344CB8AC3E}">
        <p14:creationId xmlns:p14="http://schemas.microsoft.com/office/powerpoint/2010/main" val="4179148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3D16-D565-5E14-5730-4312BF36423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66E641D-2D07-E9E5-1B21-3A0113FCC319}"/>
              </a:ext>
            </a:extLst>
          </p:cNvPr>
          <p:cNvSpPr>
            <a:spLocks noGrp="1" noRot="1" noChangeAspect="1"/>
          </p:cNvSpPr>
          <p:nvPr>
            <p:ph type="sldImg"/>
          </p:nvPr>
        </p:nvSpPr>
        <p:spPr>
          <a:xfrm>
            <a:off x="142875" y="768350"/>
            <a:ext cx="6818313" cy="3836988"/>
          </a:xfrm>
        </p:spPr>
      </p:sp>
      <p:sp>
        <p:nvSpPr>
          <p:cNvPr id="3" name="Segnaposto note 2">
            <a:extLst>
              <a:ext uri="{FF2B5EF4-FFF2-40B4-BE49-F238E27FC236}">
                <a16:creationId xmlns:a16="http://schemas.microsoft.com/office/drawing/2014/main" id="{6532FA35-93FB-7FF8-0793-379DC5EA7673}"/>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3302486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1278-E56B-8F20-36FE-6EA6668C3A8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852B037-2BA8-A0D9-9003-884564BFF9FF}"/>
              </a:ext>
            </a:extLst>
          </p:cNvPr>
          <p:cNvSpPr>
            <a:spLocks noGrp="1" noRot="1" noChangeAspect="1"/>
          </p:cNvSpPr>
          <p:nvPr>
            <p:ph type="sldImg"/>
          </p:nvPr>
        </p:nvSpPr>
        <p:spPr>
          <a:xfrm>
            <a:off x="142875" y="768350"/>
            <a:ext cx="6818313" cy="3836988"/>
          </a:xfrm>
        </p:spPr>
      </p:sp>
      <p:sp>
        <p:nvSpPr>
          <p:cNvPr id="3" name="Segnaposto note 2">
            <a:extLst>
              <a:ext uri="{FF2B5EF4-FFF2-40B4-BE49-F238E27FC236}">
                <a16:creationId xmlns:a16="http://schemas.microsoft.com/office/drawing/2014/main" id="{A22D7E8C-167A-61C3-77D8-71B379C448D5}"/>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893867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CC73D2F4-1D2F-4D1A-BD5A-DF5F51406260}" type="slidenum">
              <a:rPr lang="it-IT" smtClean="0"/>
              <a:t>8</a:t>
            </a:fld>
            <a:endParaRPr lang="it-IT"/>
          </a:p>
        </p:txBody>
      </p:sp>
    </p:spTree>
    <p:extLst>
      <p:ext uri="{BB962C8B-B14F-4D97-AF65-F5344CB8AC3E}">
        <p14:creationId xmlns:p14="http://schemas.microsoft.com/office/powerpoint/2010/main" val="3782836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1681369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2DAEDD6-731D-0DD7-E914-6BE387C34BD8}"/>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77174E6-29E9-E23E-1189-4E47F1377B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566A9B0-DD0E-EABF-9E56-DEABB0550A2B}"/>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7C52FB7C-561E-5EFD-8C05-8942C3F83F4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01F7A20-7556-55AD-1F11-D4AFEC1F238B}"/>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4235237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875D55-DF9D-728D-D2C5-4CF46A0DFFF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A3FA1A3-49AD-0D6B-D4B3-B030512CA2C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0E0902F-334B-93F4-E4AC-F66E73A6AF9A}"/>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77CCA54A-35B8-A761-E193-8F77AA64DDA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C23228C-3EFC-2C04-D369-DDB4CC39D8AB}"/>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328690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4D4F0F-C16A-C706-D690-E1C74B52A08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8B898A2-4EDC-674B-FB9A-B1EB1C293B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2935AF5-8E67-92B6-EA0E-82EF73B67484}"/>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3CD9588C-BEF6-7319-1FA3-938980D9E2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6AEE088-C463-1660-D4F7-D8D117AF5DC6}"/>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82008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0F8844-D0F0-AB81-3C61-9DBF419E277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E0A4D59-9DE2-6591-28DA-D2F5EF40938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141E274-2D7A-5CE8-C6A8-26F70BDA74B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7A88727-B306-7ACD-E381-9F44D255DA31}"/>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6" name="Segnaposto piè di pagina 5">
            <a:extLst>
              <a:ext uri="{FF2B5EF4-FFF2-40B4-BE49-F238E27FC236}">
                <a16:creationId xmlns:a16="http://schemas.microsoft.com/office/drawing/2014/main" id="{52F20727-F9BA-8377-7FB1-7F7822D1060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FB475A1-EDA9-3363-F898-F7B0BE21C123}"/>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3561010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7B0C3B-FAA3-7FEF-6EA4-0894C4291310}"/>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30D065A-F81B-0AA9-C082-1B1CD86B35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EB77BFC-60F5-AC56-E91E-B3AF5A736DE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A8680756-CA8D-7E7F-AFD6-09FE5DE085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B0DCB42E-9843-D598-4873-4F2A0584FA2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904E7DE-F33A-CF9A-6E64-F65713B6E983}"/>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8" name="Segnaposto piè di pagina 7">
            <a:extLst>
              <a:ext uri="{FF2B5EF4-FFF2-40B4-BE49-F238E27FC236}">
                <a16:creationId xmlns:a16="http://schemas.microsoft.com/office/drawing/2014/main" id="{E207FC4B-4EE8-1C73-8CC2-3F0DB0B0AE7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EB0283E-C65D-BFA0-A7C0-7AA00F3EC3F7}"/>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372124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89428F-E18F-129C-C0C0-7E7C2772A38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0AB02E76-2442-6EB9-507E-B23F611262D2}"/>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4" name="Segnaposto piè di pagina 3">
            <a:extLst>
              <a:ext uri="{FF2B5EF4-FFF2-40B4-BE49-F238E27FC236}">
                <a16:creationId xmlns:a16="http://schemas.microsoft.com/office/drawing/2014/main" id="{C02D7039-E91E-5029-5A5E-A5CBB9A89248}"/>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51915127-CDBA-F9F4-A0CD-006A62065E38}"/>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3054822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39BB594-18C8-B006-0F1B-121B642CB736}"/>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3" name="Segnaposto piè di pagina 2">
            <a:extLst>
              <a:ext uri="{FF2B5EF4-FFF2-40B4-BE49-F238E27FC236}">
                <a16:creationId xmlns:a16="http://schemas.microsoft.com/office/drawing/2014/main" id="{8315BD87-4EFE-8775-DCA4-20BF0AD7870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05AF783E-410B-DA43-4DC4-0B973E14952A}"/>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682004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2AD6BE-EAD1-31DC-5417-1026EBEF1D0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950E9B9-10CD-2696-A94A-C55AD1A58D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E9417E0-966F-EE5C-ABAB-78408AE90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5569C0C-2F7F-D5C8-D14B-D80003E56510}"/>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6" name="Segnaposto piè di pagina 5">
            <a:extLst>
              <a:ext uri="{FF2B5EF4-FFF2-40B4-BE49-F238E27FC236}">
                <a16:creationId xmlns:a16="http://schemas.microsoft.com/office/drawing/2014/main" id="{6C72710E-222F-3E56-4CD8-81DEB524BB7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36039A1-C6A0-355B-BB1D-52BB380F5D7E}"/>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1962766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33B9CE-6A3E-2BA0-D183-E8879A95E05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BEA3336-B80E-E002-D856-C5BC7B1CB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554B951-BC2D-F6C2-F396-4317EB2BBB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0D012FB-E89C-2E58-1730-A1D3487DE29D}"/>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6" name="Segnaposto piè di pagina 5">
            <a:extLst>
              <a:ext uri="{FF2B5EF4-FFF2-40B4-BE49-F238E27FC236}">
                <a16:creationId xmlns:a16="http://schemas.microsoft.com/office/drawing/2014/main" id="{1121B009-7AA2-087A-E8F9-D74BC823009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95F670B-186A-E4DE-8D43-7C12AB17CD94}"/>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230095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90F3EF-3EB2-52BC-F869-50F178F0E77C}"/>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7A4EE1A-AE4C-62B1-D0C3-83A157E5405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8F9AAB3-566D-1DB0-C34E-17350AFAC08F}"/>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96488946-8F0C-EFA5-46CD-B97909C321B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0A4287-F28D-34E0-8787-5524C2BE33C7}"/>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3026164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52E7895-8845-C17D-4BFF-BEF544964CE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ED726BD2-2586-81C3-131B-38909E78695E}"/>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CC8BA5B-FCEF-3D26-7F11-710225A78C13}"/>
              </a:ext>
            </a:extLst>
          </p:cNvPr>
          <p:cNvSpPr>
            <a:spLocks noGrp="1"/>
          </p:cNvSpPr>
          <p:nvPr>
            <p:ph type="dt" sz="half" idx="10"/>
          </p:nvPr>
        </p:nvSpPr>
        <p:spPr/>
        <p:txBody>
          <a:body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3826FE0B-2C75-36A9-E9DA-0A6C62CA9B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CED1A01-4DD3-2B78-A0C0-247AAED91C09}"/>
              </a:ext>
            </a:extLst>
          </p:cNvPr>
          <p:cNvSpPr>
            <a:spLocks noGrp="1"/>
          </p:cNvSpPr>
          <p:nvPr>
            <p:ph type="sldNum" sz="quarter" idx="12"/>
          </p:nvPr>
        </p:nvSpPr>
        <p:spPr/>
        <p:txBody>
          <a:bodyPr/>
          <a:lstStyle/>
          <a:p>
            <a:fld id="{5C3EBCBF-76FB-49AA-B11D-2A8AE301027E}" type="slidenum">
              <a:rPr lang="it-IT" smtClean="0"/>
              <a:t>‹N›</a:t>
            </a:fld>
            <a:endParaRPr lang="it-IT"/>
          </a:p>
        </p:txBody>
      </p:sp>
    </p:spTree>
    <p:extLst>
      <p:ext uri="{BB962C8B-B14F-4D97-AF65-F5344CB8AC3E}">
        <p14:creationId xmlns:p14="http://schemas.microsoft.com/office/powerpoint/2010/main" val="2042085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Custom 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75393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reserve="1">
  <p:cSld name="sottocapitolo blu">
    <p:bg>
      <p:bgPr>
        <a:solidFill>
          <a:srgbClr val="00ACA0"/>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102C9B57-B13B-A96A-BB03-35F6ADF126F9}"/>
              </a:ext>
            </a:extLst>
          </p:cNvPr>
          <p:cNvPicPr>
            <a:picLocks noChangeAspect="1"/>
          </p:cNvPicPr>
          <p:nvPr userDrawn="1"/>
        </p:nvPicPr>
        <p:blipFill rotWithShape="1">
          <a:blip r:embed="rId2"/>
          <a:srcRect l="11904" t="23339" r="12519" b="16301"/>
          <a:stretch/>
        </p:blipFill>
        <p:spPr>
          <a:xfrm>
            <a:off x="0" y="0"/>
            <a:ext cx="12192000" cy="6858000"/>
          </a:xfrm>
          <a:prstGeom prst="rect">
            <a:avLst/>
          </a:prstGeom>
        </p:spPr>
      </p:pic>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3"/>
          <a:stretch>
            <a:fillRect/>
          </a:stretch>
        </p:blipFill>
        <p:spPr>
          <a:xfrm>
            <a:off x="335757" y="264881"/>
            <a:ext cx="957169" cy="157622"/>
          </a:xfrm>
          <a:prstGeom prst="rect">
            <a:avLst/>
          </a:prstGeom>
        </p:spPr>
      </p:pic>
    </p:spTree>
    <p:extLst>
      <p:ext uri="{BB962C8B-B14F-4D97-AF65-F5344CB8AC3E}">
        <p14:creationId xmlns:p14="http://schemas.microsoft.com/office/powerpoint/2010/main" val="3571601426"/>
      </p:ext>
    </p:extLst>
  </p:cSld>
  <p:clrMapOvr>
    <a:masterClrMapping/>
  </p:clrMapOvr>
  <p:transition spd="med"/>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reserve="1">
  <p:cSld name="sottocapitolo rosa">
    <p:bg>
      <p:bgPr>
        <a:solidFill>
          <a:schemeClr val="bg1">
            <a:lumMod val="20000"/>
            <a:lumOff val="80000"/>
          </a:schemeClr>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36005D18-817B-5296-E372-7806643CE48F}"/>
              </a:ext>
            </a:extLst>
          </p:cNvPr>
          <p:cNvPicPr>
            <a:picLocks noChangeAspect="1"/>
          </p:cNvPicPr>
          <p:nvPr userDrawn="1"/>
        </p:nvPicPr>
        <p:blipFill rotWithShape="1">
          <a:blip r:embed="rId2"/>
          <a:srcRect l="13127" t="23819" r="12813" b="17034"/>
          <a:stretch/>
        </p:blipFill>
        <p:spPr>
          <a:xfrm>
            <a:off x="0" y="0"/>
            <a:ext cx="12192000" cy="6858000"/>
          </a:xfrm>
          <a:prstGeom prst="rect">
            <a:avLst/>
          </a:prstGeom>
        </p:spPr>
      </p:pic>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3"/>
          <a:stretch>
            <a:fillRect/>
          </a:stretch>
        </p:blipFill>
        <p:spPr>
          <a:xfrm>
            <a:off x="335757" y="264881"/>
            <a:ext cx="957169" cy="157622"/>
          </a:xfrm>
          <a:prstGeom prst="rect">
            <a:avLst/>
          </a:prstGeom>
        </p:spPr>
      </p:pic>
    </p:spTree>
    <p:extLst>
      <p:ext uri="{BB962C8B-B14F-4D97-AF65-F5344CB8AC3E}">
        <p14:creationId xmlns:p14="http://schemas.microsoft.com/office/powerpoint/2010/main" val="1678629703"/>
      </p:ext>
    </p:extLst>
  </p:cSld>
  <p:clrMapOvr>
    <a:masterClrMapping/>
  </p:clrMapOvr>
  <p:transition spd="med"/>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reserve="1">
  <p:cSld name="sottocapitolo azzurro">
    <p:bg>
      <p:bgPr>
        <a:solidFill>
          <a:srgbClr val="2C2D65"/>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F451DDB-05FB-EFBE-0263-6BC01CFA8795}"/>
              </a:ext>
            </a:extLst>
          </p:cNvPr>
          <p:cNvPicPr>
            <a:picLocks noChangeAspect="1"/>
          </p:cNvPicPr>
          <p:nvPr userDrawn="1"/>
        </p:nvPicPr>
        <p:blipFill rotWithShape="1">
          <a:blip r:embed="rId2"/>
          <a:srcRect l="13083" t="24602" r="13083" b="12914"/>
          <a:stretch/>
        </p:blipFill>
        <p:spPr>
          <a:xfrm>
            <a:off x="0" y="0"/>
            <a:ext cx="12192000" cy="6858000"/>
          </a:xfrm>
          <a:prstGeom prst="rect">
            <a:avLst/>
          </a:prstGeom>
        </p:spPr>
      </p:pic>
      <p:pic>
        <p:nvPicPr>
          <p:cNvPr id="4" name="Immagine 3">
            <a:extLst>
              <a:ext uri="{FF2B5EF4-FFF2-40B4-BE49-F238E27FC236}">
                <a16:creationId xmlns:a16="http://schemas.microsoft.com/office/drawing/2014/main" id="{A9110154-AF8D-0CC1-1776-C89F647D2FD2}"/>
              </a:ext>
            </a:extLst>
          </p:cNvPr>
          <p:cNvPicPr>
            <a:picLocks noChangeAspect="1"/>
          </p:cNvPicPr>
          <p:nvPr userDrawn="1"/>
        </p:nvPicPr>
        <p:blipFill>
          <a:blip r:embed="rId3"/>
          <a:stretch>
            <a:fillRect/>
          </a:stretch>
        </p:blipFill>
        <p:spPr>
          <a:xfrm>
            <a:off x="335757" y="262126"/>
            <a:ext cx="957169" cy="157622"/>
          </a:xfrm>
          <a:prstGeom prst="rect">
            <a:avLst/>
          </a:prstGeom>
        </p:spPr>
      </p:pic>
    </p:spTree>
    <p:extLst>
      <p:ext uri="{BB962C8B-B14F-4D97-AF65-F5344CB8AC3E}">
        <p14:creationId xmlns:p14="http://schemas.microsoft.com/office/powerpoint/2010/main" val="143127722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guide id="3" pos="423" userDrawn="1">
          <p15:clr>
            <a:srgbClr val="FBAE40"/>
          </p15:clr>
        </p15:guide>
        <p15:guide id="4" orient="horz" pos="48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reserve="1">
  <p:cSld name="1_agenda">
    <p:bg>
      <p:bgPr>
        <a:solidFill>
          <a:srgbClr val="2C2D6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A866DC8-BBF8-F936-D8BF-D1F743B03B4F}"/>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112138122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guide id="3" pos="423" userDrawn="1">
          <p15:clr>
            <a:srgbClr val="FBAE40"/>
          </p15:clr>
        </p15:guide>
        <p15:guide id="4" orient="horz" pos="48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reserve="1">
  <p:cSld name="sottocapitolo">
    <p:bg>
      <p:bgPr>
        <a:solidFill>
          <a:srgbClr val="00ACA0"/>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0E6433CF-9A3D-D234-D8D2-A838850F8ACC}"/>
              </a:ext>
            </a:extLst>
          </p:cNvPr>
          <p:cNvPicPr>
            <a:picLocks noChangeAspect="1"/>
          </p:cNvPicPr>
          <p:nvPr userDrawn="1"/>
        </p:nvPicPr>
        <p:blipFill>
          <a:blip r:embed="rId2"/>
          <a:stretch>
            <a:fillRect/>
          </a:stretch>
        </p:blipFill>
        <p:spPr>
          <a:xfrm>
            <a:off x="335757" y="262126"/>
            <a:ext cx="957169" cy="157622"/>
          </a:xfrm>
          <a:prstGeom prst="rect">
            <a:avLst/>
          </a:prstGeom>
        </p:spPr>
      </p:pic>
    </p:spTree>
    <p:extLst>
      <p:ext uri="{BB962C8B-B14F-4D97-AF65-F5344CB8AC3E}">
        <p14:creationId xmlns:p14="http://schemas.microsoft.com/office/powerpoint/2010/main" val="119536496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reserve="1">
  <p:cSld name="sottocapitolo copia">
    <p:bg>
      <p:bgPr>
        <a:solidFill>
          <a:srgbClr val="CE0058"/>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3002841318"/>
      </p:ext>
    </p:extLst>
  </p:cSld>
  <p:clrMapOvr>
    <a:masterClrMapping/>
  </p:clrMapOvr>
  <p:transition spd="med"/>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reserve="1">
  <p:cSld name="1_sottocapitolo copia">
    <p:bg>
      <p:bgPr>
        <a:solidFill>
          <a:srgbClr val="F2A900"/>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5AC3DA-E870-9F54-DB87-23D48EFBAD5F}"/>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3012578536"/>
      </p:ext>
    </p:extLst>
  </p:cSld>
  <p:clrMapOvr>
    <a:masterClrMapping/>
  </p:clrMapOvr>
  <p:transition spd="med"/>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reserve="1">
  <p:cSld name="2_sottocapitolo copia">
    <p:bg>
      <p:bgPr>
        <a:solidFill>
          <a:srgbClr val="2A5B6C"/>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19B01E70-EFD4-64C8-EB6D-2F708B544DA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700085175"/>
      </p:ext>
    </p:extLst>
  </p:cSld>
  <p:clrMapOvr>
    <a:masterClrMapping/>
  </p:clrMapOvr>
  <p:transition spd="med"/>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sto immagine  background">
    <p:bg>
      <p:bgPr>
        <a:solidFill>
          <a:srgbClr val="FFFFFF"/>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106D2721-79DA-C716-713B-790AB11EF412}"/>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409395320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 frase">
    <p:bg>
      <p:bgPr>
        <a:solidFill>
          <a:srgbClr val="FFFFFF"/>
        </a:solidFill>
        <a:effectLst/>
      </p:bgPr>
    </p:bg>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4F4DFEBF-2712-7B9E-C991-9B178D8531A6}"/>
              </a:ext>
            </a:extLst>
          </p:cNvPr>
          <p:cNvSpPr>
            <a:spLocks noGrp="1"/>
          </p:cNvSpPr>
          <p:nvPr>
            <p:ph type="pic" sz="quarter" idx="23"/>
          </p:nvPr>
        </p:nvSpPr>
        <p:spPr>
          <a:xfrm>
            <a:off x="0" y="0"/>
            <a:ext cx="12192000" cy="3317358"/>
          </a:xfrm>
        </p:spPr>
        <p:txBody>
          <a:bodyPr/>
          <a:lstStyle/>
          <a:p>
            <a:endParaRPr lang="it-IT"/>
          </a:p>
        </p:txBody>
      </p:sp>
      <p:pic>
        <p:nvPicPr>
          <p:cNvPr id="3" name="Immagine 2">
            <a:extLst>
              <a:ext uri="{FF2B5EF4-FFF2-40B4-BE49-F238E27FC236}">
                <a16:creationId xmlns:a16="http://schemas.microsoft.com/office/drawing/2014/main" id="{DD5B23A6-EC04-E749-2FCF-E187A94A19D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684695114"/>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reserve="1">
  <p:cSld name="Image + elenco">
    <p:spTree>
      <p:nvGrpSpPr>
        <p:cNvPr id="1" name=""/>
        <p:cNvGrpSpPr/>
        <p:nvPr/>
      </p:nvGrpSpPr>
      <p:grpSpPr>
        <a:xfrm>
          <a:off x="0" y="0"/>
          <a:ext cx="0" cy="0"/>
          <a:chOff x="0" y="0"/>
          <a:chExt cx="0" cy="0"/>
        </a:xfrm>
      </p:grpSpPr>
      <p:sp>
        <p:nvSpPr>
          <p:cNvPr id="3" name="Rettangolo">
            <a:extLst>
              <a:ext uri="{FF2B5EF4-FFF2-40B4-BE49-F238E27FC236}">
                <a16:creationId xmlns:a16="http://schemas.microsoft.com/office/drawing/2014/main" id="{C1B3B192-8D04-A50F-DFA7-793399FAB1CC}"/>
              </a:ext>
            </a:extLst>
          </p:cNvPr>
          <p:cNvSpPr/>
          <p:nvPr userDrawn="1"/>
        </p:nvSpPr>
        <p:spPr>
          <a:xfrm>
            <a:off x="-6351" y="0"/>
            <a:ext cx="12198350" cy="3236130"/>
          </a:xfrm>
          <a:prstGeom prst="rect">
            <a:avLst/>
          </a:prstGeom>
          <a:solidFill>
            <a:srgbClr val="2C2D65"/>
          </a:solidFill>
          <a:ln w="12700">
            <a:miter lim="400000"/>
          </a:ln>
        </p:spPr>
        <p:txBody>
          <a:bodyPr lIns="0" tIns="0" rIns="0" bIns="0" anchor="ctr"/>
          <a:lstStyle/>
          <a:p>
            <a:pPr algn="ctr">
              <a:lnSpc>
                <a:spcPct val="100000"/>
              </a:lnSpc>
              <a:spcBef>
                <a:spcPts val="0"/>
              </a:spcBef>
              <a:defRPr sz="3200">
                <a:solidFill>
                  <a:srgbClr val="FFFFFF"/>
                </a:solidFill>
              </a:defRPr>
            </a:pPr>
            <a:endParaRPr sz="1600"/>
          </a:p>
        </p:txBody>
      </p:sp>
      <p:sp>
        <p:nvSpPr>
          <p:cNvPr id="70" name="ELENCO PUNTATO"/>
          <p:cNvSpPr txBox="1">
            <a:spLocks noGrp="1"/>
          </p:cNvSpPr>
          <p:nvPr>
            <p:ph type="body" sz="quarter" idx="21"/>
          </p:nvPr>
        </p:nvSpPr>
        <p:spPr>
          <a:xfrm>
            <a:off x="1212850" y="1326099"/>
            <a:ext cx="5477636" cy="745491"/>
          </a:xfrm>
          <a:prstGeom prst="rect">
            <a:avLst/>
          </a:prstGeom>
        </p:spPr>
        <p:txBody>
          <a:bodyPr lIns="0" tIns="0" rIns="0" bIns="0"/>
          <a:lstStyle>
            <a:lvl1pPr marL="0" indent="0">
              <a:lnSpc>
                <a:spcPct val="110000"/>
              </a:lnSpc>
              <a:spcBef>
                <a:spcPts val="0"/>
              </a:spcBef>
              <a:buSzTx/>
              <a:buNone/>
              <a:defRPr sz="7500" spc="1100">
                <a:solidFill>
                  <a:srgbClr val="FFFFFF"/>
                </a:solidFill>
                <a:latin typeface="Source Sans Pro Light"/>
                <a:ea typeface="Source Sans Pro Light"/>
                <a:sym typeface="Source Sans Pro Light"/>
              </a:defRPr>
            </a:lvl1pPr>
          </a:lstStyle>
          <a:p>
            <a:pPr marL="0" indent="0">
              <a:lnSpc>
                <a:spcPct val="110000"/>
              </a:lnSpc>
              <a:spcBef>
                <a:spcPts val="0"/>
              </a:spcBef>
              <a:buSzTx/>
              <a:buNone/>
              <a:defRPr sz="7500" spc="1100">
                <a:solidFill>
                  <a:srgbClr val="FFFFFF"/>
                </a:solidFill>
                <a:latin typeface="Source Sans Pro Light"/>
                <a:ea typeface="Source Sans Pro Light"/>
                <a:cs typeface="Source Sans Pro Light"/>
                <a:sym typeface="Source Sans Pro Light"/>
              </a:defRPr>
            </a:pPr>
            <a:endParaRPr/>
          </a:p>
        </p:txBody>
      </p:sp>
      <p:sp>
        <p:nvSpPr>
          <p:cNvPr id="72" name="Custom means customization capability, it is inside the DNA of the company.  MOQ of 100 pcs / 10K € to start a customization project."/>
          <p:cNvSpPr txBox="1">
            <a:spLocks noGrp="1"/>
          </p:cNvSpPr>
          <p:nvPr>
            <p:ph type="body" sz="quarter" idx="22"/>
          </p:nvPr>
        </p:nvSpPr>
        <p:spPr>
          <a:xfrm>
            <a:off x="810719" y="4104058"/>
            <a:ext cx="1915507" cy="125476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3" name="01."/>
          <p:cNvSpPr txBox="1">
            <a:spLocks noGrp="1"/>
          </p:cNvSpPr>
          <p:nvPr>
            <p:ph type="body" sz="quarter" idx="23"/>
          </p:nvPr>
        </p:nvSpPr>
        <p:spPr>
          <a:xfrm>
            <a:off x="810719"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4" name="Custom has a clear and transparent indirect go-to-market model."/>
          <p:cNvSpPr txBox="1">
            <a:spLocks noGrp="1"/>
          </p:cNvSpPr>
          <p:nvPr>
            <p:ph type="body" sz="quarter" idx="24"/>
          </p:nvPr>
        </p:nvSpPr>
        <p:spPr>
          <a:xfrm>
            <a:off x="3043026" y="4104058"/>
            <a:ext cx="1584947"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5" name="02."/>
          <p:cNvSpPr txBox="1">
            <a:spLocks noGrp="1"/>
          </p:cNvSpPr>
          <p:nvPr>
            <p:ph type="body" sz="quarter" idx="25"/>
          </p:nvPr>
        </p:nvSpPr>
        <p:spPr>
          <a:xfrm>
            <a:off x="3046639" y="3619748"/>
            <a:ext cx="1809752"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6" name="Custom is recognized by its durable hardware which resists at -40 C° in Russia and at 90% humidity of India."/>
          <p:cNvSpPr txBox="1">
            <a:spLocks noGrp="1"/>
          </p:cNvSpPr>
          <p:nvPr>
            <p:ph type="body" sz="quarter" idx="26"/>
          </p:nvPr>
        </p:nvSpPr>
        <p:spPr>
          <a:xfrm>
            <a:off x="5098957" y="4104058"/>
            <a:ext cx="1809754"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7" name="03."/>
          <p:cNvSpPr txBox="1">
            <a:spLocks noGrp="1"/>
          </p:cNvSpPr>
          <p:nvPr>
            <p:ph type="body" sz="quarter" idx="27"/>
          </p:nvPr>
        </p:nvSpPr>
        <p:spPr>
          <a:xfrm>
            <a:off x="5092607"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8" name="04."/>
          <p:cNvSpPr txBox="1">
            <a:spLocks noGrp="1"/>
          </p:cNvSpPr>
          <p:nvPr>
            <p:ph type="body" sz="quarter" idx="28"/>
          </p:nvPr>
        </p:nvSpPr>
        <p:spPr>
          <a:xfrm>
            <a:off x="7366994"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9" name="Custom means variety of verticals: UEFA supplier for ticketing, installations in 400 airports worldwide, Dolce&amp;Gabbana shops."/>
          <p:cNvSpPr txBox="1">
            <a:spLocks noGrp="1"/>
          </p:cNvSpPr>
          <p:nvPr>
            <p:ph type="body" sz="quarter" idx="29"/>
          </p:nvPr>
        </p:nvSpPr>
        <p:spPr>
          <a:xfrm>
            <a:off x="7366994" y="4104058"/>
            <a:ext cx="1809753" cy="193040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80" name="05."/>
          <p:cNvSpPr txBox="1">
            <a:spLocks noGrp="1"/>
          </p:cNvSpPr>
          <p:nvPr>
            <p:ph type="body" sz="quarter" idx="30"/>
          </p:nvPr>
        </p:nvSpPr>
        <p:spPr>
          <a:xfrm>
            <a:off x="9663998"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81" name="Custom as niche expert: 1) receipt printing &gt; commodity 2) ticket printing with stock control &gt; solution 3) Italian design &gt; luxury shops."/>
          <p:cNvSpPr txBox="1">
            <a:spLocks noGrp="1"/>
          </p:cNvSpPr>
          <p:nvPr>
            <p:ph type="body" sz="quarter" idx="31"/>
          </p:nvPr>
        </p:nvSpPr>
        <p:spPr>
          <a:xfrm>
            <a:off x="9635030" y="4104058"/>
            <a:ext cx="1867688"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pic>
        <p:nvPicPr>
          <p:cNvPr id="4" name="Immagine 3">
            <a:extLst>
              <a:ext uri="{FF2B5EF4-FFF2-40B4-BE49-F238E27FC236}">
                <a16:creationId xmlns:a16="http://schemas.microsoft.com/office/drawing/2014/main" id="{98F51CFA-5928-997F-653A-EBB3E90DC201}"/>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3350268000"/>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reserve="1">
  <p:cSld name="Product - V1">
    <p:spTree>
      <p:nvGrpSpPr>
        <p:cNvPr id="1" name=""/>
        <p:cNvGrpSpPr/>
        <p:nvPr/>
      </p:nvGrpSpPr>
      <p:grpSpPr>
        <a:xfrm>
          <a:off x="0" y="0"/>
          <a:ext cx="0" cy="0"/>
          <a:chOff x="0" y="0"/>
          <a:chExt cx="0" cy="0"/>
        </a:xfrm>
      </p:grpSpPr>
      <p:sp>
        <p:nvSpPr>
          <p:cNvPr id="90" name="Fiscal…"/>
          <p:cNvSpPr txBox="1">
            <a:spLocks noGrp="1"/>
          </p:cNvSpPr>
          <p:nvPr>
            <p:ph type="body" sz="quarter" idx="21"/>
          </p:nvPr>
        </p:nvSpPr>
        <p:spPr>
          <a:xfrm>
            <a:off x="1575247" y="1718318"/>
            <a:ext cx="3759361" cy="1134111"/>
          </a:xfrm>
          <a:prstGeom prst="rect">
            <a:avLst/>
          </a:prstGeom>
        </p:spPr>
        <p:txBody>
          <a:bodyPr lIns="0" tIns="0" rIns="0" bIns="0" anchor="b"/>
          <a:lstStyle>
            <a:lvl1pPr marL="0" indent="0">
              <a:lnSpc>
                <a:spcPct val="90000"/>
              </a:lnSpc>
              <a:spcBef>
                <a:spcPts val="0"/>
              </a:spcBef>
              <a:buSzTx/>
              <a:buNone/>
              <a:defRPr sz="7500" spc="300">
                <a:solidFill>
                  <a:srgbClr val="5E5E5E"/>
                </a:solidFill>
                <a:latin typeface="Source Sans Pro Light"/>
                <a:ea typeface="Source Sans Pro Light"/>
                <a:sym typeface="Source Sans Pro Light"/>
              </a:defRPr>
            </a:lvl1pPr>
          </a:lstStyle>
          <a:p>
            <a:pPr marL="0" indent="0">
              <a:lnSpc>
                <a:spcPct val="90000"/>
              </a:lnSpc>
              <a:spcBef>
                <a:spcPts val="0"/>
              </a:spcBef>
              <a:buSzTx/>
              <a:buNone/>
              <a:defRPr sz="7500" spc="300">
                <a:solidFill>
                  <a:srgbClr val="5E5E5E"/>
                </a:solidFill>
                <a:latin typeface="Source Sans Pro Light"/>
                <a:ea typeface="Source Sans Pro Light"/>
                <a:cs typeface="Source Sans Pro Light"/>
                <a:sym typeface="Source Sans Pro Light"/>
              </a:defRPr>
            </a:pPr>
            <a:endParaRPr/>
          </a:p>
        </p:txBody>
      </p:sp>
      <p:sp>
        <p:nvSpPr>
          <p:cNvPr id="91" name="Expertise in 15 fiscal markets worldwide, a wide range of products for any need: from ultra-compact cash registers to telematic fiscal printers."/>
          <p:cNvSpPr txBox="1">
            <a:spLocks noGrp="1"/>
          </p:cNvSpPr>
          <p:nvPr>
            <p:ph type="body" sz="quarter" idx="22"/>
          </p:nvPr>
        </p:nvSpPr>
        <p:spPr>
          <a:xfrm>
            <a:off x="1580926" y="3498207"/>
            <a:ext cx="2887358" cy="1551941"/>
          </a:xfrm>
          <a:prstGeom prst="rect">
            <a:avLst/>
          </a:prstGeom>
        </p:spPr>
        <p:txBody>
          <a:bodyPr lIns="0" tIns="0" rIns="0" bIns="0" anchor="t"/>
          <a:lstStyle>
            <a:lvl1pPr marL="0" indent="0">
              <a:lnSpc>
                <a:spcPct val="140000"/>
              </a:lnSpc>
              <a:spcBef>
                <a:spcPts val="0"/>
              </a:spcBef>
              <a:buSzTx/>
              <a:buNone/>
              <a:defRPr sz="3800">
                <a:solidFill>
                  <a:srgbClr val="5E5E5E"/>
                </a:solidFill>
                <a:latin typeface="Source Sans Pro Light"/>
                <a:ea typeface="Source Sans Pro Light"/>
                <a:sym typeface="Source Sans Pro Light"/>
              </a:defRPr>
            </a:lvl1pPr>
          </a:lstStyle>
          <a:p>
            <a:pPr marL="0" indent="0">
              <a:lnSpc>
                <a:spcPct val="140000"/>
              </a:lnSpc>
              <a:spcBef>
                <a:spcPts val="0"/>
              </a:spcBef>
              <a:buSzTx/>
              <a:buNone/>
              <a:defRPr sz="3800">
                <a:solidFill>
                  <a:srgbClr val="5E5E5E"/>
                </a:solidFill>
                <a:latin typeface="Source Sans Pro Light"/>
                <a:ea typeface="Source Sans Pro Light"/>
                <a:cs typeface="Source Sans Pro Light"/>
                <a:sym typeface="Source Sans Pro Light"/>
              </a:defRPr>
            </a:pPr>
            <a:endParaRPr/>
          </a:p>
        </p:txBody>
      </p:sp>
      <p:pic>
        <p:nvPicPr>
          <p:cNvPr id="2" name="Immagine 1">
            <a:extLst>
              <a:ext uri="{FF2B5EF4-FFF2-40B4-BE49-F238E27FC236}">
                <a16:creationId xmlns:a16="http://schemas.microsoft.com/office/drawing/2014/main" id="{362DAC52-7457-8D1B-3A3B-53784B5F998C}"/>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2604353476"/>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reserve="1">
  <p:cSld name="Grafico">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F31D1CC-2F0B-AE60-AF3C-4EDD76FCE0CA}"/>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3755675698"/>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reserve="1">
  <p:cSld name="Custom Thanks">
    <p:spTree>
      <p:nvGrpSpPr>
        <p:cNvPr id="1" name=""/>
        <p:cNvGrpSpPr/>
        <p:nvPr/>
      </p:nvGrpSpPr>
      <p:grpSpPr>
        <a:xfrm>
          <a:off x="0" y="0"/>
          <a:ext cx="0" cy="0"/>
          <a:chOff x="0" y="0"/>
          <a:chExt cx="0" cy="0"/>
        </a:xfrm>
      </p:grpSpPr>
      <p:sp>
        <p:nvSpPr>
          <p:cNvPr id="108" name="YOUR BUSINESS IMPRINT"/>
          <p:cNvSpPr txBox="1"/>
          <p:nvPr/>
        </p:nvSpPr>
        <p:spPr>
          <a:xfrm>
            <a:off x="5543445" y="4036718"/>
            <a:ext cx="1105111" cy="257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lvl1pPr algn="ctr" defTabSz="584200">
              <a:lnSpc>
                <a:spcPct val="100000"/>
              </a:lnSpc>
              <a:spcBef>
                <a:spcPts val="0"/>
              </a:spcBef>
              <a:defRPr sz="3800" cap="all" spc="190">
                <a:solidFill>
                  <a:srgbClr val="929292"/>
                </a:solidFill>
                <a:latin typeface="Source Sans Pro Light"/>
                <a:ea typeface="Source Sans Pro Light"/>
                <a:cs typeface="Source Sans Pro Light"/>
                <a:sym typeface="Source Sans Pro Light"/>
              </a:defRPr>
            </a:lvl1pPr>
          </a:lstStyle>
          <a:p>
            <a:r>
              <a:rPr sz="1900">
                <a:solidFill>
                  <a:srgbClr val="2C2D65"/>
                </a:solidFill>
              </a:rPr>
              <a:t>THANKS.</a:t>
            </a:r>
          </a:p>
        </p:txBody>
      </p:sp>
      <p:pic>
        <p:nvPicPr>
          <p:cNvPr id="2" name="Immagine 1">
            <a:extLst>
              <a:ext uri="{FF2B5EF4-FFF2-40B4-BE49-F238E27FC236}">
                <a16:creationId xmlns:a16="http://schemas.microsoft.com/office/drawing/2014/main" id="{9D26D730-4918-6373-F0E9-F7BD30D3845B}"/>
              </a:ext>
            </a:extLst>
          </p:cNvPr>
          <p:cNvPicPr>
            <a:picLocks noChangeAspect="1"/>
          </p:cNvPicPr>
          <p:nvPr userDrawn="1"/>
        </p:nvPicPr>
        <p:blipFill>
          <a:blip r:embed="rId2"/>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3020244747"/>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reserve="1">
  <p:cSld name="1_Custom Grazie">
    <p:spTree>
      <p:nvGrpSpPr>
        <p:cNvPr id="1" name=""/>
        <p:cNvGrpSpPr/>
        <p:nvPr/>
      </p:nvGrpSpPr>
      <p:grpSpPr>
        <a:xfrm>
          <a:off x="0" y="0"/>
          <a:ext cx="0" cy="0"/>
          <a:chOff x="0" y="0"/>
          <a:chExt cx="0" cy="0"/>
        </a:xfrm>
      </p:grpSpPr>
      <p:sp>
        <p:nvSpPr>
          <p:cNvPr id="108" name="YOUR BUSINESS IMPRINT"/>
          <p:cNvSpPr txBox="1"/>
          <p:nvPr/>
        </p:nvSpPr>
        <p:spPr>
          <a:xfrm>
            <a:off x="5597146" y="4036718"/>
            <a:ext cx="997710" cy="2577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nchor="ctr">
            <a:spAutoFit/>
          </a:bodyPr>
          <a:lstStyle>
            <a:lvl1pPr algn="ctr" defTabSz="584200">
              <a:lnSpc>
                <a:spcPct val="100000"/>
              </a:lnSpc>
              <a:spcBef>
                <a:spcPts val="0"/>
              </a:spcBef>
              <a:defRPr sz="3800" cap="all" spc="190">
                <a:solidFill>
                  <a:srgbClr val="929292"/>
                </a:solidFill>
                <a:latin typeface="Source Sans Pro Light"/>
                <a:ea typeface="Source Sans Pro Light"/>
                <a:cs typeface="Source Sans Pro Light"/>
                <a:sym typeface="Source Sans Pro Light"/>
              </a:defRPr>
            </a:lvl1pPr>
          </a:lstStyle>
          <a:p>
            <a:r>
              <a:rPr lang="it-IT" sz="1900">
                <a:solidFill>
                  <a:srgbClr val="2C2D65"/>
                </a:solidFill>
              </a:rPr>
              <a:t>GRAZIE</a:t>
            </a:r>
            <a:r>
              <a:rPr sz="1900">
                <a:solidFill>
                  <a:srgbClr val="2C2D65"/>
                </a:solidFill>
              </a:rPr>
              <a:t>.</a:t>
            </a:r>
          </a:p>
        </p:txBody>
      </p:sp>
      <p:pic>
        <p:nvPicPr>
          <p:cNvPr id="2" name="Immagine 1">
            <a:extLst>
              <a:ext uri="{FF2B5EF4-FFF2-40B4-BE49-F238E27FC236}">
                <a16:creationId xmlns:a16="http://schemas.microsoft.com/office/drawing/2014/main" id="{9D26D730-4918-6373-F0E9-F7BD30D3845B}"/>
              </a:ext>
            </a:extLst>
          </p:cNvPr>
          <p:cNvPicPr>
            <a:picLocks noChangeAspect="1"/>
          </p:cNvPicPr>
          <p:nvPr userDrawn="1"/>
        </p:nvPicPr>
        <p:blipFill>
          <a:blip r:embed="rId2"/>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3502010145"/>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reserve="1">
  <p:cSld name="1_Product - V1">
    <p:bg>
      <p:bgPr>
        <a:solidFill>
          <a:srgbClr val="FFFFFF"/>
        </a:solidFill>
        <a:effectLst/>
      </p:bgPr>
    </p:bg>
    <p:spTree>
      <p:nvGrpSpPr>
        <p:cNvPr id="1" name=""/>
        <p:cNvGrpSpPr/>
        <p:nvPr/>
      </p:nvGrpSpPr>
      <p:grpSpPr>
        <a:xfrm>
          <a:off x="0" y="0"/>
          <a:ext cx="0" cy="0"/>
          <a:chOff x="0" y="0"/>
          <a:chExt cx="0" cy="0"/>
        </a:xfrm>
      </p:grpSpPr>
      <p:sp>
        <p:nvSpPr>
          <p:cNvPr id="41" name="Corpo livello uno…"/>
          <p:cNvSpPr txBox="1">
            <a:spLocks noGrp="1"/>
          </p:cNvSpPr>
          <p:nvPr>
            <p:ph type="body" sz="quarter" idx="1"/>
          </p:nvPr>
        </p:nvSpPr>
        <p:spPr>
          <a:xfrm>
            <a:off x="1036997" y="237330"/>
            <a:ext cx="5233794" cy="198438"/>
          </a:xfrm>
          <a:prstGeom prst="rect">
            <a:avLst/>
          </a:prstGeom>
        </p:spPr>
        <p:txBody>
          <a:bodyPr lIns="71435" tIns="71435" rIns="71435" bIns="71435"/>
          <a:lstStyle>
            <a:lvl1pPr marL="0" indent="0">
              <a:lnSpc>
                <a:spcPct val="100000"/>
              </a:lnSpc>
              <a:spcBef>
                <a:spcPts val="0"/>
              </a:spcBef>
              <a:buSzTx/>
              <a:buNone/>
              <a:defRPr sz="800" cap="all" spc="160">
                <a:solidFill>
                  <a:srgbClr val="5E5E5E"/>
                </a:solidFill>
                <a:latin typeface="Source Sans Pro"/>
                <a:ea typeface="Source Sans Pro"/>
                <a:cs typeface="Source Sans Pro"/>
                <a:sym typeface="Source Sans Pro"/>
              </a:defRPr>
            </a:lvl1pPr>
            <a:lvl2pPr marL="423333" indent="-105833">
              <a:lnSpc>
                <a:spcPct val="100000"/>
              </a:lnSpc>
              <a:spcBef>
                <a:spcPts val="0"/>
              </a:spcBef>
              <a:defRPr sz="800" cap="all" spc="160">
                <a:solidFill>
                  <a:srgbClr val="5E5E5E"/>
                </a:solidFill>
                <a:latin typeface="Source Sans Pro"/>
                <a:ea typeface="Source Sans Pro"/>
                <a:cs typeface="Source Sans Pro"/>
                <a:sym typeface="Source Sans Pro"/>
              </a:defRPr>
            </a:lvl2pPr>
            <a:lvl3pPr marL="740833" indent="-105833">
              <a:lnSpc>
                <a:spcPct val="100000"/>
              </a:lnSpc>
              <a:spcBef>
                <a:spcPts val="0"/>
              </a:spcBef>
              <a:defRPr sz="800" cap="all" spc="160">
                <a:solidFill>
                  <a:srgbClr val="5E5E5E"/>
                </a:solidFill>
                <a:latin typeface="Source Sans Pro"/>
                <a:ea typeface="Source Sans Pro"/>
                <a:cs typeface="Source Sans Pro"/>
                <a:sym typeface="Source Sans Pro"/>
              </a:defRPr>
            </a:lvl3pPr>
            <a:lvl4pPr marL="1058333" indent="-105833">
              <a:lnSpc>
                <a:spcPct val="100000"/>
              </a:lnSpc>
              <a:spcBef>
                <a:spcPts val="0"/>
              </a:spcBef>
              <a:defRPr sz="800" cap="all" spc="160">
                <a:solidFill>
                  <a:srgbClr val="5E5E5E"/>
                </a:solidFill>
                <a:latin typeface="Source Sans Pro"/>
                <a:ea typeface="Source Sans Pro"/>
                <a:cs typeface="Source Sans Pro"/>
                <a:sym typeface="Source Sans Pro"/>
              </a:defRPr>
            </a:lvl4pPr>
            <a:lvl5pPr marL="1375833" indent="-105833">
              <a:lnSpc>
                <a:spcPct val="100000"/>
              </a:lnSpc>
              <a:spcBef>
                <a:spcPts val="0"/>
              </a:spcBef>
              <a:defRPr sz="800" cap="all" spc="160">
                <a:solidFill>
                  <a:srgbClr val="5E5E5E"/>
                </a:solidFill>
                <a:latin typeface="Source Sans Pro"/>
                <a:ea typeface="Source Sans Pro"/>
                <a:cs typeface="Source Sans Pro"/>
                <a:sym typeface="Source Sans Pro"/>
              </a:defRPr>
            </a:lvl5pPr>
          </a:lstStyle>
          <a:p>
            <a:r>
              <a:t>Corpo livello uno</a:t>
            </a:r>
          </a:p>
          <a:p>
            <a:pPr lvl="1"/>
            <a:r>
              <a:t>Corpo livello due</a:t>
            </a:r>
          </a:p>
          <a:p>
            <a:pPr lvl="2"/>
            <a:r>
              <a:t>Corpo livello tre</a:t>
            </a:r>
          </a:p>
          <a:p>
            <a:pPr lvl="3"/>
            <a:r>
              <a:t>Corpo livello quattro</a:t>
            </a:r>
          </a:p>
          <a:p>
            <a:pPr lvl="4"/>
            <a:r>
              <a:t>Corpo livello cinque</a:t>
            </a:r>
          </a:p>
        </p:txBody>
      </p:sp>
      <p:sp>
        <p:nvSpPr>
          <p:cNvPr id="42" name="Fiscal…"/>
          <p:cNvSpPr txBox="1">
            <a:spLocks noGrp="1"/>
          </p:cNvSpPr>
          <p:nvPr>
            <p:ph type="body" sz="quarter" idx="21"/>
          </p:nvPr>
        </p:nvSpPr>
        <p:spPr>
          <a:xfrm>
            <a:off x="1575247" y="1718318"/>
            <a:ext cx="3759361" cy="1134111"/>
          </a:xfrm>
          <a:prstGeom prst="rect">
            <a:avLst/>
          </a:prstGeom>
        </p:spPr>
        <p:txBody>
          <a:bodyPr lIns="0" tIns="0" rIns="0" bIns="0" anchor="b"/>
          <a:lstStyle>
            <a:lvl1pPr marL="0" indent="0">
              <a:lnSpc>
                <a:spcPct val="90000"/>
              </a:lnSpc>
              <a:spcBef>
                <a:spcPts val="0"/>
              </a:spcBef>
              <a:buSzTx/>
              <a:buNone/>
              <a:defRPr sz="7500" spc="300">
                <a:solidFill>
                  <a:srgbClr val="5E5E5E"/>
                </a:solidFill>
                <a:latin typeface="Source Sans Pro Light"/>
                <a:ea typeface="Source Sans Pro Light"/>
                <a:sym typeface="Source Sans Pro Light"/>
              </a:defRPr>
            </a:lvl1pPr>
          </a:lstStyle>
          <a:p>
            <a:pPr marL="0" indent="0">
              <a:lnSpc>
                <a:spcPct val="90000"/>
              </a:lnSpc>
              <a:spcBef>
                <a:spcPts val="0"/>
              </a:spcBef>
              <a:buSzTx/>
              <a:buNone/>
              <a:defRPr sz="7500" spc="300">
                <a:solidFill>
                  <a:srgbClr val="5E5E5E"/>
                </a:solidFill>
                <a:latin typeface="Source Sans Pro Light"/>
                <a:ea typeface="Source Sans Pro Light"/>
                <a:cs typeface="Source Sans Pro Light"/>
                <a:sym typeface="Source Sans Pro Light"/>
              </a:defRPr>
            </a:pPr>
            <a:endParaRPr/>
          </a:p>
        </p:txBody>
      </p:sp>
      <p:sp>
        <p:nvSpPr>
          <p:cNvPr id="43" name="Expertise in 15 fiscal markets worldwide, a wide range of products for any need: from ultra-compact cash registers to telematic fiscal printers."/>
          <p:cNvSpPr txBox="1">
            <a:spLocks noGrp="1"/>
          </p:cNvSpPr>
          <p:nvPr>
            <p:ph type="body" sz="quarter" idx="22"/>
          </p:nvPr>
        </p:nvSpPr>
        <p:spPr>
          <a:xfrm>
            <a:off x="1580926" y="3498207"/>
            <a:ext cx="2887358" cy="1551942"/>
          </a:xfrm>
          <a:prstGeom prst="rect">
            <a:avLst/>
          </a:prstGeom>
        </p:spPr>
        <p:txBody>
          <a:bodyPr lIns="0" tIns="0" rIns="0" bIns="0" anchor="t"/>
          <a:lstStyle>
            <a:lvl1pPr marL="0" indent="0">
              <a:lnSpc>
                <a:spcPct val="140000"/>
              </a:lnSpc>
              <a:spcBef>
                <a:spcPts val="0"/>
              </a:spcBef>
              <a:buSzTx/>
              <a:buNone/>
              <a:defRPr sz="3800">
                <a:solidFill>
                  <a:srgbClr val="5E5E5E"/>
                </a:solidFill>
                <a:latin typeface="Source Sans Pro Light"/>
                <a:ea typeface="Source Sans Pro Light"/>
                <a:sym typeface="Source Sans Pro Light"/>
              </a:defRPr>
            </a:lvl1pPr>
          </a:lstStyle>
          <a:p>
            <a:pPr marL="0" indent="0">
              <a:lnSpc>
                <a:spcPct val="140000"/>
              </a:lnSpc>
              <a:spcBef>
                <a:spcPts val="0"/>
              </a:spcBef>
              <a:buSzTx/>
              <a:buNone/>
              <a:defRPr sz="3800">
                <a:solidFill>
                  <a:srgbClr val="5E5E5E"/>
                </a:solidFill>
                <a:latin typeface="Source Sans Pro Light"/>
                <a:ea typeface="Source Sans Pro Light"/>
                <a:cs typeface="Source Sans Pro Light"/>
                <a:sym typeface="Source Sans Pro Light"/>
              </a:defRPr>
            </a:pPr>
            <a:endParaRPr/>
          </a:p>
        </p:txBody>
      </p:sp>
      <p:pic>
        <p:nvPicPr>
          <p:cNvPr id="2" name="Immagine 1">
            <a:extLst>
              <a:ext uri="{FF2B5EF4-FFF2-40B4-BE49-F238E27FC236}">
                <a16:creationId xmlns:a16="http://schemas.microsoft.com/office/drawing/2014/main" id="{3A6C2E4A-FBD6-9C71-9A13-1FBA2F252286}"/>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854892199"/>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6719" y="703036"/>
            <a:ext cx="11358563" cy="714106"/>
          </a:xfrm>
        </p:spPr>
        <p:txBody>
          <a:bodyPr lIns="0" tIns="0" rIns="0" bIns="0"/>
          <a:lstStyle>
            <a:lvl1pPr>
              <a:defRPr sz="4641" b="0" i="0" u="sng">
                <a:solidFill>
                  <a:srgbClr val="929292"/>
                </a:solidFill>
                <a:latin typeface="Source Sans Pro"/>
                <a:cs typeface="Source Sans Pr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5" name="Holder 5"/>
          <p:cNvSpPr>
            <a:spLocks noGrp="1"/>
          </p:cNvSpPr>
          <p:nvPr>
            <p:ph type="sldNum" sz="quarter" idx="7"/>
          </p:nvPr>
        </p:nvSpPr>
        <p:spPr>
          <a:xfrm>
            <a:off x="4101420" y="3091613"/>
            <a:ext cx="267381" cy="173124"/>
          </a:xfrm>
        </p:spPr>
        <p:txBody>
          <a:bodyPr lIns="0" tIns="0" rIns="0" bIns="0"/>
          <a:lstStyle>
            <a:lvl1pPr>
              <a:defRPr sz="1125" b="0" i="0">
                <a:solidFill>
                  <a:srgbClr val="929292"/>
                </a:solidFill>
                <a:latin typeface="Source Sans Pro"/>
                <a:cs typeface="Source Sans Pro"/>
              </a:defRPr>
            </a:lvl1pPr>
          </a:lstStyle>
          <a:p>
            <a:pPr marL="35719">
              <a:spcBef>
                <a:spcPts val="94"/>
              </a:spcBef>
            </a:pPr>
            <a:fld id="{81D60167-4931-47E6-BA6A-407CBD079E47}" type="slidenum">
              <a:rPr lang="it-IT" smtClean="0"/>
              <a:pPr marL="35719">
                <a:spcBef>
                  <a:spcPts val="94"/>
                </a:spcBef>
              </a:pPr>
              <a:t>‹N›</a:t>
            </a:fld>
            <a:endParaRPr lang="it-IT"/>
          </a:p>
        </p:txBody>
      </p:sp>
    </p:spTree>
    <p:extLst>
      <p:ext uri="{BB962C8B-B14F-4D97-AF65-F5344CB8AC3E}">
        <p14:creationId xmlns:p14="http://schemas.microsoft.com/office/powerpoint/2010/main" val="32722639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2_Product - V1">
    <p:spTree>
      <p:nvGrpSpPr>
        <p:cNvPr id="1" name=""/>
        <p:cNvGrpSpPr/>
        <p:nvPr/>
      </p:nvGrpSpPr>
      <p:grpSpPr>
        <a:xfrm>
          <a:off x="0" y="0"/>
          <a:ext cx="0" cy="0"/>
          <a:chOff x="0" y="0"/>
          <a:chExt cx="0" cy="0"/>
        </a:xfrm>
      </p:grpSpPr>
      <p:sp>
        <p:nvSpPr>
          <p:cNvPr id="380" name="Fiscal…"/>
          <p:cNvSpPr txBox="1">
            <a:spLocks noGrp="1"/>
          </p:cNvSpPr>
          <p:nvPr>
            <p:ph type="body" sz="quarter" idx="21"/>
          </p:nvPr>
        </p:nvSpPr>
        <p:spPr>
          <a:xfrm>
            <a:off x="1575246" y="1718317"/>
            <a:ext cx="3759363" cy="1134111"/>
          </a:xfrm>
          <a:prstGeom prst="rect">
            <a:avLst/>
          </a:prstGeom>
        </p:spPr>
        <p:txBody>
          <a:bodyPr lIns="0" tIns="0" rIns="0" bIns="0" anchor="b"/>
          <a:lstStyle/>
          <a:p>
            <a:endParaRPr/>
          </a:p>
        </p:txBody>
      </p:sp>
      <p:sp>
        <p:nvSpPr>
          <p:cNvPr id="381" name="Expertise in 15 fiscal markets worldwide, a wide range of products for any need: from ultra-compact cash registers to telematic fiscal printers."/>
          <p:cNvSpPr txBox="1">
            <a:spLocks noGrp="1"/>
          </p:cNvSpPr>
          <p:nvPr>
            <p:ph type="body" sz="quarter" idx="22"/>
          </p:nvPr>
        </p:nvSpPr>
        <p:spPr>
          <a:xfrm>
            <a:off x="1580925" y="3498207"/>
            <a:ext cx="2887360" cy="1551942"/>
          </a:xfrm>
          <a:prstGeom prst="rect">
            <a:avLst/>
          </a:prstGeom>
        </p:spPr>
        <p:txBody>
          <a:bodyPr lIns="0" tIns="0" rIns="0" bIns="0"/>
          <a:lstStyle/>
          <a:p>
            <a:endParaRPr/>
          </a:p>
        </p:txBody>
      </p:sp>
      <p:pic>
        <p:nvPicPr>
          <p:cNvPr id="4" name="Custom-K55.pdf" descr="Custom-K55.pdf">
            <a:extLst>
              <a:ext uri="{FF2B5EF4-FFF2-40B4-BE49-F238E27FC236}">
                <a16:creationId xmlns:a16="http://schemas.microsoft.com/office/drawing/2014/main" id="{7EE13BD9-4A95-57EA-D504-5CE3F4D186A2}"/>
              </a:ext>
            </a:extLst>
          </p:cNvPr>
          <p:cNvPicPr>
            <a:picLocks noChangeAspect="1"/>
          </p:cNvPicPr>
          <p:nvPr userDrawn="1"/>
        </p:nvPicPr>
        <p:blipFill>
          <a:blip r:embed="rId2"/>
          <a:stretch>
            <a:fillRect/>
          </a:stretch>
        </p:blipFill>
        <p:spPr>
          <a:xfrm>
            <a:off x="340425" y="277935"/>
            <a:ext cx="597849" cy="104530"/>
          </a:xfrm>
          <a:prstGeom prst="rect">
            <a:avLst/>
          </a:prstGeom>
          <a:ln w="12700">
            <a:miter lim="400000"/>
          </a:ln>
        </p:spPr>
      </p:pic>
      <p:sp>
        <p:nvSpPr>
          <p:cNvPr id="5" name="THE WIDEST PRODUCTs PORTFOLIO | ticketing printers">
            <a:extLst>
              <a:ext uri="{FF2B5EF4-FFF2-40B4-BE49-F238E27FC236}">
                <a16:creationId xmlns:a16="http://schemas.microsoft.com/office/drawing/2014/main" id="{49E3EDBF-7FAD-AEBA-CA30-E545E875B4F7}"/>
              </a:ext>
            </a:extLst>
          </p:cNvPr>
          <p:cNvSpPr txBox="1"/>
          <p:nvPr userDrawn="1"/>
        </p:nvSpPr>
        <p:spPr>
          <a:xfrm>
            <a:off x="1033139" y="285438"/>
            <a:ext cx="5233794" cy="1464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8" tIns="35718" rIns="35718" bIns="35718" anchor="ctr">
            <a:spAutoFit/>
          </a:bodyPr>
          <a:lstStyle>
            <a:lvl1pPr>
              <a:lnSpc>
                <a:spcPct val="100000"/>
              </a:lnSpc>
              <a:spcBef>
                <a:spcPts val="0"/>
              </a:spcBef>
              <a:defRPr sz="1600" cap="all" spc="320">
                <a:solidFill>
                  <a:srgbClr val="5E5E5E"/>
                </a:solidFill>
                <a:latin typeface="Source Sans Pro Light"/>
                <a:ea typeface="Source Sans Pro Light"/>
                <a:cs typeface="Source Sans Pro Light"/>
                <a:sym typeface="Source Sans Pro Light"/>
              </a:defRPr>
            </a:lvl1pPr>
          </a:lstStyle>
          <a:p>
            <a:r>
              <a:rPr lang="it-IT" sz="800">
                <a:solidFill>
                  <a:srgbClr val="000000"/>
                </a:solidFill>
              </a:rPr>
              <a:t>Company </a:t>
            </a:r>
            <a:r>
              <a:rPr lang="it-IT" sz="800" err="1">
                <a:solidFill>
                  <a:srgbClr val="000000"/>
                </a:solidFill>
              </a:rPr>
              <a:t>presentation</a:t>
            </a:r>
            <a:endParaRPr sz="800">
              <a:solidFill>
                <a:srgbClr val="000000"/>
              </a:solidFill>
            </a:endParaRPr>
          </a:p>
        </p:txBody>
      </p:sp>
      <p:sp>
        <p:nvSpPr>
          <p:cNvPr id="6" name="object 2">
            <a:extLst>
              <a:ext uri="{FF2B5EF4-FFF2-40B4-BE49-F238E27FC236}">
                <a16:creationId xmlns:a16="http://schemas.microsoft.com/office/drawing/2014/main" id="{3457327D-AA42-F94D-6152-6A1C92C97A81}"/>
              </a:ext>
            </a:extLst>
          </p:cNvPr>
          <p:cNvSpPr txBox="1"/>
          <p:nvPr userDrawn="1"/>
        </p:nvSpPr>
        <p:spPr>
          <a:xfrm>
            <a:off x="10669898" y="283894"/>
            <a:ext cx="1191903" cy="1038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indent="23495" defTabSz="2607654">
              <a:defRPr sz="1800" spc="360">
                <a:solidFill>
                  <a:srgbClr val="5E5E5E"/>
                </a:solidFill>
                <a:latin typeface="Source Sans Pro Light"/>
                <a:ea typeface="Source Sans Pro Light"/>
                <a:cs typeface="Source Sans Pro Light"/>
                <a:sym typeface="Source Sans Pro Light"/>
              </a:defRPr>
            </a:lvl1pPr>
          </a:lstStyle>
          <a:p>
            <a:r>
              <a:rPr sz="900">
                <a:solidFill>
                  <a:srgbClr val="000000"/>
                </a:solidFill>
              </a:rPr>
              <a:t>CONFIDENTIAL</a:t>
            </a:r>
          </a:p>
        </p:txBody>
      </p:sp>
    </p:spTree>
    <p:extLst>
      <p:ext uri="{BB962C8B-B14F-4D97-AF65-F5344CB8AC3E}">
        <p14:creationId xmlns:p14="http://schemas.microsoft.com/office/powerpoint/2010/main" val="201955172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 pagina base 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ttangolo 11">
            <a:extLst>
              <a:ext uri="{FF2B5EF4-FFF2-40B4-BE49-F238E27FC236}">
                <a16:creationId xmlns:a16="http://schemas.microsoft.com/office/drawing/2014/main" id="{D46E0BD1-1C78-0F80-3430-A1ABFE223826}"/>
              </a:ext>
            </a:extLst>
          </p:cNvPr>
          <p:cNvSpPr/>
          <p:nvPr userDrawn="1"/>
        </p:nvSpPr>
        <p:spPr>
          <a:xfrm>
            <a:off x="-1" y="-2"/>
            <a:ext cx="12192002" cy="7408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400">
              <a:solidFill>
                <a:schemeClr val="bg1"/>
              </a:solidFill>
            </a:endParaRPr>
          </a:p>
        </p:txBody>
      </p:sp>
      <p:pic>
        <p:nvPicPr>
          <p:cNvPr id="7" name="Immagine 6">
            <a:extLst>
              <a:ext uri="{FF2B5EF4-FFF2-40B4-BE49-F238E27FC236}">
                <a16:creationId xmlns:a16="http://schemas.microsoft.com/office/drawing/2014/main" id="{71E63D1A-F1AC-3151-A2E3-C5ACFA6ACE16}"/>
              </a:ext>
            </a:extLst>
          </p:cNvPr>
          <p:cNvPicPr>
            <a:picLocks noChangeAspect="1"/>
          </p:cNvPicPr>
          <p:nvPr userDrawn="1"/>
        </p:nvPicPr>
        <p:blipFill>
          <a:blip r:embed="rId3"/>
          <a:stretch>
            <a:fillRect/>
          </a:stretch>
        </p:blipFill>
        <p:spPr>
          <a:xfrm>
            <a:off x="337498" y="211839"/>
            <a:ext cx="1205027" cy="290296"/>
          </a:xfrm>
          <a:prstGeom prst="rect">
            <a:avLst/>
          </a:prstGeom>
        </p:spPr>
      </p:pic>
      <p:sp>
        <p:nvSpPr>
          <p:cNvPr id="13" name="CasellaDiTesto 12">
            <a:extLst>
              <a:ext uri="{FF2B5EF4-FFF2-40B4-BE49-F238E27FC236}">
                <a16:creationId xmlns:a16="http://schemas.microsoft.com/office/drawing/2014/main" id="{468BD1AE-AC60-E619-7CA0-C78E1C9EC1F8}"/>
              </a:ext>
            </a:extLst>
          </p:cNvPr>
          <p:cNvSpPr txBox="1"/>
          <p:nvPr userDrawn="1"/>
        </p:nvSpPr>
        <p:spPr>
          <a:xfrm>
            <a:off x="10700801" y="234788"/>
            <a:ext cx="1212298" cy="200183"/>
          </a:xfrm>
          <a:prstGeom prst="rect">
            <a:avLst/>
          </a:prstGeom>
          <a:noFill/>
        </p:spPr>
        <p:txBody>
          <a:bodyPr wrap="square" rtlCol="0">
            <a:spAutoFit/>
          </a:bodyPr>
          <a:lstStyle/>
          <a:p>
            <a:r>
              <a:rPr lang="it-IT" sz="934" spc="134" baseline="0">
                <a:solidFill>
                  <a:srgbClr val="1B3640"/>
                </a:solidFill>
                <a:latin typeface="Titillium Web" pitchFamily="2" charset="77"/>
              </a:rPr>
              <a:t>CONFIDENTIAL</a:t>
            </a:r>
          </a:p>
        </p:txBody>
      </p:sp>
    </p:spTree>
    <p:extLst>
      <p:ext uri="{BB962C8B-B14F-4D97-AF65-F5344CB8AC3E}">
        <p14:creationId xmlns:p14="http://schemas.microsoft.com/office/powerpoint/2010/main" val="40891161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 Nuovo Capitoloi">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F7D049D1-F67A-1B20-B34E-2DE76BEDCEF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CasellaDiTesto 3">
            <a:extLst>
              <a:ext uri="{FF2B5EF4-FFF2-40B4-BE49-F238E27FC236}">
                <a16:creationId xmlns:a16="http://schemas.microsoft.com/office/drawing/2014/main" id="{284C7A4E-9372-D979-3AD7-1AB76F8CE358}"/>
              </a:ext>
            </a:extLst>
          </p:cNvPr>
          <p:cNvSpPr txBox="1"/>
          <p:nvPr userDrawn="1"/>
        </p:nvSpPr>
        <p:spPr>
          <a:xfrm>
            <a:off x="10700801" y="234788"/>
            <a:ext cx="1212298" cy="200183"/>
          </a:xfrm>
          <a:prstGeom prst="rect">
            <a:avLst/>
          </a:prstGeom>
          <a:noFill/>
        </p:spPr>
        <p:txBody>
          <a:bodyPr wrap="square" rtlCol="0">
            <a:spAutoFit/>
          </a:bodyPr>
          <a:lstStyle/>
          <a:p>
            <a:r>
              <a:rPr lang="it-IT" sz="934" spc="134" baseline="0">
                <a:solidFill>
                  <a:schemeClr val="bg1"/>
                </a:solidFill>
                <a:latin typeface="Titillium Web" pitchFamily="2" charset="77"/>
              </a:rPr>
              <a:t>CONFIDENTIAL</a:t>
            </a:r>
          </a:p>
        </p:txBody>
      </p:sp>
      <p:pic>
        <p:nvPicPr>
          <p:cNvPr id="5" name="Immagine 4">
            <a:extLst>
              <a:ext uri="{FF2B5EF4-FFF2-40B4-BE49-F238E27FC236}">
                <a16:creationId xmlns:a16="http://schemas.microsoft.com/office/drawing/2014/main" id="{EBC741DA-D826-71C0-6BFC-62C33846D308}"/>
              </a:ext>
            </a:extLst>
          </p:cNvPr>
          <p:cNvPicPr>
            <a:picLocks noChangeAspect="1"/>
          </p:cNvPicPr>
          <p:nvPr userDrawn="1"/>
        </p:nvPicPr>
        <p:blipFill>
          <a:blip r:embed="rId3"/>
          <a:srcRect/>
          <a:stretch/>
        </p:blipFill>
        <p:spPr>
          <a:xfrm>
            <a:off x="337498" y="211840"/>
            <a:ext cx="1205027" cy="290295"/>
          </a:xfrm>
          <a:prstGeom prst="rect">
            <a:avLst/>
          </a:prstGeom>
        </p:spPr>
      </p:pic>
      <p:sp>
        <p:nvSpPr>
          <p:cNvPr id="9" name="Segnaposto testo 8">
            <a:extLst>
              <a:ext uri="{FF2B5EF4-FFF2-40B4-BE49-F238E27FC236}">
                <a16:creationId xmlns:a16="http://schemas.microsoft.com/office/drawing/2014/main" id="{9636CB80-DE0C-D874-9A98-E4A65FCD450B}"/>
              </a:ext>
            </a:extLst>
          </p:cNvPr>
          <p:cNvSpPr>
            <a:spLocks noGrp="1"/>
          </p:cNvSpPr>
          <p:nvPr>
            <p:ph type="body" sz="quarter" idx="10" hasCustomPrompt="1"/>
          </p:nvPr>
        </p:nvSpPr>
        <p:spPr>
          <a:xfrm>
            <a:off x="4083050" y="3014134"/>
            <a:ext cx="4025900" cy="829734"/>
          </a:xfrm>
          <a:prstGeom prst="rect">
            <a:avLst/>
          </a:prstGeom>
        </p:spPr>
        <p:txBody>
          <a:bodyPr/>
          <a:lstStyle>
            <a:lvl1pPr marL="0" indent="0" algn="ctr">
              <a:buNone/>
              <a:defRPr sz="4667">
                <a:solidFill>
                  <a:schemeClr val="bg1"/>
                </a:solidFill>
                <a:latin typeface="Titillium Web" pitchFamily="2" charset="77"/>
              </a:defRPr>
            </a:lvl1pPr>
          </a:lstStyle>
          <a:p>
            <a:pPr lvl="0"/>
            <a:r>
              <a:rPr lang="it-IT"/>
              <a:t>Titolo</a:t>
            </a:r>
          </a:p>
        </p:txBody>
      </p:sp>
    </p:spTree>
    <p:extLst>
      <p:ext uri="{BB962C8B-B14F-4D97-AF65-F5344CB8AC3E}">
        <p14:creationId xmlns:p14="http://schemas.microsoft.com/office/powerpoint/2010/main" val="81001787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1_Grafico">
    <p:spTree>
      <p:nvGrpSpPr>
        <p:cNvPr id="1" name=""/>
        <p:cNvGrpSpPr/>
        <p:nvPr/>
      </p:nvGrpSpPr>
      <p:grpSpPr>
        <a:xfrm>
          <a:off x="0" y="0"/>
          <a:ext cx="0" cy="0"/>
          <a:chOff x="0" y="0"/>
          <a:chExt cx="0" cy="0"/>
        </a:xfrm>
      </p:grpSpPr>
      <p:pic>
        <p:nvPicPr>
          <p:cNvPr id="4" name="Custom-K55.pdf" descr="Custom-K55.pdf">
            <a:extLst>
              <a:ext uri="{FF2B5EF4-FFF2-40B4-BE49-F238E27FC236}">
                <a16:creationId xmlns:a16="http://schemas.microsoft.com/office/drawing/2014/main" id="{2C3DC434-DB9C-5264-9FE2-7323A3A62FFE}"/>
              </a:ext>
            </a:extLst>
          </p:cNvPr>
          <p:cNvPicPr>
            <a:picLocks noChangeAspect="1"/>
          </p:cNvPicPr>
          <p:nvPr userDrawn="1"/>
        </p:nvPicPr>
        <p:blipFill>
          <a:blip r:embed="rId2"/>
          <a:stretch>
            <a:fillRect/>
          </a:stretch>
        </p:blipFill>
        <p:spPr>
          <a:xfrm>
            <a:off x="340425" y="277935"/>
            <a:ext cx="597849" cy="104530"/>
          </a:xfrm>
          <a:prstGeom prst="rect">
            <a:avLst/>
          </a:prstGeom>
          <a:ln w="12700">
            <a:miter lim="400000"/>
          </a:ln>
        </p:spPr>
      </p:pic>
      <p:sp>
        <p:nvSpPr>
          <p:cNvPr id="5" name="THE WIDEST PRODUCTs PORTFOLIO | ticketing printers">
            <a:extLst>
              <a:ext uri="{FF2B5EF4-FFF2-40B4-BE49-F238E27FC236}">
                <a16:creationId xmlns:a16="http://schemas.microsoft.com/office/drawing/2014/main" id="{46A6ECD4-77C9-38C4-DD60-2617B2CE8B80}"/>
              </a:ext>
            </a:extLst>
          </p:cNvPr>
          <p:cNvSpPr txBox="1"/>
          <p:nvPr userDrawn="1"/>
        </p:nvSpPr>
        <p:spPr>
          <a:xfrm>
            <a:off x="1033139" y="285438"/>
            <a:ext cx="5233794" cy="1464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8" tIns="35718" rIns="35718" bIns="35718" anchor="ctr">
            <a:spAutoFit/>
          </a:bodyPr>
          <a:lstStyle>
            <a:lvl1pPr>
              <a:lnSpc>
                <a:spcPct val="100000"/>
              </a:lnSpc>
              <a:spcBef>
                <a:spcPts val="0"/>
              </a:spcBef>
              <a:defRPr sz="1600" cap="all" spc="320">
                <a:solidFill>
                  <a:srgbClr val="5E5E5E"/>
                </a:solidFill>
                <a:latin typeface="Source Sans Pro Light"/>
                <a:ea typeface="Source Sans Pro Light"/>
                <a:cs typeface="Source Sans Pro Light"/>
                <a:sym typeface="Source Sans Pro Light"/>
              </a:defRPr>
            </a:lvl1pPr>
          </a:lstStyle>
          <a:p>
            <a:r>
              <a:rPr lang="it-IT" sz="800">
                <a:solidFill>
                  <a:srgbClr val="000000"/>
                </a:solidFill>
              </a:rPr>
              <a:t>Company </a:t>
            </a:r>
            <a:r>
              <a:rPr lang="it-IT" sz="800" err="1">
                <a:solidFill>
                  <a:srgbClr val="000000"/>
                </a:solidFill>
              </a:rPr>
              <a:t>presentation</a:t>
            </a:r>
            <a:endParaRPr sz="800">
              <a:solidFill>
                <a:srgbClr val="000000"/>
              </a:solidFill>
            </a:endParaRPr>
          </a:p>
        </p:txBody>
      </p:sp>
      <p:sp>
        <p:nvSpPr>
          <p:cNvPr id="6" name="object 2">
            <a:extLst>
              <a:ext uri="{FF2B5EF4-FFF2-40B4-BE49-F238E27FC236}">
                <a16:creationId xmlns:a16="http://schemas.microsoft.com/office/drawing/2014/main" id="{647AC7D8-9BAF-D020-CA00-6E73C6A0B3AA}"/>
              </a:ext>
            </a:extLst>
          </p:cNvPr>
          <p:cNvSpPr txBox="1"/>
          <p:nvPr userDrawn="1"/>
        </p:nvSpPr>
        <p:spPr>
          <a:xfrm>
            <a:off x="10669898" y="283894"/>
            <a:ext cx="1191903" cy="1038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indent="23495" defTabSz="2607654">
              <a:defRPr sz="1800" spc="360">
                <a:solidFill>
                  <a:srgbClr val="5E5E5E"/>
                </a:solidFill>
                <a:latin typeface="Source Sans Pro Light"/>
                <a:ea typeface="Source Sans Pro Light"/>
                <a:cs typeface="Source Sans Pro Light"/>
                <a:sym typeface="Source Sans Pro Light"/>
              </a:defRPr>
            </a:lvl1pPr>
          </a:lstStyle>
          <a:p>
            <a:r>
              <a:rPr sz="900">
                <a:solidFill>
                  <a:srgbClr val="000000"/>
                </a:solidFill>
              </a:rPr>
              <a:t>CONFIDENTIAL</a:t>
            </a:r>
          </a:p>
        </p:txBody>
      </p:sp>
    </p:spTree>
    <p:extLst>
      <p:ext uri="{BB962C8B-B14F-4D97-AF65-F5344CB8AC3E}">
        <p14:creationId xmlns:p14="http://schemas.microsoft.com/office/powerpoint/2010/main" val="271422157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ogo_confidential">
    <p:spTree>
      <p:nvGrpSpPr>
        <p:cNvPr id="1" name=""/>
        <p:cNvGrpSpPr/>
        <p:nvPr/>
      </p:nvGrpSpPr>
      <p:grpSpPr>
        <a:xfrm>
          <a:off x="0" y="0"/>
          <a:ext cx="0" cy="0"/>
          <a:chOff x="0" y="0"/>
          <a:chExt cx="0" cy="0"/>
        </a:xfrm>
      </p:grpSpPr>
      <p:sp>
        <p:nvSpPr>
          <p:cNvPr id="7" name="CONFIDENTIAL">
            <a:extLst>
              <a:ext uri="{FF2B5EF4-FFF2-40B4-BE49-F238E27FC236}">
                <a16:creationId xmlns:a16="http://schemas.microsoft.com/office/drawing/2014/main" id="{46F65847-FF64-548B-EA31-6DF5735FB699}"/>
              </a:ext>
            </a:extLst>
          </p:cNvPr>
          <p:cNvSpPr txBox="1"/>
          <p:nvPr userDrawn="1"/>
        </p:nvSpPr>
        <p:spPr>
          <a:xfrm>
            <a:off x="10527323" y="259717"/>
            <a:ext cx="1252974" cy="22361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5" tIns="71435" rIns="71435" bIns="71435" anchor="ctr">
            <a:spAutoFit/>
          </a:bodyPr>
          <a:lstStyle>
            <a:lvl1pPr>
              <a:defRPr sz="2000" spc="400">
                <a:solidFill>
                  <a:srgbClr val="000000"/>
                </a:solidFill>
                <a:latin typeface="Source Sans Pro"/>
                <a:ea typeface="Source Sans Pro"/>
                <a:cs typeface="Source Sans Pro"/>
                <a:sym typeface="Source Sans Pro"/>
              </a:defRPr>
            </a:lvl1pPr>
          </a:lstStyle>
          <a:p>
            <a:pPr algn="ctr"/>
            <a:r>
              <a:rPr sz="1000" spc="200" baseline="0"/>
              <a:t>CONFIDENTIAL</a:t>
            </a:r>
          </a:p>
        </p:txBody>
      </p:sp>
      <p:pic>
        <p:nvPicPr>
          <p:cNvPr id="8" name="Immagine 7">
            <a:extLst>
              <a:ext uri="{FF2B5EF4-FFF2-40B4-BE49-F238E27FC236}">
                <a16:creationId xmlns:a16="http://schemas.microsoft.com/office/drawing/2014/main" id="{C0891583-BA18-D776-8908-1AC1D4DDBE9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337872" y="262025"/>
            <a:ext cx="957169" cy="158531"/>
          </a:xfrm>
          <a:prstGeom prst="rect">
            <a:avLst/>
          </a:prstGeom>
        </p:spPr>
      </p:pic>
    </p:spTree>
    <p:extLst>
      <p:ext uri="{BB962C8B-B14F-4D97-AF65-F5344CB8AC3E}">
        <p14:creationId xmlns:p14="http://schemas.microsoft.com/office/powerpoint/2010/main" val="3899114810"/>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11.02.2026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4364400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11.02.2026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538409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11.02.2026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8522854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11.02.2026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2678522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11.02.2026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9477012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11.02.2026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0695266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11.02.2026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9388684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11.02.2026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072948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11.02.2026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7917564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11.02.2026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4956991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11.02.2026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333032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x">
  <p:cSld name="sottocapitolo blu">
    <p:bg>
      <p:bgPr>
        <a:solidFill>
          <a:srgbClr val="00ACA0"/>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102C9B57-B13B-A96A-BB03-35F6ADF126F9}"/>
              </a:ext>
            </a:extLst>
          </p:cNvPr>
          <p:cNvPicPr>
            <a:picLocks noChangeAspect="1"/>
          </p:cNvPicPr>
          <p:nvPr userDrawn="1"/>
        </p:nvPicPr>
        <p:blipFill rotWithShape="1">
          <a:blip r:embed="rId2"/>
          <a:srcRect l="11904" t="23339" r="12519" b="16301"/>
          <a:stretch/>
        </p:blipFill>
        <p:spPr>
          <a:xfrm>
            <a:off x="0" y="0"/>
            <a:ext cx="12192000" cy="6858000"/>
          </a:xfrm>
          <a:prstGeom prst="rect">
            <a:avLst/>
          </a:prstGeom>
        </p:spPr>
      </p:pic>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3"/>
          <a:stretch>
            <a:fillRect/>
          </a:stretch>
        </p:blipFill>
        <p:spPr>
          <a:xfrm>
            <a:off x="335757" y="264881"/>
            <a:ext cx="957169" cy="157622"/>
          </a:xfrm>
          <a:prstGeom prst="rect">
            <a:avLst/>
          </a:prstGeom>
        </p:spPr>
      </p:pic>
    </p:spTree>
    <p:extLst>
      <p:ext uri="{BB962C8B-B14F-4D97-AF65-F5344CB8AC3E}">
        <p14:creationId xmlns:p14="http://schemas.microsoft.com/office/powerpoint/2010/main" val="3305267743"/>
      </p:ext>
    </p:extLst>
  </p:cSld>
  <p:clrMapOvr>
    <a:masterClrMapping/>
  </p:clrMapOvr>
  <p:transition spd="med"/>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Image + frase">
    <p:bg>
      <p:bgPr>
        <a:solidFill>
          <a:srgbClr val="FFFFFF"/>
        </a:solidFill>
        <a:effectLst/>
      </p:bgPr>
    </p:bg>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4F4DFEBF-2712-7B9E-C991-9B178D8531A6}"/>
              </a:ext>
            </a:extLst>
          </p:cNvPr>
          <p:cNvSpPr>
            <a:spLocks noGrp="1"/>
          </p:cNvSpPr>
          <p:nvPr>
            <p:ph type="pic" sz="quarter" idx="23"/>
          </p:nvPr>
        </p:nvSpPr>
        <p:spPr>
          <a:xfrm>
            <a:off x="0" y="0"/>
            <a:ext cx="12192000" cy="3317358"/>
          </a:xfrm>
        </p:spPr>
        <p:txBody>
          <a:bodyPr/>
          <a:lstStyle/>
          <a:p>
            <a:endParaRPr lang="it-IT"/>
          </a:p>
        </p:txBody>
      </p:sp>
      <p:pic>
        <p:nvPicPr>
          <p:cNvPr id="3" name="Immagine 2">
            <a:extLst>
              <a:ext uri="{FF2B5EF4-FFF2-40B4-BE49-F238E27FC236}">
                <a16:creationId xmlns:a16="http://schemas.microsoft.com/office/drawing/2014/main" id="{DD5B23A6-EC04-E749-2FCF-E187A94A19D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3572681120"/>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reserve="1">
  <p:cSld name="Custom 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58964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x" preserve="1">
  <p:cSld name="sottocapitolo blu">
    <p:bg>
      <p:bgPr>
        <a:solidFill>
          <a:srgbClr val="00ACA0"/>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102C9B57-B13B-A96A-BB03-35F6ADF126F9}"/>
              </a:ext>
            </a:extLst>
          </p:cNvPr>
          <p:cNvPicPr>
            <a:picLocks noChangeAspect="1"/>
          </p:cNvPicPr>
          <p:nvPr userDrawn="1"/>
        </p:nvPicPr>
        <p:blipFill rotWithShape="1">
          <a:blip r:embed="rId2"/>
          <a:srcRect l="11904" t="23339" r="12519" b="16301"/>
          <a:stretch/>
        </p:blipFill>
        <p:spPr>
          <a:xfrm>
            <a:off x="0" y="0"/>
            <a:ext cx="12192000" cy="6858000"/>
          </a:xfrm>
          <a:prstGeom prst="rect">
            <a:avLst/>
          </a:prstGeom>
        </p:spPr>
      </p:pic>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3"/>
          <a:stretch>
            <a:fillRect/>
          </a:stretch>
        </p:blipFill>
        <p:spPr>
          <a:xfrm>
            <a:off x="335757" y="264881"/>
            <a:ext cx="957169" cy="157622"/>
          </a:xfrm>
          <a:prstGeom prst="rect">
            <a:avLst/>
          </a:prstGeom>
        </p:spPr>
      </p:pic>
    </p:spTree>
    <p:extLst>
      <p:ext uri="{BB962C8B-B14F-4D97-AF65-F5344CB8AC3E}">
        <p14:creationId xmlns:p14="http://schemas.microsoft.com/office/powerpoint/2010/main" val="631659900"/>
      </p:ext>
    </p:extLst>
  </p:cSld>
  <p:clrMapOvr>
    <a:masterClrMapping/>
  </p:clrMapOvr>
  <p:transition spd="med"/>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x" preserve="1">
  <p:cSld name="sottocapitolo rosa">
    <p:bg>
      <p:bgPr>
        <a:solidFill>
          <a:schemeClr val="bg1">
            <a:lumMod val="20000"/>
            <a:lumOff val="80000"/>
          </a:schemeClr>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36005D18-817B-5296-E372-7806643CE48F}"/>
              </a:ext>
            </a:extLst>
          </p:cNvPr>
          <p:cNvPicPr>
            <a:picLocks noChangeAspect="1"/>
          </p:cNvPicPr>
          <p:nvPr userDrawn="1"/>
        </p:nvPicPr>
        <p:blipFill rotWithShape="1">
          <a:blip r:embed="rId2"/>
          <a:srcRect l="13127" t="23819" r="12813" b="17034"/>
          <a:stretch/>
        </p:blipFill>
        <p:spPr>
          <a:xfrm>
            <a:off x="0" y="0"/>
            <a:ext cx="12192000" cy="6858000"/>
          </a:xfrm>
          <a:prstGeom prst="rect">
            <a:avLst/>
          </a:prstGeom>
        </p:spPr>
      </p:pic>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3"/>
          <a:stretch>
            <a:fillRect/>
          </a:stretch>
        </p:blipFill>
        <p:spPr>
          <a:xfrm>
            <a:off x="335757" y="264881"/>
            <a:ext cx="957169" cy="157622"/>
          </a:xfrm>
          <a:prstGeom prst="rect">
            <a:avLst/>
          </a:prstGeom>
        </p:spPr>
      </p:pic>
    </p:spTree>
    <p:extLst>
      <p:ext uri="{BB962C8B-B14F-4D97-AF65-F5344CB8AC3E}">
        <p14:creationId xmlns:p14="http://schemas.microsoft.com/office/powerpoint/2010/main" val="2862861947"/>
      </p:ext>
    </p:extLst>
  </p:cSld>
  <p:clrMapOvr>
    <a:masterClrMapping/>
  </p:clrMapOvr>
  <p:transition spd="med"/>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x" preserve="1">
  <p:cSld name="sottocapitolo azzurro">
    <p:bg>
      <p:bgPr>
        <a:solidFill>
          <a:srgbClr val="2C2D65"/>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F451DDB-05FB-EFBE-0263-6BC01CFA8795}"/>
              </a:ext>
            </a:extLst>
          </p:cNvPr>
          <p:cNvPicPr>
            <a:picLocks noChangeAspect="1"/>
          </p:cNvPicPr>
          <p:nvPr userDrawn="1"/>
        </p:nvPicPr>
        <p:blipFill rotWithShape="1">
          <a:blip r:embed="rId2"/>
          <a:srcRect l="13083" t="24602" r="13083" b="12914"/>
          <a:stretch/>
        </p:blipFill>
        <p:spPr>
          <a:xfrm>
            <a:off x="0" y="0"/>
            <a:ext cx="12192000" cy="6858000"/>
          </a:xfrm>
          <a:prstGeom prst="rect">
            <a:avLst/>
          </a:prstGeom>
        </p:spPr>
      </p:pic>
      <p:pic>
        <p:nvPicPr>
          <p:cNvPr id="4" name="Immagine 3">
            <a:extLst>
              <a:ext uri="{FF2B5EF4-FFF2-40B4-BE49-F238E27FC236}">
                <a16:creationId xmlns:a16="http://schemas.microsoft.com/office/drawing/2014/main" id="{A9110154-AF8D-0CC1-1776-C89F647D2FD2}"/>
              </a:ext>
            </a:extLst>
          </p:cNvPr>
          <p:cNvPicPr>
            <a:picLocks noChangeAspect="1"/>
          </p:cNvPicPr>
          <p:nvPr userDrawn="1"/>
        </p:nvPicPr>
        <p:blipFill>
          <a:blip r:embed="rId3"/>
          <a:stretch>
            <a:fillRect/>
          </a:stretch>
        </p:blipFill>
        <p:spPr>
          <a:xfrm>
            <a:off x="335757" y="262126"/>
            <a:ext cx="957169" cy="157622"/>
          </a:xfrm>
          <a:prstGeom prst="rect">
            <a:avLst/>
          </a:prstGeom>
        </p:spPr>
      </p:pic>
    </p:spTree>
    <p:extLst>
      <p:ext uri="{BB962C8B-B14F-4D97-AF65-F5344CB8AC3E}">
        <p14:creationId xmlns:p14="http://schemas.microsoft.com/office/powerpoint/2010/main" val="1195594440"/>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guide id="3" pos="423">
          <p15:clr>
            <a:srgbClr val="FBAE40"/>
          </p15:clr>
        </p15:guide>
        <p15:guide id="4" orient="horz" pos="48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x" preserve="1">
  <p:cSld name="1_agenda">
    <p:bg>
      <p:bgPr>
        <a:solidFill>
          <a:srgbClr val="2C2D6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A866DC8-BBF8-F936-D8BF-D1F743B03B4F}"/>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20099246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guide id="3" pos="423">
          <p15:clr>
            <a:srgbClr val="FBAE40"/>
          </p15:clr>
        </p15:guide>
        <p15:guide id="4" orient="horz" pos="48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reserve="1">
  <p:cSld name="sottocapitolo">
    <p:bg>
      <p:bgPr>
        <a:solidFill>
          <a:srgbClr val="00ACA0"/>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0E6433CF-9A3D-D234-D8D2-A838850F8ACC}"/>
              </a:ext>
            </a:extLst>
          </p:cNvPr>
          <p:cNvPicPr>
            <a:picLocks noChangeAspect="1"/>
          </p:cNvPicPr>
          <p:nvPr userDrawn="1"/>
        </p:nvPicPr>
        <p:blipFill>
          <a:blip r:embed="rId2"/>
          <a:stretch>
            <a:fillRect/>
          </a:stretch>
        </p:blipFill>
        <p:spPr>
          <a:xfrm>
            <a:off x="335757" y="262126"/>
            <a:ext cx="957169" cy="157622"/>
          </a:xfrm>
          <a:prstGeom prst="rect">
            <a:avLst/>
          </a:prstGeom>
        </p:spPr>
      </p:pic>
    </p:spTree>
    <p:extLst>
      <p:ext uri="{BB962C8B-B14F-4D97-AF65-F5344CB8AC3E}">
        <p14:creationId xmlns:p14="http://schemas.microsoft.com/office/powerpoint/2010/main" val="131090510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sottocapitolo copia">
    <p:bg>
      <p:bgPr>
        <a:solidFill>
          <a:srgbClr val="CE0058"/>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09BFC5F-0FD1-B5CB-35AD-BF35BB0D2D1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846172206"/>
      </p:ext>
    </p:extLst>
  </p:cSld>
  <p:clrMapOvr>
    <a:masterClrMapping/>
  </p:clrMapOvr>
  <p:transition spd="med"/>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x" preserve="1">
  <p:cSld name="1_sottocapitolo copia">
    <p:bg>
      <p:bgPr>
        <a:solidFill>
          <a:srgbClr val="F2A900"/>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5AC3DA-E870-9F54-DB87-23D48EFBAD5F}"/>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1137684693"/>
      </p:ext>
    </p:extLst>
  </p:cSld>
  <p:clrMapOvr>
    <a:masterClrMapping/>
  </p:clrMapOvr>
  <p:transition spd="med"/>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reserve="1">
  <p:cSld name="2_sottocapitolo copia">
    <p:bg>
      <p:bgPr>
        <a:solidFill>
          <a:srgbClr val="2A5B6C"/>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19B01E70-EFD4-64C8-EB6D-2F708B544DA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3812978233"/>
      </p:ext>
    </p:extLst>
  </p:cSld>
  <p:clrMapOvr>
    <a:masterClrMapping/>
  </p:clrMapOvr>
  <p:transition spd="med"/>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esto immagine  background">
    <p:bg>
      <p:bgPr>
        <a:solidFill>
          <a:srgbClr val="FFFFFF"/>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106D2721-79DA-C716-713B-790AB11EF412}"/>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1722681223"/>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Image + frase">
    <p:bg>
      <p:bgPr>
        <a:solidFill>
          <a:srgbClr val="FFFFFF"/>
        </a:solidFill>
        <a:effectLst/>
      </p:bgPr>
    </p:bg>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4F4DFEBF-2712-7B9E-C991-9B178D8531A6}"/>
              </a:ext>
            </a:extLst>
          </p:cNvPr>
          <p:cNvSpPr>
            <a:spLocks noGrp="1"/>
          </p:cNvSpPr>
          <p:nvPr>
            <p:ph type="pic" sz="quarter" idx="23"/>
          </p:nvPr>
        </p:nvSpPr>
        <p:spPr>
          <a:xfrm>
            <a:off x="0" y="0"/>
            <a:ext cx="12192000" cy="3317358"/>
          </a:xfrm>
        </p:spPr>
        <p:txBody>
          <a:bodyPr/>
          <a:lstStyle/>
          <a:p>
            <a:endParaRPr lang="it-IT"/>
          </a:p>
        </p:txBody>
      </p:sp>
      <p:pic>
        <p:nvPicPr>
          <p:cNvPr id="3" name="Immagine 2">
            <a:extLst>
              <a:ext uri="{FF2B5EF4-FFF2-40B4-BE49-F238E27FC236}">
                <a16:creationId xmlns:a16="http://schemas.microsoft.com/office/drawing/2014/main" id="{DD5B23A6-EC04-E749-2FCF-E187A94A19DE}"/>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4280311614"/>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x" preserve="1">
  <p:cSld name="Image + elenco">
    <p:spTree>
      <p:nvGrpSpPr>
        <p:cNvPr id="1" name=""/>
        <p:cNvGrpSpPr/>
        <p:nvPr/>
      </p:nvGrpSpPr>
      <p:grpSpPr>
        <a:xfrm>
          <a:off x="0" y="0"/>
          <a:ext cx="0" cy="0"/>
          <a:chOff x="0" y="0"/>
          <a:chExt cx="0" cy="0"/>
        </a:xfrm>
      </p:grpSpPr>
      <p:sp>
        <p:nvSpPr>
          <p:cNvPr id="3" name="Rettangolo">
            <a:extLst>
              <a:ext uri="{FF2B5EF4-FFF2-40B4-BE49-F238E27FC236}">
                <a16:creationId xmlns:a16="http://schemas.microsoft.com/office/drawing/2014/main" id="{C1B3B192-8D04-A50F-DFA7-793399FAB1CC}"/>
              </a:ext>
            </a:extLst>
          </p:cNvPr>
          <p:cNvSpPr/>
          <p:nvPr userDrawn="1"/>
        </p:nvSpPr>
        <p:spPr>
          <a:xfrm>
            <a:off x="-6351" y="0"/>
            <a:ext cx="12198350" cy="3236130"/>
          </a:xfrm>
          <a:prstGeom prst="rect">
            <a:avLst/>
          </a:prstGeom>
          <a:solidFill>
            <a:srgbClr val="2C2D65"/>
          </a:solidFill>
          <a:ln w="12700">
            <a:miter lim="400000"/>
          </a:ln>
        </p:spPr>
        <p:txBody>
          <a:bodyPr lIns="0" tIns="0" rIns="0" bIns="0" anchor="ctr"/>
          <a:lstStyle/>
          <a:p>
            <a:pPr algn="ctr">
              <a:lnSpc>
                <a:spcPct val="100000"/>
              </a:lnSpc>
              <a:spcBef>
                <a:spcPts val="0"/>
              </a:spcBef>
              <a:defRPr sz="3200">
                <a:solidFill>
                  <a:srgbClr val="FFFFFF"/>
                </a:solidFill>
              </a:defRPr>
            </a:pPr>
            <a:endParaRPr sz="1600"/>
          </a:p>
        </p:txBody>
      </p:sp>
      <p:sp>
        <p:nvSpPr>
          <p:cNvPr id="70" name="ELENCO PUNTATO"/>
          <p:cNvSpPr txBox="1">
            <a:spLocks noGrp="1"/>
          </p:cNvSpPr>
          <p:nvPr>
            <p:ph type="body" sz="quarter" idx="21"/>
          </p:nvPr>
        </p:nvSpPr>
        <p:spPr>
          <a:xfrm>
            <a:off x="1212850" y="1326099"/>
            <a:ext cx="5477636" cy="745491"/>
          </a:xfrm>
          <a:prstGeom prst="rect">
            <a:avLst/>
          </a:prstGeom>
        </p:spPr>
        <p:txBody>
          <a:bodyPr lIns="0" tIns="0" rIns="0" bIns="0"/>
          <a:lstStyle>
            <a:lvl1pPr marL="0" indent="0">
              <a:lnSpc>
                <a:spcPct val="110000"/>
              </a:lnSpc>
              <a:spcBef>
                <a:spcPts val="0"/>
              </a:spcBef>
              <a:buSzTx/>
              <a:buNone/>
              <a:defRPr sz="7500" spc="1100">
                <a:solidFill>
                  <a:srgbClr val="FFFFFF"/>
                </a:solidFill>
                <a:latin typeface="Source Sans Pro Light"/>
                <a:ea typeface="Source Sans Pro Light"/>
                <a:sym typeface="Source Sans Pro Light"/>
              </a:defRPr>
            </a:lvl1pPr>
          </a:lstStyle>
          <a:p>
            <a:pPr marL="0" indent="0">
              <a:lnSpc>
                <a:spcPct val="110000"/>
              </a:lnSpc>
              <a:spcBef>
                <a:spcPts val="0"/>
              </a:spcBef>
              <a:buSzTx/>
              <a:buNone/>
              <a:defRPr sz="7500" spc="1100">
                <a:solidFill>
                  <a:srgbClr val="FFFFFF"/>
                </a:solidFill>
                <a:latin typeface="Source Sans Pro Light"/>
                <a:ea typeface="Source Sans Pro Light"/>
                <a:cs typeface="Source Sans Pro Light"/>
                <a:sym typeface="Source Sans Pro Light"/>
              </a:defRPr>
            </a:pPr>
            <a:endParaRPr/>
          </a:p>
        </p:txBody>
      </p:sp>
      <p:sp>
        <p:nvSpPr>
          <p:cNvPr id="72" name="Custom means customization capability, it is inside the DNA of the company.  MOQ of 100 pcs / 10K € to start a customization project."/>
          <p:cNvSpPr txBox="1">
            <a:spLocks noGrp="1"/>
          </p:cNvSpPr>
          <p:nvPr>
            <p:ph type="body" sz="quarter" idx="22"/>
          </p:nvPr>
        </p:nvSpPr>
        <p:spPr>
          <a:xfrm>
            <a:off x="810719" y="4104058"/>
            <a:ext cx="1915507" cy="125476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3" name="01."/>
          <p:cNvSpPr txBox="1">
            <a:spLocks noGrp="1"/>
          </p:cNvSpPr>
          <p:nvPr>
            <p:ph type="body" sz="quarter" idx="23"/>
          </p:nvPr>
        </p:nvSpPr>
        <p:spPr>
          <a:xfrm>
            <a:off x="810719"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4" name="Custom has a clear and transparent indirect go-to-market model."/>
          <p:cNvSpPr txBox="1">
            <a:spLocks noGrp="1"/>
          </p:cNvSpPr>
          <p:nvPr>
            <p:ph type="body" sz="quarter" idx="24"/>
          </p:nvPr>
        </p:nvSpPr>
        <p:spPr>
          <a:xfrm>
            <a:off x="3043026" y="4104058"/>
            <a:ext cx="1584947"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5" name="02."/>
          <p:cNvSpPr txBox="1">
            <a:spLocks noGrp="1"/>
          </p:cNvSpPr>
          <p:nvPr>
            <p:ph type="body" sz="quarter" idx="25"/>
          </p:nvPr>
        </p:nvSpPr>
        <p:spPr>
          <a:xfrm>
            <a:off x="3046639" y="3619748"/>
            <a:ext cx="1809752"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6" name="Custom is recognized by its durable hardware which resists at -40 C° in Russia and at 90% humidity of India."/>
          <p:cNvSpPr txBox="1">
            <a:spLocks noGrp="1"/>
          </p:cNvSpPr>
          <p:nvPr>
            <p:ph type="body" sz="quarter" idx="26"/>
          </p:nvPr>
        </p:nvSpPr>
        <p:spPr>
          <a:xfrm>
            <a:off x="5098957" y="4104058"/>
            <a:ext cx="1809754"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77" name="03."/>
          <p:cNvSpPr txBox="1">
            <a:spLocks noGrp="1"/>
          </p:cNvSpPr>
          <p:nvPr>
            <p:ph type="body" sz="quarter" idx="27"/>
          </p:nvPr>
        </p:nvSpPr>
        <p:spPr>
          <a:xfrm>
            <a:off x="5092607"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8" name="04."/>
          <p:cNvSpPr txBox="1">
            <a:spLocks noGrp="1"/>
          </p:cNvSpPr>
          <p:nvPr>
            <p:ph type="body" sz="quarter" idx="28"/>
          </p:nvPr>
        </p:nvSpPr>
        <p:spPr>
          <a:xfrm>
            <a:off x="7366994"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79" name="Custom means variety of verticals: UEFA supplier for ticketing, installations in 400 airports worldwide, Dolce&amp;Gabbana shops."/>
          <p:cNvSpPr txBox="1">
            <a:spLocks noGrp="1"/>
          </p:cNvSpPr>
          <p:nvPr>
            <p:ph type="body" sz="quarter" idx="29"/>
          </p:nvPr>
        </p:nvSpPr>
        <p:spPr>
          <a:xfrm>
            <a:off x="7366994" y="4104058"/>
            <a:ext cx="1809753" cy="193040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sp>
        <p:nvSpPr>
          <p:cNvPr id="80" name="05."/>
          <p:cNvSpPr txBox="1">
            <a:spLocks noGrp="1"/>
          </p:cNvSpPr>
          <p:nvPr>
            <p:ph type="body" sz="quarter" idx="30"/>
          </p:nvPr>
        </p:nvSpPr>
        <p:spPr>
          <a:xfrm>
            <a:off x="9663998" y="3619748"/>
            <a:ext cx="1809753" cy="355601"/>
          </a:xfrm>
          <a:prstGeom prst="rect">
            <a:avLst/>
          </a:prstGeom>
        </p:spPr>
        <p:txBody>
          <a:bodyPr lIns="0" tIns="0" rIns="0" bIns="0" anchor="t"/>
          <a:lstStyle>
            <a:lvl1pPr marL="0" indent="0">
              <a:lnSpc>
                <a:spcPct val="130000"/>
              </a:lnSpc>
              <a:spcBef>
                <a:spcPts val="0"/>
              </a:spcBef>
              <a:buSzTx/>
              <a:buNone/>
              <a:defRPr sz="4500">
                <a:solidFill>
                  <a:srgbClr val="5E5E5E"/>
                </a:solidFill>
                <a:latin typeface="Source Sans Pro Regular"/>
                <a:ea typeface="Source Sans Pro Regular"/>
                <a:sym typeface="Source Sans Pro Regular"/>
              </a:defRPr>
            </a:lvl1pPr>
          </a:lstStyle>
          <a:p>
            <a:pPr marL="0" indent="0">
              <a:lnSpc>
                <a:spcPct val="130000"/>
              </a:lnSpc>
              <a:spcBef>
                <a:spcPts val="0"/>
              </a:spcBef>
              <a:buSzTx/>
              <a:buNone/>
              <a:defRPr sz="4500">
                <a:solidFill>
                  <a:srgbClr val="5E5E5E"/>
                </a:solidFill>
                <a:latin typeface="Source Sans Pro Regular"/>
                <a:ea typeface="Source Sans Pro Regular"/>
                <a:cs typeface="Source Sans Pro Regular"/>
                <a:sym typeface="Source Sans Pro Regular"/>
              </a:defRPr>
            </a:pPr>
            <a:endParaRPr/>
          </a:p>
        </p:txBody>
      </p:sp>
      <p:sp>
        <p:nvSpPr>
          <p:cNvPr id="81" name="Custom as niche expert: 1) receipt printing &gt; commodity 2) ticket printing with stock control &gt; solution 3) Italian design &gt; luxury shops."/>
          <p:cNvSpPr txBox="1">
            <a:spLocks noGrp="1"/>
          </p:cNvSpPr>
          <p:nvPr>
            <p:ph type="body" sz="quarter" idx="31"/>
          </p:nvPr>
        </p:nvSpPr>
        <p:spPr>
          <a:xfrm>
            <a:off x="9635030" y="4104058"/>
            <a:ext cx="1867688" cy="1592581"/>
          </a:xfrm>
          <a:prstGeom prst="rect">
            <a:avLst/>
          </a:prstGeom>
        </p:spPr>
        <p:txBody>
          <a:bodyPr lIns="0" tIns="0" rIns="0" bIns="0" anchor="t"/>
          <a:lstStyle>
            <a:lvl1pPr marL="0" indent="0">
              <a:lnSpc>
                <a:spcPct val="140000"/>
              </a:lnSpc>
              <a:spcBef>
                <a:spcPts val="1500"/>
              </a:spcBef>
              <a:buSzTx/>
              <a:buNone/>
              <a:defRPr sz="3000" spc="-100">
                <a:solidFill>
                  <a:srgbClr val="5E5E5E"/>
                </a:solidFill>
                <a:latin typeface="Source Sans Pro Light"/>
                <a:ea typeface="Source Sans Pro Light"/>
                <a:sym typeface="Source Sans Pro Light"/>
              </a:defRPr>
            </a:lvl1pPr>
          </a:lstStyle>
          <a:p>
            <a:pPr marL="0" indent="0">
              <a:lnSpc>
                <a:spcPct val="140000"/>
              </a:lnSpc>
              <a:spcBef>
                <a:spcPts val="3000"/>
              </a:spcBef>
              <a:buSzTx/>
              <a:buNone/>
              <a:defRPr sz="3000" spc="-100">
                <a:solidFill>
                  <a:srgbClr val="5E5E5E"/>
                </a:solidFill>
                <a:latin typeface="Source Sans Pro Light"/>
                <a:ea typeface="Source Sans Pro Light"/>
                <a:cs typeface="Source Sans Pro Light"/>
                <a:sym typeface="Source Sans Pro Light"/>
              </a:defRPr>
            </a:pPr>
            <a:endParaRPr/>
          </a:p>
        </p:txBody>
      </p:sp>
      <p:pic>
        <p:nvPicPr>
          <p:cNvPr id="4" name="Immagine 3">
            <a:extLst>
              <a:ext uri="{FF2B5EF4-FFF2-40B4-BE49-F238E27FC236}">
                <a16:creationId xmlns:a16="http://schemas.microsoft.com/office/drawing/2014/main" id="{98F51CFA-5928-997F-653A-EBB3E90DC201}"/>
              </a:ext>
            </a:extLst>
          </p:cNvPr>
          <p:cNvPicPr>
            <a:picLocks noChangeAspect="1"/>
          </p:cNvPicPr>
          <p:nvPr userDrawn="1"/>
        </p:nvPicPr>
        <p:blipFill>
          <a:blip r:embed="rId2"/>
          <a:stretch>
            <a:fillRect/>
          </a:stretch>
        </p:blipFill>
        <p:spPr>
          <a:xfrm>
            <a:off x="335757" y="264881"/>
            <a:ext cx="957169" cy="157622"/>
          </a:xfrm>
          <a:prstGeom prst="rect">
            <a:avLst/>
          </a:prstGeom>
        </p:spPr>
      </p:pic>
    </p:spTree>
    <p:extLst>
      <p:ext uri="{BB962C8B-B14F-4D97-AF65-F5344CB8AC3E}">
        <p14:creationId xmlns:p14="http://schemas.microsoft.com/office/powerpoint/2010/main" val="2094872176"/>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x" preserve="1">
  <p:cSld name="Product - V1">
    <p:spTree>
      <p:nvGrpSpPr>
        <p:cNvPr id="1" name=""/>
        <p:cNvGrpSpPr/>
        <p:nvPr/>
      </p:nvGrpSpPr>
      <p:grpSpPr>
        <a:xfrm>
          <a:off x="0" y="0"/>
          <a:ext cx="0" cy="0"/>
          <a:chOff x="0" y="0"/>
          <a:chExt cx="0" cy="0"/>
        </a:xfrm>
      </p:grpSpPr>
      <p:sp>
        <p:nvSpPr>
          <p:cNvPr id="90" name="Fiscal…"/>
          <p:cNvSpPr txBox="1">
            <a:spLocks noGrp="1"/>
          </p:cNvSpPr>
          <p:nvPr>
            <p:ph type="body" sz="quarter" idx="21"/>
          </p:nvPr>
        </p:nvSpPr>
        <p:spPr>
          <a:xfrm>
            <a:off x="1575247" y="1718318"/>
            <a:ext cx="3759361" cy="1134111"/>
          </a:xfrm>
          <a:prstGeom prst="rect">
            <a:avLst/>
          </a:prstGeom>
        </p:spPr>
        <p:txBody>
          <a:bodyPr lIns="0" tIns="0" rIns="0" bIns="0" anchor="b"/>
          <a:lstStyle>
            <a:lvl1pPr marL="0" indent="0">
              <a:lnSpc>
                <a:spcPct val="90000"/>
              </a:lnSpc>
              <a:spcBef>
                <a:spcPts val="0"/>
              </a:spcBef>
              <a:buSzTx/>
              <a:buNone/>
              <a:defRPr sz="7500" spc="300">
                <a:solidFill>
                  <a:srgbClr val="5E5E5E"/>
                </a:solidFill>
                <a:latin typeface="Source Sans Pro Light"/>
                <a:ea typeface="Source Sans Pro Light"/>
                <a:sym typeface="Source Sans Pro Light"/>
              </a:defRPr>
            </a:lvl1pPr>
          </a:lstStyle>
          <a:p>
            <a:pPr marL="0" indent="0">
              <a:lnSpc>
                <a:spcPct val="90000"/>
              </a:lnSpc>
              <a:spcBef>
                <a:spcPts val="0"/>
              </a:spcBef>
              <a:buSzTx/>
              <a:buNone/>
              <a:defRPr sz="7500" spc="300">
                <a:solidFill>
                  <a:srgbClr val="5E5E5E"/>
                </a:solidFill>
                <a:latin typeface="Source Sans Pro Light"/>
                <a:ea typeface="Source Sans Pro Light"/>
                <a:cs typeface="Source Sans Pro Light"/>
                <a:sym typeface="Source Sans Pro Light"/>
              </a:defRPr>
            </a:pPr>
            <a:endParaRPr/>
          </a:p>
        </p:txBody>
      </p:sp>
      <p:sp>
        <p:nvSpPr>
          <p:cNvPr id="91" name="Expertise in 15 fiscal markets worldwide, a wide range of products for any need: from ultra-compact cash registers to telematic fiscal printers."/>
          <p:cNvSpPr txBox="1">
            <a:spLocks noGrp="1"/>
          </p:cNvSpPr>
          <p:nvPr>
            <p:ph type="body" sz="quarter" idx="22"/>
          </p:nvPr>
        </p:nvSpPr>
        <p:spPr>
          <a:xfrm>
            <a:off x="1580926" y="3498207"/>
            <a:ext cx="2887358" cy="1551941"/>
          </a:xfrm>
          <a:prstGeom prst="rect">
            <a:avLst/>
          </a:prstGeom>
        </p:spPr>
        <p:txBody>
          <a:bodyPr lIns="0" tIns="0" rIns="0" bIns="0" anchor="t"/>
          <a:lstStyle>
            <a:lvl1pPr marL="0" indent="0">
              <a:lnSpc>
                <a:spcPct val="140000"/>
              </a:lnSpc>
              <a:spcBef>
                <a:spcPts val="0"/>
              </a:spcBef>
              <a:buSzTx/>
              <a:buNone/>
              <a:defRPr sz="3800">
                <a:solidFill>
                  <a:srgbClr val="5E5E5E"/>
                </a:solidFill>
                <a:latin typeface="Source Sans Pro Light"/>
                <a:ea typeface="Source Sans Pro Light"/>
                <a:sym typeface="Source Sans Pro Light"/>
              </a:defRPr>
            </a:lvl1pPr>
          </a:lstStyle>
          <a:p>
            <a:pPr marL="0" indent="0">
              <a:lnSpc>
                <a:spcPct val="140000"/>
              </a:lnSpc>
              <a:spcBef>
                <a:spcPts val="0"/>
              </a:spcBef>
              <a:buSzTx/>
              <a:buNone/>
              <a:defRPr sz="3800">
                <a:solidFill>
                  <a:srgbClr val="5E5E5E"/>
                </a:solidFill>
                <a:latin typeface="Source Sans Pro Light"/>
                <a:ea typeface="Source Sans Pro Light"/>
                <a:cs typeface="Source Sans Pro Light"/>
                <a:sym typeface="Source Sans Pro Light"/>
              </a:defRPr>
            </a:pPr>
            <a:endParaRPr/>
          </a:p>
        </p:txBody>
      </p:sp>
      <p:pic>
        <p:nvPicPr>
          <p:cNvPr id="2" name="Immagine 1">
            <a:extLst>
              <a:ext uri="{FF2B5EF4-FFF2-40B4-BE49-F238E27FC236}">
                <a16:creationId xmlns:a16="http://schemas.microsoft.com/office/drawing/2014/main" id="{362DAC52-7457-8D1B-3A3B-53784B5F998C}"/>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386184585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x" preserve="1">
  <p:cSld name="Grafico">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F31D1CC-2F0B-AE60-AF3C-4EDD76FCE0CA}"/>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1694378592"/>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x" preserve="1">
  <p:cSld name="Custom Thanks">
    <p:spTree>
      <p:nvGrpSpPr>
        <p:cNvPr id="1" name=""/>
        <p:cNvGrpSpPr/>
        <p:nvPr/>
      </p:nvGrpSpPr>
      <p:grpSpPr>
        <a:xfrm>
          <a:off x="0" y="0"/>
          <a:ext cx="0" cy="0"/>
          <a:chOff x="0" y="0"/>
          <a:chExt cx="0" cy="0"/>
        </a:xfrm>
      </p:grpSpPr>
      <p:sp>
        <p:nvSpPr>
          <p:cNvPr id="108" name="YOUR BUSINESS IMPRINT"/>
          <p:cNvSpPr txBox="1"/>
          <p:nvPr/>
        </p:nvSpPr>
        <p:spPr>
          <a:xfrm>
            <a:off x="5543445" y="3993758"/>
            <a:ext cx="1105111" cy="3436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ctr" defTabSz="584200">
              <a:lnSpc>
                <a:spcPct val="100000"/>
              </a:lnSpc>
              <a:spcBef>
                <a:spcPts val="0"/>
              </a:spcBef>
              <a:defRPr sz="3800" cap="all" spc="190">
                <a:solidFill>
                  <a:srgbClr val="929292"/>
                </a:solidFill>
                <a:latin typeface="Source Sans Pro Light"/>
                <a:ea typeface="Source Sans Pro Light"/>
                <a:cs typeface="Source Sans Pro Light"/>
                <a:sym typeface="Source Sans Pro Light"/>
              </a:defRPr>
            </a:lvl1pPr>
          </a:lstStyle>
          <a:p>
            <a:r>
              <a:rPr sz="1900">
                <a:solidFill>
                  <a:srgbClr val="2C2D65"/>
                </a:solidFill>
              </a:rPr>
              <a:t>THANKS.</a:t>
            </a:r>
          </a:p>
        </p:txBody>
      </p:sp>
      <p:pic>
        <p:nvPicPr>
          <p:cNvPr id="2" name="Immagine 1">
            <a:extLst>
              <a:ext uri="{FF2B5EF4-FFF2-40B4-BE49-F238E27FC236}">
                <a16:creationId xmlns:a16="http://schemas.microsoft.com/office/drawing/2014/main" id="{9D26D730-4918-6373-F0E9-F7BD30D3845B}"/>
              </a:ext>
            </a:extLst>
          </p:cNvPr>
          <p:cNvPicPr>
            <a:picLocks noChangeAspect="1"/>
          </p:cNvPicPr>
          <p:nvPr userDrawn="1"/>
        </p:nvPicPr>
        <p:blipFill>
          <a:blip r:embed="rId2"/>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937768305"/>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x" preserve="1">
  <p:cSld name="1_Custom Grazie">
    <p:spTree>
      <p:nvGrpSpPr>
        <p:cNvPr id="1" name=""/>
        <p:cNvGrpSpPr/>
        <p:nvPr/>
      </p:nvGrpSpPr>
      <p:grpSpPr>
        <a:xfrm>
          <a:off x="0" y="0"/>
          <a:ext cx="0" cy="0"/>
          <a:chOff x="0" y="0"/>
          <a:chExt cx="0" cy="0"/>
        </a:xfrm>
      </p:grpSpPr>
      <p:sp>
        <p:nvSpPr>
          <p:cNvPr id="108" name="YOUR BUSINESS IMPRINT"/>
          <p:cNvSpPr txBox="1"/>
          <p:nvPr/>
        </p:nvSpPr>
        <p:spPr>
          <a:xfrm>
            <a:off x="5597146" y="3993758"/>
            <a:ext cx="997710" cy="34368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25400" tIns="25400" rIns="25400" bIns="25400" anchor="ctr">
            <a:spAutoFit/>
          </a:bodyPr>
          <a:lstStyle>
            <a:lvl1pPr algn="ctr" defTabSz="584200">
              <a:lnSpc>
                <a:spcPct val="100000"/>
              </a:lnSpc>
              <a:spcBef>
                <a:spcPts val="0"/>
              </a:spcBef>
              <a:defRPr sz="3800" cap="all" spc="190">
                <a:solidFill>
                  <a:srgbClr val="929292"/>
                </a:solidFill>
                <a:latin typeface="Source Sans Pro Light"/>
                <a:ea typeface="Source Sans Pro Light"/>
                <a:cs typeface="Source Sans Pro Light"/>
                <a:sym typeface="Source Sans Pro Light"/>
              </a:defRPr>
            </a:lvl1pPr>
          </a:lstStyle>
          <a:p>
            <a:r>
              <a:rPr lang="it-IT" sz="1900">
                <a:solidFill>
                  <a:srgbClr val="2C2D65"/>
                </a:solidFill>
              </a:rPr>
              <a:t>GRAZIE</a:t>
            </a:r>
            <a:r>
              <a:rPr sz="1900">
                <a:solidFill>
                  <a:srgbClr val="2C2D65"/>
                </a:solidFill>
              </a:rPr>
              <a:t>.</a:t>
            </a:r>
          </a:p>
        </p:txBody>
      </p:sp>
      <p:pic>
        <p:nvPicPr>
          <p:cNvPr id="2" name="Immagine 1">
            <a:extLst>
              <a:ext uri="{FF2B5EF4-FFF2-40B4-BE49-F238E27FC236}">
                <a16:creationId xmlns:a16="http://schemas.microsoft.com/office/drawing/2014/main" id="{9D26D730-4918-6373-F0E9-F7BD30D3845B}"/>
              </a:ext>
            </a:extLst>
          </p:cNvPr>
          <p:cNvPicPr>
            <a:picLocks noChangeAspect="1"/>
          </p:cNvPicPr>
          <p:nvPr userDrawn="1"/>
        </p:nvPicPr>
        <p:blipFill>
          <a:blip r:embed="rId2"/>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3778783390"/>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x" preserve="1">
  <p:cSld name="1_Product - V1">
    <p:bg>
      <p:bgPr>
        <a:solidFill>
          <a:srgbClr val="FFFFFF"/>
        </a:solidFill>
        <a:effectLst/>
      </p:bgPr>
    </p:bg>
    <p:spTree>
      <p:nvGrpSpPr>
        <p:cNvPr id="1" name=""/>
        <p:cNvGrpSpPr/>
        <p:nvPr/>
      </p:nvGrpSpPr>
      <p:grpSpPr>
        <a:xfrm>
          <a:off x="0" y="0"/>
          <a:ext cx="0" cy="0"/>
          <a:chOff x="0" y="0"/>
          <a:chExt cx="0" cy="0"/>
        </a:xfrm>
      </p:grpSpPr>
      <p:sp>
        <p:nvSpPr>
          <p:cNvPr id="41" name="Corpo livello uno…"/>
          <p:cNvSpPr txBox="1">
            <a:spLocks noGrp="1"/>
          </p:cNvSpPr>
          <p:nvPr>
            <p:ph type="body" sz="quarter" idx="1"/>
          </p:nvPr>
        </p:nvSpPr>
        <p:spPr>
          <a:xfrm>
            <a:off x="1036997" y="237330"/>
            <a:ext cx="5233794" cy="198438"/>
          </a:xfrm>
          <a:prstGeom prst="rect">
            <a:avLst/>
          </a:prstGeom>
        </p:spPr>
        <p:txBody>
          <a:bodyPr lIns="71435" tIns="71435" rIns="71435" bIns="71435"/>
          <a:lstStyle>
            <a:lvl1pPr marL="0" indent="0">
              <a:lnSpc>
                <a:spcPct val="100000"/>
              </a:lnSpc>
              <a:spcBef>
                <a:spcPts val="0"/>
              </a:spcBef>
              <a:buSzTx/>
              <a:buNone/>
              <a:defRPr sz="800" cap="all" spc="160">
                <a:solidFill>
                  <a:srgbClr val="5E5E5E"/>
                </a:solidFill>
                <a:latin typeface="Source Sans Pro"/>
                <a:ea typeface="Source Sans Pro"/>
                <a:cs typeface="Source Sans Pro"/>
                <a:sym typeface="Source Sans Pro"/>
              </a:defRPr>
            </a:lvl1pPr>
            <a:lvl2pPr marL="423333" indent="-105833">
              <a:lnSpc>
                <a:spcPct val="100000"/>
              </a:lnSpc>
              <a:spcBef>
                <a:spcPts val="0"/>
              </a:spcBef>
              <a:defRPr sz="800" cap="all" spc="160">
                <a:solidFill>
                  <a:srgbClr val="5E5E5E"/>
                </a:solidFill>
                <a:latin typeface="Source Sans Pro"/>
                <a:ea typeface="Source Sans Pro"/>
                <a:cs typeface="Source Sans Pro"/>
                <a:sym typeface="Source Sans Pro"/>
              </a:defRPr>
            </a:lvl2pPr>
            <a:lvl3pPr marL="740833" indent="-105833">
              <a:lnSpc>
                <a:spcPct val="100000"/>
              </a:lnSpc>
              <a:spcBef>
                <a:spcPts val="0"/>
              </a:spcBef>
              <a:defRPr sz="800" cap="all" spc="160">
                <a:solidFill>
                  <a:srgbClr val="5E5E5E"/>
                </a:solidFill>
                <a:latin typeface="Source Sans Pro"/>
                <a:ea typeface="Source Sans Pro"/>
                <a:cs typeface="Source Sans Pro"/>
                <a:sym typeface="Source Sans Pro"/>
              </a:defRPr>
            </a:lvl3pPr>
            <a:lvl4pPr marL="1058333" indent="-105833">
              <a:lnSpc>
                <a:spcPct val="100000"/>
              </a:lnSpc>
              <a:spcBef>
                <a:spcPts val="0"/>
              </a:spcBef>
              <a:defRPr sz="800" cap="all" spc="160">
                <a:solidFill>
                  <a:srgbClr val="5E5E5E"/>
                </a:solidFill>
                <a:latin typeface="Source Sans Pro"/>
                <a:ea typeface="Source Sans Pro"/>
                <a:cs typeface="Source Sans Pro"/>
                <a:sym typeface="Source Sans Pro"/>
              </a:defRPr>
            </a:lvl4pPr>
            <a:lvl5pPr marL="1375833" indent="-105833">
              <a:lnSpc>
                <a:spcPct val="100000"/>
              </a:lnSpc>
              <a:spcBef>
                <a:spcPts val="0"/>
              </a:spcBef>
              <a:defRPr sz="800" cap="all" spc="160">
                <a:solidFill>
                  <a:srgbClr val="5E5E5E"/>
                </a:solidFill>
                <a:latin typeface="Source Sans Pro"/>
                <a:ea typeface="Source Sans Pro"/>
                <a:cs typeface="Source Sans Pro"/>
                <a:sym typeface="Source Sans Pro"/>
              </a:defRPr>
            </a:lvl5pPr>
          </a:lstStyle>
          <a:p>
            <a:r>
              <a:t>Corpo livello uno</a:t>
            </a:r>
          </a:p>
          <a:p>
            <a:pPr lvl="1"/>
            <a:r>
              <a:t>Corpo livello due</a:t>
            </a:r>
          </a:p>
          <a:p>
            <a:pPr lvl="2"/>
            <a:r>
              <a:t>Corpo livello tre</a:t>
            </a:r>
          </a:p>
          <a:p>
            <a:pPr lvl="3"/>
            <a:r>
              <a:t>Corpo livello quattro</a:t>
            </a:r>
          </a:p>
          <a:p>
            <a:pPr lvl="4"/>
            <a:r>
              <a:t>Corpo livello cinque</a:t>
            </a:r>
          </a:p>
        </p:txBody>
      </p:sp>
      <p:sp>
        <p:nvSpPr>
          <p:cNvPr id="42" name="Fiscal…"/>
          <p:cNvSpPr txBox="1">
            <a:spLocks noGrp="1"/>
          </p:cNvSpPr>
          <p:nvPr>
            <p:ph type="body" sz="quarter" idx="21"/>
          </p:nvPr>
        </p:nvSpPr>
        <p:spPr>
          <a:xfrm>
            <a:off x="1575247" y="1718318"/>
            <a:ext cx="3759361" cy="1134111"/>
          </a:xfrm>
          <a:prstGeom prst="rect">
            <a:avLst/>
          </a:prstGeom>
        </p:spPr>
        <p:txBody>
          <a:bodyPr lIns="0" tIns="0" rIns="0" bIns="0" anchor="b"/>
          <a:lstStyle>
            <a:lvl1pPr marL="0" indent="0">
              <a:lnSpc>
                <a:spcPct val="90000"/>
              </a:lnSpc>
              <a:spcBef>
                <a:spcPts val="0"/>
              </a:spcBef>
              <a:buSzTx/>
              <a:buNone/>
              <a:defRPr sz="7500" spc="300">
                <a:solidFill>
                  <a:srgbClr val="5E5E5E"/>
                </a:solidFill>
                <a:latin typeface="Source Sans Pro Light"/>
                <a:ea typeface="Source Sans Pro Light"/>
                <a:sym typeface="Source Sans Pro Light"/>
              </a:defRPr>
            </a:lvl1pPr>
          </a:lstStyle>
          <a:p>
            <a:pPr marL="0" indent="0">
              <a:lnSpc>
                <a:spcPct val="90000"/>
              </a:lnSpc>
              <a:spcBef>
                <a:spcPts val="0"/>
              </a:spcBef>
              <a:buSzTx/>
              <a:buNone/>
              <a:defRPr sz="7500" spc="300">
                <a:solidFill>
                  <a:srgbClr val="5E5E5E"/>
                </a:solidFill>
                <a:latin typeface="Source Sans Pro Light"/>
                <a:ea typeface="Source Sans Pro Light"/>
                <a:cs typeface="Source Sans Pro Light"/>
                <a:sym typeface="Source Sans Pro Light"/>
              </a:defRPr>
            </a:pPr>
            <a:endParaRPr/>
          </a:p>
        </p:txBody>
      </p:sp>
      <p:sp>
        <p:nvSpPr>
          <p:cNvPr id="43" name="Expertise in 15 fiscal markets worldwide, a wide range of products for any need: from ultra-compact cash registers to telematic fiscal printers."/>
          <p:cNvSpPr txBox="1">
            <a:spLocks noGrp="1"/>
          </p:cNvSpPr>
          <p:nvPr>
            <p:ph type="body" sz="quarter" idx="22"/>
          </p:nvPr>
        </p:nvSpPr>
        <p:spPr>
          <a:xfrm>
            <a:off x="1580926" y="3498207"/>
            <a:ext cx="2887358" cy="1551942"/>
          </a:xfrm>
          <a:prstGeom prst="rect">
            <a:avLst/>
          </a:prstGeom>
        </p:spPr>
        <p:txBody>
          <a:bodyPr lIns="0" tIns="0" rIns="0" bIns="0" anchor="t"/>
          <a:lstStyle>
            <a:lvl1pPr marL="0" indent="0">
              <a:lnSpc>
                <a:spcPct val="140000"/>
              </a:lnSpc>
              <a:spcBef>
                <a:spcPts val="0"/>
              </a:spcBef>
              <a:buSzTx/>
              <a:buNone/>
              <a:defRPr sz="3800">
                <a:solidFill>
                  <a:srgbClr val="5E5E5E"/>
                </a:solidFill>
                <a:latin typeface="Source Sans Pro Light"/>
                <a:ea typeface="Source Sans Pro Light"/>
                <a:sym typeface="Source Sans Pro Light"/>
              </a:defRPr>
            </a:lvl1pPr>
          </a:lstStyle>
          <a:p>
            <a:pPr marL="0" indent="0">
              <a:lnSpc>
                <a:spcPct val="140000"/>
              </a:lnSpc>
              <a:spcBef>
                <a:spcPts val="0"/>
              </a:spcBef>
              <a:buSzTx/>
              <a:buNone/>
              <a:defRPr sz="3800">
                <a:solidFill>
                  <a:srgbClr val="5E5E5E"/>
                </a:solidFill>
                <a:latin typeface="Source Sans Pro Light"/>
                <a:ea typeface="Source Sans Pro Light"/>
                <a:cs typeface="Source Sans Pro Light"/>
                <a:sym typeface="Source Sans Pro Light"/>
              </a:defRPr>
            </a:pPr>
            <a:endParaRPr/>
          </a:p>
        </p:txBody>
      </p:sp>
      <p:pic>
        <p:nvPicPr>
          <p:cNvPr id="2" name="Immagine 1">
            <a:extLst>
              <a:ext uri="{FF2B5EF4-FFF2-40B4-BE49-F238E27FC236}">
                <a16:creationId xmlns:a16="http://schemas.microsoft.com/office/drawing/2014/main" id="{3A6C2E4A-FBD6-9C71-9A13-1FBA2F252286}"/>
              </a:ext>
            </a:extLst>
          </p:cNvPr>
          <p:cNvPicPr>
            <a:picLocks noChangeAspect="1"/>
          </p:cNvPicPr>
          <p:nvPr userDrawn="1"/>
        </p:nvPicPr>
        <p:blipFill>
          <a:blip r:embed="rId2"/>
          <a:stretch>
            <a:fillRect/>
          </a:stretch>
        </p:blipFill>
        <p:spPr>
          <a:xfrm>
            <a:off x="337871" y="262024"/>
            <a:ext cx="957169" cy="158531"/>
          </a:xfrm>
          <a:prstGeom prst="rect">
            <a:avLst/>
          </a:prstGeom>
        </p:spPr>
      </p:pic>
    </p:spTree>
    <p:extLst>
      <p:ext uri="{BB962C8B-B14F-4D97-AF65-F5344CB8AC3E}">
        <p14:creationId xmlns:p14="http://schemas.microsoft.com/office/powerpoint/2010/main" val="746618895"/>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6719" y="703036"/>
            <a:ext cx="11358563" cy="714106"/>
          </a:xfrm>
        </p:spPr>
        <p:txBody>
          <a:bodyPr lIns="0" tIns="0" rIns="0" bIns="0"/>
          <a:lstStyle>
            <a:lvl1pPr>
              <a:defRPr sz="4641" b="0" i="0" u="sng">
                <a:solidFill>
                  <a:srgbClr val="929292"/>
                </a:solidFill>
                <a:latin typeface="Source Sans Pro"/>
                <a:cs typeface="Source Sans Pr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2/11/2026</a:t>
            </a:fld>
            <a:endParaRPr lang="en-US"/>
          </a:p>
        </p:txBody>
      </p:sp>
      <p:sp>
        <p:nvSpPr>
          <p:cNvPr id="5" name="Holder 5"/>
          <p:cNvSpPr>
            <a:spLocks noGrp="1"/>
          </p:cNvSpPr>
          <p:nvPr>
            <p:ph type="sldNum" sz="quarter" idx="7"/>
          </p:nvPr>
        </p:nvSpPr>
        <p:spPr>
          <a:xfrm>
            <a:off x="4101420" y="3091613"/>
            <a:ext cx="267381" cy="173124"/>
          </a:xfrm>
        </p:spPr>
        <p:txBody>
          <a:bodyPr lIns="0" tIns="0" rIns="0" bIns="0"/>
          <a:lstStyle>
            <a:lvl1pPr>
              <a:defRPr sz="1125" b="0" i="0">
                <a:solidFill>
                  <a:srgbClr val="929292"/>
                </a:solidFill>
                <a:latin typeface="Source Sans Pro"/>
                <a:cs typeface="Source Sans Pro"/>
              </a:defRPr>
            </a:lvl1pPr>
          </a:lstStyle>
          <a:p>
            <a:pPr marL="35719">
              <a:spcBef>
                <a:spcPts val="94"/>
              </a:spcBef>
            </a:pPr>
            <a:fld id="{81D60167-4931-47E6-BA6A-407CBD079E47}" type="slidenum">
              <a:rPr lang="it-IT" smtClean="0"/>
              <a:pPr marL="35719">
                <a:spcBef>
                  <a:spcPts val="94"/>
                </a:spcBef>
              </a:pPr>
              <a:t>‹N›</a:t>
            </a:fld>
            <a:endParaRPr lang="it-IT"/>
          </a:p>
        </p:txBody>
      </p:sp>
    </p:spTree>
    <p:extLst>
      <p:ext uri="{BB962C8B-B14F-4D97-AF65-F5344CB8AC3E}">
        <p14:creationId xmlns:p14="http://schemas.microsoft.com/office/powerpoint/2010/main" val="8139092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2_Product - V1">
    <p:spTree>
      <p:nvGrpSpPr>
        <p:cNvPr id="1" name=""/>
        <p:cNvGrpSpPr/>
        <p:nvPr/>
      </p:nvGrpSpPr>
      <p:grpSpPr>
        <a:xfrm>
          <a:off x="0" y="0"/>
          <a:ext cx="0" cy="0"/>
          <a:chOff x="0" y="0"/>
          <a:chExt cx="0" cy="0"/>
        </a:xfrm>
      </p:grpSpPr>
      <p:sp>
        <p:nvSpPr>
          <p:cNvPr id="380" name="Fiscal…"/>
          <p:cNvSpPr txBox="1">
            <a:spLocks noGrp="1"/>
          </p:cNvSpPr>
          <p:nvPr>
            <p:ph type="body" sz="quarter" idx="21"/>
          </p:nvPr>
        </p:nvSpPr>
        <p:spPr>
          <a:xfrm>
            <a:off x="1575246" y="1718317"/>
            <a:ext cx="3759363" cy="1134111"/>
          </a:xfrm>
          <a:prstGeom prst="rect">
            <a:avLst/>
          </a:prstGeom>
        </p:spPr>
        <p:txBody>
          <a:bodyPr lIns="0" tIns="0" rIns="0" bIns="0" anchor="b"/>
          <a:lstStyle/>
          <a:p>
            <a:endParaRPr/>
          </a:p>
        </p:txBody>
      </p:sp>
      <p:sp>
        <p:nvSpPr>
          <p:cNvPr id="381" name="Expertise in 15 fiscal markets worldwide, a wide range of products for any need: from ultra-compact cash registers to telematic fiscal printers."/>
          <p:cNvSpPr txBox="1">
            <a:spLocks noGrp="1"/>
          </p:cNvSpPr>
          <p:nvPr>
            <p:ph type="body" sz="quarter" idx="22"/>
          </p:nvPr>
        </p:nvSpPr>
        <p:spPr>
          <a:xfrm>
            <a:off x="1580925" y="3498207"/>
            <a:ext cx="2887360" cy="1551942"/>
          </a:xfrm>
          <a:prstGeom prst="rect">
            <a:avLst/>
          </a:prstGeom>
        </p:spPr>
        <p:txBody>
          <a:bodyPr lIns="0" tIns="0" rIns="0" bIns="0"/>
          <a:lstStyle/>
          <a:p>
            <a:endParaRPr/>
          </a:p>
        </p:txBody>
      </p:sp>
      <p:pic>
        <p:nvPicPr>
          <p:cNvPr id="4" name="Custom-K55.pdf" descr="Custom-K55.pdf">
            <a:extLst>
              <a:ext uri="{FF2B5EF4-FFF2-40B4-BE49-F238E27FC236}">
                <a16:creationId xmlns:a16="http://schemas.microsoft.com/office/drawing/2014/main" id="{7EE13BD9-4A95-57EA-D504-5CE3F4D186A2}"/>
              </a:ext>
            </a:extLst>
          </p:cNvPr>
          <p:cNvPicPr>
            <a:picLocks noChangeAspect="1"/>
          </p:cNvPicPr>
          <p:nvPr userDrawn="1"/>
        </p:nvPicPr>
        <p:blipFill>
          <a:blip r:embed="rId2"/>
          <a:stretch>
            <a:fillRect/>
          </a:stretch>
        </p:blipFill>
        <p:spPr>
          <a:xfrm>
            <a:off x="340425" y="277935"/>
            <a:ext cx="597849" cy="104530"/>
          </a:xfrm>
          <a:prstGeom prst="rect">
            <a:avLst/>
          </a:prstGeom>
          <a:ln w="12700">
            <a:miter lim="400000"/>
          </a:ln>
        </p:spPr>
      </p:pic>
      <p:sp>
        <p:nvSpPr>
          <p:cNvPr id="5" name="THE WIDEST PRODUCTs PORTFOLIO | ticketing printers">
            <a:extLst>
              <a:ext uri="{FF2B5EF4-FFF2-40B4-BE49-F238E27FC236}">
                <a16:creationId xmlns:a16="http://schemas.microsoft.com/office/drawing/2014/main" id="{49E3EDBF-7FAD-AEBA-CA30-E545E875B4F7}"/>
              </a:ext>
            </a:extLst>
          </p:cNvPr>
          <p:cNvSpPr txBox="1"/>
          <p:nvPr userDrawn="1"/>
        </p:nvSpPr>
        <p:spPr>
          <a:xfrm>
            <a:off x="1033139" y="261033"/>
            <a:ext cx="5233794" cy="1952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a:lnSpc>
                <a:spcPct val="100000"/>
              </a:lnSpc>
              <a:spcBef>
                <a:spcPts val="0"/>
              </a:spcBef>
              <a:defRPr sz="1600" cap="all" spc="320">
                <a:solidFill>
                  <a:srgbClr val="5E5E5E"/>
                </a:solidFill>
                <a:latin typeface="Source Sans Pro Light"/>
                <a:ea typeface="Source Sans Pro Light"/>
                <a:cs typeface="Source Sans Pro Light"/>
                <a:sym typeface="Source Sans Pro Light"/>
              </a:defRPr>
            </a:lvl1pPr>
          </a:lstStyle>
          <a:p>
            <a:r>
              <a:rPr lang="it-IT" sz="800">
                <a:solidFill>
                  <a:srgbClr val="000000"/>
                </a:solidFill>
              </a:rPr>
              <a:t>Company </a:t>
            </a:r>
            <a:r>
              <a:rPr lang="it-IT" sz="800" err="1">
                <a:solidFill>
                  <a:srgbClr val="000000"/>
                </a:solidFill>
              </a:rPr>
              <a:t>presentation</a:t>
            </a:r>
            <a:endParaRPr sz="800">
              <a:solidFill>
                <a:srgbClr val="000000"/>
              </a:solidFill>
            </a:endParaRPr>
          </a:p>
        </p:txBody>
      </p:sp>
      <p:sp>
        <p:nvSpPr>
          <p:cNvPr id="6" name="object 2">
            <a:extLst>
              <a:ext uri="{FF2B5EF4-FFF2-40B4-BE49-F238E27FC236}">
                <a16:creationId xmlns:a16="http://schemas.microsoft.com/office/drawing/2014/main" id="{3457327D-AA42-F94D-6152-6A1C92C97A81}"/>
              </a:ext>
            </a:extLst>
          </p:cNvPr>
          <p:cNvSpPr txBox="1"/>
          <p:nvPr userDrawn="1"/>
        </p:nvSpPr>
        <p:spPr>
          <a:xfrm>
            <a:off x="10669898" y="283894"/>
            <a:ext cx="119190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23495" defTabSz="2607654">
              <a:defRPr sz="1800" spc="360">
                <a:solidFill>
                  <a:srgbClr val="5E5E5E"/>
                </a:solidFill>
                <a:latin typeface="Source Sans Pro Light"/>
                <a:ea typeface="Source Sans Pro Light"/>
                <a:cs typeface="Source Sans Pro Light"/>
                <a:sym typeface="Source Sans Pro Light"/>
              </a:defRPr>
            </a:lvl1pPr>
          </a:lstStyle>
          <a:p>
            <a:r>
              <a:rPr sz="900">
                <a:solidFill>
                  <a:srgbClr val="000000"/>
                </a:solidFill>
              </a:rPr>
              <a:t>CONFIDENTIAL</a:t>
            </a:r>
          </a:p>
        </p:txBody>
      </p:sp>
    </p:spTree>
    <p:extLst>
      <p:ext uri="{BB962C8B-B14F-4D97-AF65-F5344CB8AC3E}">
        <p14:creationId xmlns:p14="http://schemas.microsoft.com/office/powerpoint/2010/main" val="310349082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 - pagina base 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ttangolo 11">
            <a:extLst>
              <a:ext uri="{FF2B5EF4-FFF2-40B4-BE49-F238E27FC236}">
                <a16:creationId xmlns:a16="http://schemas.microsoft.com/office/drawing/2014/main" id="{D46E0BD1-1C78-0F80-3430-A1ABFE223826}"/>
              </a:ext>
            </a:extLst>
          </p:cNvPr>
          <p:cNvSpPr/>
          <p:nvPr userDrawn="1"/>
        </p:nvSpPr>
        <p:spPr>
          <a:xfrm>
            <a:off x="-1" y="-2"/>
            <a:ext cx="12192002" cy="7408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400">
              <a:solidFill>
                <a:schemeClr val="bg1"/>
              </a:solidFill>
            </a:endParaRPr>
          </a:p>
        </p:txBody>
      </p:sp>
      <p:pic>
        <p:nvPicPr>
          <p:cNvPr id="7" name="Immagine 6">
            <a:extLst>
              <a:ext uri="{FF2B5EF4-FFF2-40B4-BE49-F238E27FC236}">
                <a16:creationId xmlns:a16="http://schemas.microsoft.com/office/drawing/2014/main" id="{71E63D1A-F1AC-3151-A2E3-C5ACFA6ACE16}"/>
              </a:ext>
            </a:extLst>
          </p:cNvPr>
          <p:cNvPicPr>
            <a:picLocks noChangeAspect="1"/>
          </p:cNvPicPr>
          <p:nvPr userDrawn="1"/>
        </p:nvPicPr>
        <p:blipFill>
          <a:blip r:embed="rId3"/>
          <a:stretch>
            <a:fillRect/>
          </a:stretch>
        </p:blipFill>
        <p:spPr>
          <a:xfrm>
            <a:off x="337498" y="211839"/>
            <a:ext cx="1205027" cy="290296"/>
          </a:xfrm>
          <a:prstGeom prst="rect">
            <a:avLst/>
          </a:prstGeom>
        </p:spPr>
      </p:pic>
      <p:sp>
        <p:nvSpPr>
          <p:cNvPr id="13" name="CasellaDiTesto 12">
            <a:extLst>
              <a:ext uri="{FF2B5EF4-FFF2-40B4-BE49-F238E27FC236}">
                <a16:creationId xmlns:a16="http://schemas.microsoft.com/office/drawing/2014/main" id="{468BD1AE-AC60-E619-7CA0-C78E1C9EC1F8}"/>
              </a:ext>
            </a:extLst>
          </p:cNvPr>
          <p:cNvSpPr txBox="1"/>
          <p:nvPr userDrawn="1"/>
        </p:nvSpPr>
        <p:spPr>
          <a:xfrm>
            <a:off x="10700801" y="234788"/>
            <a:ext cx="1212298" cy="236090"/>
          </a:xfrm>
          <a:prstGeom prst="rect">
            <a:avLst/>
          </a:prstGeom>
          <a:noFill/>
        </p:spPr>
        <p:txBody>
          <a:bodyPr wrap="square" rtlCol="0">
            <a:spAutoFit/>
          </a:bodyPr>
          <a:lstStyle/>
          <a:p>
            <a:r>
              <a:rPr lang="it-IT" sz="934" spc="134" baseline="0">
                <a:solidFill>
                  <a:srgbClr val="1B3640"/>
                </a:solidFill>
                <a:latin typeface="Titillium Web" pitchFamily="2" charset="77"/>
              </a:rPr>
              <a:t>CONFIDENTIAL</a:t>
            </a:r>
          </a:p>
        </p:txBody>
      </p:sp>
    </p:spTree>
    <p:extLst>
      <p:ext uri="{BB962C8B-B14F-4D97-AF65-F5344CB8AC3E}">
        <p14:creationId xmlns:p14="http://schemas.microsoft.com/office/powerpoint/2010/main" val="5045968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 Nuovo Capitoloi">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F7D049D1-F67A-1B20-B34E-2DE76BEDCEF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CasellaDiTesto 3">
            <a:extLst>
              <a:ext uri="{FF2B5EF4-FFF2-40B4-BE49-F238E27FC236}">
                <a16:creationId xmlns:a16="http://schemas.microsoft.com/office/drawing/2014/main" id="{284C7A4E-9372-D979-3AD7-1AB76F8CE358}"/>
              </a:ext>
            </a:extLst>
          </p:cNvPr>
          <p:cNvSpPr txBox="1"/>
          <p:nvPr userDrawn="1"/>
        </p:nvSpPr>
        <p:spPr>
          <a:xfrm>
            <a:off x="10700801" y="234788"/>
            <a:ext cx="1212298" cy="236090"/>
          </a:xfrm>
          <a:prstGeom prst="rect">
            <a:avLst/>
          </a:prstGeom>
          <a:noFill/>
        </p:spPr>
        <p:txBody>
          <a:bodyPr wrap="square" rtlCol="0">
            <a:spAutoFit/>
          </a:bodyPr>
          <a:lstStyle/>
          <a:p>
            <a:r>
              <a:rPr lang="it-IT" sz="934" spc="134" baseline="0">
                <a:solidFill>
                  <a:schemeClr val="bg1"/>
                </a:solidFill>
                <a:latin typeface="Titillium Web" pitchFamily="2" charset="77"/>
              </a:rPr>
              <a:t>CONFIDENTIAL</a:t>
            </a:r>
          </a:p>
        </p:txBody>
      </p:sp>
      <p:pic>
        <p:nvPicPr>
          <p:cNvPr id="5" name="Immagine 4">
            <a:extLst>
              <a:ext uri="{FF2B5EF4-FFF2-40B4-BE49-F238E27FC236}">
                <a16:creationId xmlns:a16="http://schemas.microsoft.com/office/drawing/2014/main" id="{EBC741DA-D826-71C0-6BFC-62C33846D308}"/>
              </a:ext>
            </a:extLst>
          </p:cNvPr>
          <p:cNvPicPr>
            <a:picLocks noChangeAspect="1"/>
          </p:cNvPicPr>
          <p:nvPr userDrawn="1"/>
        </p:nvPicPr>
        <p:blipFill>
          <a:blip r:embed="rId3"/>
          <a:srcRect/>
          <a:stretch/>
        </p:blipFill>
        <p:spPr>
          <a:xfrm>
            <a:off x="337498" y="211840"/>
            <a:ext cx="1205027" cy="290295"/>
          </a:xfrm>
          <a:prstGeom prst="rect">
            <a:avLst/>
          </a:prstGeom>
        </p:spPr>
      </p:pic>
      <p:sp>
        <p:nvSpPr>
          <p:cNvPr id="9" name="Segnaposto testo 8">
            <a:extLst>
              <a:ext uri="{FF2B5EF4-FFF2-40B4-BE49-F238E27FC236}">
                <a16:creationId xmlns:a16="http://schemas.microsoft.com/office/drawing/2014/main" id="{9636CB80-DE0C-D874-9A98-E4A65FCD450B}"/>
              </a:ext>
            </a:extLst>
          </p:cNvPr>
          <p:cNvSpPr>
            <a:spLocks noGrp="1"/>
          </p:cNvSpPr>
          <p:nvPr>
            <p:ph type="body" sz="quarter" idx="10" hasCustomPrompt="1"/>
          </p:nvPr>
        </p:nvSpPr>
        <p:spPr>
          <a:xfrm>
            <a:off x="4083050" y="3014134"/>
            <a:ext cx="4025900" cy="829734"/>
          </a:xfrm>
          <a:prstGeom prst="rect">
            <a:avLst/>
          </a:prstGeom>
        </p:spPr>
        <p:txBody>
          <a:bodyPr/>
          <a:lstStyle>
            <a:lvl1pPr marL="0" indent="0" algn="ctr">
              <a:buNone/>
              <a:defRPr sz="4667">
                <a:solidFill>
                  <a:schemeClr val="bg1"/>
                </a:solidFill>
                <a:latin typeface="Titillium Web" pitchFamily="2" charset="77"/>
              </a:defRPr>
            </a:lvl1pPr>
          </a:lstStyle>
          <a:p>
            <a:pPr lvl="0"/>
            <a:r>
              <a:rPr lang="it-IT"/>
              <a:t>Titolo</a:t>
            </a:r>
          </a:p>
        </p:txBody>
      </p:sp>
    </p:spTree>
    <p:extLst>
      <p:ext uri="{BB962C8B-B14F-4D97-AF65-F5344CB8AC3E}">
        <p14:creationId xmlns:p14="http://schemas.microsoft.com/office/powerpoint/2010/main" val="2993312826"/>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1_Grafico">
    <p:spTree>
      <p:nvGrpSpPr>
        <p:cNvPr id="1" name=""/>
        <p:cNvGrpSpPr/>
        <p:nvPr/>
      </p:nvGrpSpPr>
      <p:grpSpPr>
        <a:xfrm>
          <a:off x="0" y="0"/>
          <a:ext cx="0" cy="0"/>
          <a:chOff x="0" y="0"/>
          <a:chExt cx="0" cy="0"/>
        </a:xfrm>
      </p:grpSpPr>
      <p:pic>
        <p:nvPicPr>
          <p:cNvPr id="4" name="Custom-K55.pdf" descr="Custom-K55.pdf">
            <a:extLst>
              <a:ext uri="{FF2B5EF4-FFF2-40B4-BE49-F238E27FC236}">
                <a16:creationId xmlns:a16="http://schemas.microsoft.com/office/drawing/2014/main" id="{2C3DC434-DB9C-5264-9FE2-7323A3A62FFE}"/>
              </a:ext>
            </a:extLst>
          </p:cNvPr>
          <p:cNvPicPr>
            <a:picLocks noChangeAspect="1"/>
          </p:cNvPicPr>
          <p:nvPr userDrawn="1"/>
        </p:nvPicPr>
        <p:blipFill>
          <a:blip r:embed="rId2"/>
          <a:stretch>
            <a:fillRect/>
          </a:stretch>
        </p:blipFill>
        <p:spPr>
          <a:xfrm>
            <a:off x="340425" y="277935"/>
            <a:ext cx="597849" cy="104530"/>
          </a:xfrm>
          <a:prstGeom prst="rect">
            <a:avLst/>
          </a:prstGeom>
          <a:ln w="12700">
            <a:miter lim="400000"/>
          </a:ln>
        </p:spPr>
      </p:pic>
      <p:sp>
        <p:nvSpPr>
          <p:cNvPr id="5" name="THE WIDEST PRODUCTs PORTFOLIO | ticketing printers">
            <a:extLst>
              <a:ext uri="{FF2B5EF4-FFF2-40B4-BE49-F238E27FC236}">
                <a16:creationId xmlns:a16="http://schemas.microsoft.com/office/drawing/2014/main" id="{46A6ECD4-77C9-38C4-DD60-2617B2CE8B80}"/>
              </a:ext>
            </a:extLst>
          </p:cNvPr>
          <p:cNvSpPr txBox="1"/>
          <p:nvPr userDrawn="1"/>
        </p:nvSpPr>
        <p:spPr>
          <a:xfrm>
            <a:off x="1033139" y="261033"/>
            <a:ext cx="5233794" cy="1952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a:lnSpc>
                <a:spcPct val="100000"/>
              </a:lnSpc>
              <a:spcBef>
                <a:spcPts val="0"/>
              </a:spcBef>
              <a:defRPr sz="1600" cap="all" spc="320">
                <a:solidFill>
                  <a:srgbClr val="5E5E5E"/>
                </a:solidFill>
                <a:latin typeface="Source Sans Pro Light"/>
                <a:ea typeface="Source Sans Pro Light"/>
                <a:cs typeface="Source Sans Pro Light"/>
                <a:sym typeface="Source Sans Pro Light"/>
              </a:defRPr>
            </a:lvl1pPr>
          </a:lstStyle>
          <a:p>
            <a:r>
              <a:rPr lang="it-IT" sz="800">
                <a:solidFill>
                  <a:srgbClr val="000000"/>
                </a:solidFill>
              </a:rPr>
              <a:t>Company </a:t>
            </a:r>
            <a:r>
              <a:rPr lang="it-IT" sz="800" err="1">
                <a:solidFill>
                  <a:srgbClr val="000000"/>
                </a:solidFill>
              </a:rPr>
              <a:t>presentation</a:t>
            </a:r>
            <a:endParaRPr sz="800">
              <a:solidFill>
                <a:srgbClr val="000000"/>
              </a:solidFill>
            </a:endParaRPr>
          </a:p>
        </p:txBody>
      </p:sp>
      <p:sp>
        <p:nvSpPr>
          <p:cNvPr id="6" name="object 2">
            <a:extLst>
              <a:ext uri="{FF2B5EF4-FFF2-40B4-BE49-F238E27FC236}">
                <a16:creationId xmlns:a16="http://schemas.microsoft.com/office/drawing/2014/main" id="{647AC7D8-9BAF-D020-CA00-6E73C6A0B3AA}"/>
              </a:ext>
            </a:extLst>
          </p:cNvPr>
          <p:cNvSpPr txBox="1"/>
          <p:nvPr userDrawn="1"/>
        </p:nvSpPr>
        <p:spPr>
          <a:xfrm>
            <a:off x="10669898" y="283894"/>
            <a:ext cx="119190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23495" defTabSz="2607654">
              <a:defRPr sz="1800" spc="360">
                <a:solidFill>
                  <a:srgbClr val="5E5E5E"/>
                </a:solidFill>
                <a:latin typeface="Source Sans Pro Light"/>
                <a:ea typeface="Source Sans Pro Light"/>
                <a:cs typeface="Source Sans Pro Light"/>
                <a:sym typeface="Source Sans Pro Light"/>
              </a:defRPr>
            </a:lvl1pPr>
          </a:lstStyle>
          <a:p>
            <a:r>
              <a:rPr sz="900">
                <a:solidFill>
                  <a:srgbClr val="000000"/>
                </a:solidFill>
              </a:rPr>
              <a:t>CONFIDENTIAL</a:t>
            </a:r>
          </a:p>
        </p:txBody>
      </p:sp>
    </p:spTree>
    <p:extLst>
      <p:ext uri="{BB962C8B-B14F-4D97-AF65-F5344CB8AC3E}">
        <p14:creationId xmlns:p14="http://schemas.microsoft.com/office/powerpoint/2010/main" val="212189039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1.emf"/><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image" Target="../media/image1.emf"/><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theme" Target="../theme/theme4.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225BB8C-37FA-819D-B8AF-4E60E2A91D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D400069-F139-5BBE-00F0-1E38526493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13BE562-E5E9-FA1A-990A-65C5EDDCC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584045-FEF6-4507-8220-3C10321C4CC1}" type="datetimeFigureOut">
              <a:rPr lang="it-IT" smtClean="0"/>
              <a:t>11/02/2026</a:t>
            </a:fld>
            <a:endParaRPr lang="it-IT"/>
          </a:p>
        </p:txBody>
      </p:sp>
      <p:sp>
        <p:nvSpPr>
          <p:cNvPr id="5" name="Segnaposto piè di pagina 4">
            <a:extLst>
              <a:ext uri="{FF2B5EF4-FFF2-40B4-BE49-F238E27FC236}">
                <a16:creationId xmlns:a16="http://schemas.microsoft.com/office/drawing/2014/main" id="{9D2A4958-1012-0BE6-5D3B-E1701020CE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51073266-6E7E-37A5-F4FF-B640398D4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3EBCBF-76FB-49AA-B11D-2A8AE301027E}" type="slidenum">
              <a:rPr lang="it-IT" smtClean="0"/>
              <a:t>‹N›</a:t>
            </a:fld>
            <a:endParaRPr lang="it-IT"/>
          </a:p>
        </p:txBody>
      </p:sp>
    </p:spTree>
    <p:extLst>
      <p:ext uri="{BB962C8B-B14F-4D97-AF65-F5344CB8AC3E}">
        <p14:creationId xmlns:p14="http://schemas.microsoft.com/office/powerpoint/2010/main" val="3950925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itolo Testo"/>
          <p:cNvSpPr txBox="1">
            <a:spLocks noGrp="1"/>
          </p:cNvSpPr>
          <p:nvPr>
            <p:ph type="title"/>
          </p:nvPr>
        </p:nvSpPr>
        <p:spPr>
          <a:xfrm>
            <a:off x="1826683" y="979211"/>
            <a:ext cx="9753601" cy="1249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Titolo Testo</a:t>
            </a:r>
          </a:p>
        </p:txBody>
      </p:sp>
      <p:sp>
        <p:nvSpPr>
          <p:cNvPr id="5" name="Corpo livello uno…"/>
          <p:cNvSpPr txBox="1">
            <a:spLocks noGrp="1"/>
          </p:cNvSpPr>
          <p:nvPr>
            <p:ph type="body" idx="1"/>
          </p:nvPr>
        </p:nvSpPr>
        <p:spPr>
          <a:xfrm>
            <a:off x="6805083" y="2229126"/>
            <a:ext cx="4775201" cy="43809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6" name="Numero diapositiva"/>
          <p:cNvSpPr txBox="1">
            <a:spLocks noGrp="1"/>
          </p:cNvSpPr>
          <p:nvPr>
            <p:ph type="sldNum" sz="quarter" idx="2"/>
          </p:nvPr>
        </p:nvSpPr>
        <p:spPr>
          <a:xfrm>
            <a:off x="8390713" y="6238050"/>
            <a:ext cx="346887" cy="236600"/>
          </a:xfrm>
          <a:prstGeom prst="rect">
            <a:avLst/>
          </a:prstGeom>
          <a:ln w="12700">
            <a:miter lim="400000"/>
          </a:ln>
        </p:spPr>
        <p:txBody>
          <a:bodyPr wrap="square" lIns="71436" tIns="71436" rIns="71436" bIns="71436" anchor="ctr">
            <a:spAutoFit/>
          </a:bodyPr>
          <a:lstStyle>
            <a:lvl1pPr algn="r">
              <a:lnSpc>
                <a:spcPct val="100000"/>
              </a:lnSpc>
              <a:spcBef>
                <a:spcPts val="0"/>
              </a:spcBef>
              <a:defRPr sz="800" b="1" cap="all" spc="160">
                <a:solidFill>
                  <a:srgbClr val="212121">
                    <a:alpha val="22050"/>
                  </a:srgbClr>
                </a:solidFill>
              </a:defRPr>
            </a:lvl1pPr>
          </a:lstStyle>
          <a:p>
            <a:fld id="{86CB4B4D-7CA3-9044-876B-883B54F8677D}" type="slidenum">
              <a:rPr/>
              <a:t>‹N›</a:t>
            </a:fld>
            <a:endParaRPr/>
          </a:p>
        </p:txBody>
      </p:sp>
      <p:pic>
        <p:nvPicPr>
          <p:cNvPr id="7" name="Immagine 6">
            <a:extLst>
              <a:ext uri="{FF2B5EF4-FFF2-40B4-BE49-F238E27FC236}">
                <a16:creationId xmlns:a16="http://schemas.microsoft.com/office/drawing/2014/main" id="{D336E302-215D-3D84-A9DB-10D23F95A504}"/>
              </a:ext>
            </a:extLst>
          </p:cNvPr>
          <p:cNvPicPr>
            <a:picLocks noChangeAspect="1"/>
          </p:cNvPicPr>
          <p:nvPr userDrawn="1"/>
        </p:nvPicPr>
        <p:blipFill>
          <a:blip r:embed="rId25"/>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1581499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97" r:id="rId23"/>
  </p:sldLayoutIdLst>
  <p:transition spd="med"/>
  <p:txStyles>
    <p:titleStyle>
      <a:lvl1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1pPr>
      <a:lvl2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2pPr>
      <a:lvl3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3pPr>
      <a:lvl4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4pPr>
      <a:lvl5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5pPr>
      <a:lvl6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6pPr>
      <a:lvl7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7pPr>
      <a:lvl8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8pPr>
      <a:lvl9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9pPr>
    </p:titleStyle>
    <p:bodyStyle>
      <a:lvl1pPr marL="16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1pPr>
      <a:lvl2pPr marL="482865" marR="0" indent="-165364"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2pPr>
      <a:lvl3pPr marL="800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3pPr>
      <a:lvl4pPr marL="1117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4pPr>
      <a:lvl5pPr marL="143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5pPr>
      <a:lvl6pPr marL="1752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6pPr>
      <a:lvl7pPr marL="2070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7pPr>
      <a:lvl8pPr marL="2387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8pPr>
      <a:lvl9pPr marL="270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9pPr>
    </p:bodyStyle>
    <p:otherStyle>
      <a:lvl1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1pPr>
      <a:lvl2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2pPr>
      <a:lvl3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3pPr>
      <a:lvl4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4pPr>
      <a:lvl5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5pPr>
      <a:lvl6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6pPr>
      <a:lvl7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7pPr>
      <a:lvl8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8pPr>
      <a:lvl9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guide id="3" orient="horz" pos="487" userDrawn="1">
          <p15:clr>
            <a:srgbClr val="F26B43"/>
          </p15:clr>
        </p15:guide>
        <p15:guide id="4" pos="40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4A8E5F-40E5-4553-9F3C-699F1A5B8145}" type="datetimeFigureOut">
              <a:rPr lang="de-DE" smtClean="0"/>
              <a:t>11.02.2026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293536589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itolo Testo"/>
          <p:cNvSpPr txBox="1">
            <a:spLocks noGrp="1"/>
          </p:cNvSpPr>
          <p:nvPr>
            <p:ph type="title"/>
          </p:nvPr>
        </p:nvSpPr>
        <p:spPr>
          <a:xfrm>
            <a:off x="1826683" y="979211"/>
            <a:ext cx="9753601" cy="1249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Titolo Testo</a:t>
            </a:r>
          </a:p>
        </p:txBody>
      </p:sp>
      <p:sp>
        <p:nvSpPr>
          <p:cNvPr id="5" name="Corpo livello uno…"/>
          <p:cNvSpPr txBox="1">
            <a:spLocks noGrp="1"/>
          </p:cNvSpPr>
          <p:nvPr>
            <p:ph type="body" idx="1"/>
          </p:nvPr>
        </p:nvSpPr>
        <p:spPr>
          <a:xfrm>
            <a:off x="6805083" y="2229126"/>
            <a:ext cx="4775201" cy="43809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6" name="Numero diapositiva"/>
          <p:cNvSpPr txBox="1">
            <a:spLocks noGrp="1"/>
          </p:cNvSpPr>
          <p:nvPr>
            <p:ph type="sldNum" sz="quarter" idx="2"/>
          </p:nvPr>
        </p:nvSpPr>
        <p:spPr>
          <a:xfrm>
            <a:off x="8390713" y="6222661"/>
            <a:ext cx="346887" cy="267378"/>
          </a:xfrm>
          <a:prstGeom prst="rect">
            <a:avLst/>
          </a:prstGeom>
          <a:ln w="12700">
            <a:miter lim="400000"/>
          </a:ln>
        </p:spPr>
        <p:txBody>
          <a:bodyPr wrap="none" lIns="71436" tIns="71436" rIns="71436" bIns="71436" anchor="ctr">
            <a:spAutoFit/>
          </a:bodyPr>
          <a:lstStyle>
            <a:lvl1pPr algn="r">
              <a:lnSpc>
                <a:spcPct val="100000"/>
              </a:lnSpc>
              <a:spcBef>
                <a:spcPts val="0"/>
              </a:spcBef>
              <a:defRPr sz="800" b="1" cap="all" spc="160">
                <a:solidFill>
                  <a:srgbClr val="212121">
                    <a:alpha val="22050"/>
                  </a:srgbClr>
                </a:solidFill>
              </a:defRPr>
            </a:lvl1pPr>
          </a:lstStyle>
          <a:p>
            <a:fld id="{86CB4B4D-7CA3-9044-876B-883B54F8677D}" type="slidenum">
              <a:rPr/>
              <a:t>‹N›</a:t>
            </a:fld>
            <a:endParaRPr/>
          </a:p>
        </p:txBody>
      </p:sp>
      <p:pic>
        <p:nvPicPr>
          <p:cNvPr id="7" name="Immagine 6">
            <a:extLst>
              <a:ext uri="{FF2B5EF4-FFF2-40B4-BE49-F238E27FC236}">
                <a16:creationId xmlns:a16="http://schemas.microsoft.com/office/drawing/2014/main" id="{D336E302-215D-3D84-A9DB-10D23F95A504}"/>
              </a:ext>
            </a:extLst>
          </p:cNvPr>
          <p:cNvPicPr>
            <a:picLocks noChangeAspect="1"/>
          </p:cNvPicPr>
          <p:nvPr userDrawn="1"/>
        </p:nvPicPr>
        <p:blipFill>
          <a:blip r:embed="rId24"/>
          <a:stretch>
            <a:fillRect/>
          </a:stretch>
        </p:blipFill>
        <p:spPr>
          <a:xfrm>
            <a:off x="3798803" y="3058466"/>
            <a:ext cx="4594394" cy="760947"/>
          </a:xfrm>
          <a:prstGeom prst="rect">
            <a:avLst/>
          </a:prstGeom>
        </p:spPr>
      </p:pic>
    </p:spTree>
    <p:extLst>
      <p:ext uri="{BB962C8B-B14F-4D97-AF65-F5344CB8AC3E}">
        <p14:creationId xmlns:p14="http://schemas.microsoft.com/office/powerpoint/2010/main" val="205935357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Lst>
  <p:transition spd="med"/>
  <p:txStyles>
    <p:titleStyle>
      <a:lvl1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1pPr>
      <a:lvl2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2pPr>
      <a:lvl3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3pPr>
      <a:lvl4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4pPr>
      <a:lvl5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5pPr>
      <a:lvl6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6pPr>
      <a:lvl7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7pPr>
      <a:lvl8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8pPr>
      <a:lvl9pPr marL="0" marR="0" indent="0" algn="l" defTabSz="412750" rtl="0" latinLnBrk="0">
        <a:lnSpc>
          <a:spcPct val="150000"/>
        </a:lnSpc>
        <a:spcBef>
          <a:spcPts val="1000"/>
        </a:spcBef>
        <a:spcAft>
          <a:spcPts val="0"/>
        </a:spcAft>
        <a:buClrTx/>
        <a:buSzTx/>
        <a:buFontTx/>
        <a:buNone/>
        <a:tabLst/>
        <a:defRPr sz="1250" b="0" i="0" u="none" strike="noStrike" cap="none" spc="0" baseline="0">
          <a:solidFill>
            <a:srgbClr val="212121"/>
          </a:solidFill>
          <a:uFillTx/>
          <a:latin typeface="+mn-lt"/>
          <a:ea typeface="+mn-ea"/>
          <a:cs typeface="+mn-cs"/>
          <a:sym typeface="Helvetica"/>
        </a:defRPr>
      </a:lvl9pPr>
    </p:titleStyle>
    <p:bodyStyle>
      <a:lvl1pPr marL="16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1pPr>
      <a:lvl2pPr marL="482865" marR="0" indent="-165364"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2pPr>
      <a:lvl3pPr marL="800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3pPr>
      <a:lvl4pPr marL="1117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4pPr>
      <a:lvl5pPr marL="143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5pPr>
      <a:lvl6pPr marL="1752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6pPr>
      <a:lvl7pPr marL="2070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7pPr>
      <a:lvl8pPr marL="23878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8pPr>
      <a:lvl9pPr marL="2705365" marR="0" indent="-165365" algn="l" defTabSz="412750" rtl="0" latinLnBrk="0">
        <a:lnSpc>
          <a:spcPct val="150000"/>
        </a:lnSpc>
        <a:spcBef>
          <a:spcPts val="1000"/>
        </a:spcBef>
        <a:spcAft>
          <a:spcPts val="0"/>
        </a:spcAft>
        <a:buClrTx/>
        <a:buSzPct val="125000"/>
        <a:buFontTx/>
        <a:buChar char="•"/>
        <a:tabLst/>
        <a:defRPr sz="1250" b="0" i="0" u="none" strike="noStrike" cap="none" spc="0" baseline="0">
          <a:solidFill>
            <a:srgbClr val="212121"/>
          </a:solidFill>
          <a:uFillTx/>
          <a:latin typeface="+mn-lt"/>
          <a:ea typeface="+mn-ea"/>
          <a:cs typeface="+mn-cs"/>
          <a:sym typeface="Helvetica"/>
        </a:defRPr>
      </a:lvl9pPr>
    </p:bodyStyle>
    <p:otherStyle>
      <a:lvl1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1pPr>
      <a:lvl2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2pPr>
      <a:lvl3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3pPr>
      <a:lvl4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4pPr>
      <a:lvl5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5pPr>
      <a:lvl6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6pPr>
      <a:lvl7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7pPr>
      <a:lvl8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8pPr>
      <a:lvl9pPr marL="0" marR="0" indent="0" algn="r" defTabSz="412750" rtl="0" latinLnBrk="0">
        <a:lnSpc>
          <a:spcPct val="100000"/>
        </a:lnSpc>
        <a:spcBef>
          <a:spcPts val="0"/>
        </a:spcBef>
        <a:spcAft>
          <a:spcPts val="0"/>
        </a:spcAft>
        <a:buClrTx/>
        <a:buSzTx/>
        <a:buFontTx/>
        <a:buNone/>
        <a:tabLst/>
        <a:defRPr sz="800" b="1" i="0" u="none" strike="noStrike" cap="all" spc="160" baseline="0">
          <a:solidFill>
            <a:schemeClr val="tx1"/>
          </a:solidFill>
          <a:uFillTx/>
          <a:latin typeface="+mn-lt"/>
          <a:ea typeface="+mn-ea"/>
          <a:cs typeface="+mn-cs"/>
          <a:sym typeface="Helvetica"/>
        </a:defRPr>
      </a:lvl9pPr>
    </p:otherStyle>
  </p:txStyles>
  <p:extLst>
    <p:ext uri="{27BBF7A9-308A-43DC-89C8-2F10F3537804}">
      <p15:sldGuideLst xmlns:p15="http://schemas.microsoft.com/office/powerpoint/2012/main">
        <p15:guide id="1" orient="horz" pos="4320">
          <p15:clr>
            <a:srgbClr val="F26B43"/>
          </p15:clr>
        </p15:guide>
        <p15:guide id="2" pos="7680">
          <p15:clr>
            <a:srgbClr val="F26B43"/>
          </p15:clr>
        </p15:guide>
        <p15:guide id="3" orient="horz" pos="487">
          <p15:clr>
            <a:srgbClr val="F26B43"/>
          </p15:clr>
        </p15:guide>
        <p15:guide id="4" pos="4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hyperlink" Target="https://customgroupspa-my.sharepoint.com/:b:/g/personal/d_adorni_custom_it/Ebfq4d5Y5BlGuaD6IiRy0cMB-3u46iO1IpjwigjEs4qrlw?e=0Sb8g3" TargetMode="Externa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hyperlink" Target="https://customgroupspa-my.sharepoint.com/:b:/g/personal/d_adorni_custom_it/IQCBm5gArZ1eSJUggC2xn4cJAT51Q7mS3g5qYEwxfkiqGIM?e=lzfKhh" TargetMode="External"/><Relationship Id="rId5" Type="http://schemas.openxmlformats.org/officeDocument/2006/relationships/hyperlink" Target="https://customgroupspa-my.sharepoint.com/:b:/g/personal/d_adorni_custom_it/IQAb4CYoZNtXQKgI94roZum0AZiRnjuWYdaVESB05afp4Rg?e=8QBmgr" TargetMode="Externa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3.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ustomgroupspa.sharepoint.com/:v:/s/MarketingCustom/ERnUtRXSMc1ErVFulIxBVD0BI28MHt_RQRxWs87NdRr_Cw?e=w4re0p" TargetMode="External"/><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4.png"/><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1.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3.svg"/><Relationship Id="rId2" Type="http://schemas.openxmlformats.org/officeDocument/2006/relationships/image" Target="../media/image44.png"/><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46.png"/><Relationship Id="rId9" Type="http://schemas.microsoft.com/office/2007/relationships/hdphoto" Target="../media/hdphoto1.wdp"/></Relationships>
</file>

<file path=ppt/slides/_rels/slide28.xml.rels><?xml version="1.0" encoding="UTF-8" standalone="yes"?>
<Relationships xmlns="http://schemas.openxmlformats.org/package/2006/relationships"><Relationship Id="rId8" Type="http://schemas.openxmlformats.org/officeDocument/2006/relationships/hyperlink" Target="https://customgroupspa.sharepoint.com/:v:/s/MarketingCustom/EYuTmN7T4-NJv-FS2dCgL8ABLERgKi9EuQZQXWxp7Q4lpA?e=qrtrRE" TargetMode="External"/><Relationship Id="rId13" Type="http://schemas.openxmlformats.org/officeDocument/2006/relationships/image" Target="../media/image55.png"/><Relationship Id="rId3" Type="http://schemas.openxmlformats.org/officeDocument/2006/relationships/hyperlink" Target="https://customgroupspa.sharepoint.com/:v:/s/MarketingCustom/ETpgYKK7TMpKtnaMiFt5y7wBsArtPyztK343F_lDToCOnQ?e=tG9U9K" TargetMode="External"/><Relationship Id="rId7" Type="http://schemas.openxmlformats.org/officeDocument/2006/relationships/hyperlink" Target="https://customgroupspa-my.sharepoint.com/:v:/g/personal/d_adorni_custom_it/EcUkjGjQNUlFkeFhW014yZ4B-Hl-aBi44HSWZozJzEFalA?e=T5nKnx" TargetMode="External"/><Relationship Id="rId12" Type="http://schemas.openxmlformats.org/officeDocument/2006/relationships/image" Target="../media/image54.png"/><Relationship Id="rId2" Type="http://schemas.openxmlformats.org/officeDocument/2006/relationships/hyperlink" Target="https://customgroupspa.sharepoint.com/:v:/s/MarketingCustom/EQEQFWIL3QRBnkQxqkrcKQYBvnrWCP7aJ2Qgf0HQVkm01Q?e=RcPCi4" TargetMode="External"/><Relationship Id="rId1" Type="http://schemas.openxmlformats.org/officeDocument/2006/relationships/slideLayout" Target="../slideLayouts/slideLayout13.xml"/><Relationship Id="rId6" Type="http://schemas.openxmlformats.org/officeDocument/2006/relationships/hyperlink" Target="https://customgroupspa.sharepoint.com/:v:/s/MarketingCustom/EScJqIOIyIdPj4yRYmhum_8BT9O5RfaZzz6BwPG45ejTVA?e=msjnr3" TargetMode="External"/><Relationship Id="rId11" Type="http://schemas.openxmlformats.org/officeDocument/2006/relationships/hyperlink" Target="https://customgroupspa-my.sharepoint.com/:v:/g/personal/d_adorni_custom_it/ESqQuaLKpfRDjLphjCOECa4BvCF7F1RTzDlLTpkwpDk3OA?e=P7MwHw" TargetMode="External"/><Relationship Id="rId5" Type="http://schemas.openxmlformats.org/officeDocument/2006/relationships/hyperlink" Target="https://customgroupspa.sharepoint.com/:v:/s/MarketingCustom/EYlqF4d6MpZOlC-xs_4-gqwBYfnbjYE7C7vXK4MdweW47A?e=qiTwhO&amp;nav=eyJyZWZlcnJhbEluZm8iOnsicmVmZXJyYWxBcHAiOiJTdHJlYW1XZWJBcHAiLCJyZWZlcnJhbFZpZXciOiJTaGFyZURpYWxvZy1MaW5rIiwicmVmZXJyYWxBcHBQbGF0Zm9ybSI6IldlYiIsInJlZmVycmFsTW9kZSI6InZpZXcifX0%3D" TargetMode="External"/><Relationship Id="rId15" Type="http://schemas.openxmlformats.org/officeDocument/2006/relationships/image" Target="../media/image57.png"/><Relationship Id="rId10" Type="http://schemas.openxmlformats.org/officeDocument/2006/relationships/hyperlink" Target="https://customgroupspa.sharepoint.com/:v:/s/MarketingCustom/Ea0Vug7o_RtDvEcYyxfhbLQBytbcn0cnvgfZYaj4X6u8Tw?e=xOBb21" TargetMode="External"/><Relationship Id="rId4" Type="http://schemas.openxmlformats.org/officeDocument/2006/relationships/hyperlink" Target="https://customgroupspa.sharepoint.com/:v:/s/MarketingCustom/ERfQ0NAnEB1HndRDieYrn2YBjREIfEV_dLapqY9UjB4tfA?e=iKifDc" TargetMode="External"/><Relationship Id="rId9" Type="http://schemas.openxmlformats.org/officeDocument/2006/relationships/hyperlink" Target="https://customgroupspa.sharepoint.com/:v:/s/MarketingCustom/ERfQ0NAnEB1HndRDieYrn2YBjREIfEV_dLapqY9UjB4tfA?e=df2NMk" TargetMode="External"/><Relationship Id="rId1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hyperlink" Target="https://customgroupspa-my.sharepoint.com/:v:/g/personal/d_adorni_custom_it/IQD0iFqIJaYdT61e22sx07MEAQICq7irx4r9v6LZWG-pq2Y?e=B9oGJ6" TargetMode="External"/><Relationship Id="rId2" Type="http://schemas.openxmlformats.org/officeDocument/2006/relationships/hyperlink" Target="https://customgroupspa-my.sharepoint.com/:v:/g/personal/d_adorni_custom_it/IQBPgQbKCoLORa-hxApBs0EhAdJhzjTGfjfqYWM6cY38s6Q?e=wiULqH" TargetMode="External"/><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60.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994C9D-6C3D-E763-7A1A-58D3F5F251A9}"/>
              </a:ext>
            </a:extLst>
          </p:cNvPr>
          <p:cNvSpPr>
            <a:spLocks noGrp="1"/>
          </p:cNvSpPr>
          <p:nvPr>
            <p:ph type="ctrTitle"/>
          </p:nvPr>
        </p:nvSpPr>
        <p:spPr/>
        <p:txBody>
          <a:bodyPr/>
          <a:lstStyle/>
          <a:p>
            <a:endParaRPr lang="it-IT"/>
          </a:p>
        </p:txBody>
      </p:sp>
      <p:sp>
        <p:nvSpPr>
          <p:cNvPr id="3" name="Sottotitolo 2">
            <a:extLst>
              <a:ext uri="{FF2B5EF4-FFF2-40B4-BE49-F238E27FC236}">
                <a16:creationId xmlns:a16="http://schemas.microsoft.com/office/drawing/2014/main" id="{621C3BC9-FBC8-01FD-16CD-B2D24A888DE8}"/>
              </a:ext>
            </a:extLst>
          </p:cNvPr>
          <p:cNvSpPr>
            <a:spLocks noGrp="1"/>
          </p:cNvSpPr>
          <p:nvPr>
            <p:ph type="subTitle" idx="1"/>
          </p:nvPr>
        </p:nvSpPr>
        <p:spPr/>
        <p:txBody>
          <a:bodyPr/>
          <a:lstStyle/>
          <a:p>
            <a:endParaRPr lang="it-IT"/>
          </a:p>
        </p:txBody>
      </p:sp>
      <p:pic>
        <p:nvPicPr>
          <p:cNvPr id="4" name="Immagine 3">
            <a:extLst>
              <a:ext uri="{FF2B5EF4-FFF2-40B4-BE49-F238E27FC236}">
                <a16:creationId xmlns:a16="http://schemas.microsoft.com/office/drawing/2014/main" id="{2B108CE9-5C56-5DA7-2800-6A2CC87C0C2A}"/>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49584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hy Custom?">
            <a:extLst>
              <a:ext uri="{FF2B5EF4-FFF2-40B4-BE49-F238E27FC236}">
                <a16:creationId xmlns:a16="http://schemas.microsoft.com/office/drawing/2014/main" id="{350C33AE-74B2-613C-E97C-05295EC87C4E}"/>
              </a:ext>
            </a:extLst>
          </p:cNvPr>
          <p:cNvSpPr txBox="1"/>
          <p:nvPr/>
        </p:nvSpPr>
        <p:spPr>
          <a:xfrm>
            <a:off x="1068509" y="3217920"/>
            <a:ext cx="6803657" cy="41549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defTabSz="412750" hangingPunct="0">
              <a:defRPr/>
            </a:pPr>
            <a:r>
              <a:rPr lang="it-IT" sz="4000" b="1" kern="0" spc="450">
                <a:solidFill>
                  <a:srgbClr val="FFFFFF"/>
                </a:solidFill>
                <a:latin typeface="Source Sans Pro" panose="020B0503030403020204" pitchFamily="34" charset="0"/>
              </a:rPr>
              <a:t>Chi siamo</a:t>
            </a:r>
          </a:p>
        </p:txBody>
      </p:sp>
    </p:spTree>
    <p:extLst>
      <p:ext uri="{BB962C8B-B14F-4D97-AF65-F5344CB8AC3E}">
        <p14:creationId xmlns:p14="http://schemas.microsoft.com/office/powerpoint/2010/main" val="129464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C3083-A606-7785-916A-8FA5DBF7077C}"/>
            </a:ext>
          </a:extLst>
        </p:cNvPr>
        <p:cNvGrpSpPr/>
        <p:nvPr/>
      </p:nvGrpSpPr>
      <p:grpSpPr>
        <a:xfrm>
          <a:off x="0" y="0"/>
          <a:ext cx="0" cy="0"/>
          <a:chOff x="0" y="0"/>
          <a:chExt cx="0" cy="0"/>
        </a:xfrm>
      </p:grpSpPr>
      <p:sp>
        <p:nvSpPr>
          <p:cNvPr id="13" name="Why Custom?">
            <a:extLst>
              <a:ext uri="{FF2B5EF4-FFF2-40B4-BE49-F238E27FC236}">
                <a16:creationId xmlns:a16="http://schemas.microsoft.com/office/drawing/2014/main" id="{CFB3544F-CF3F-1C67-0D1C-F8E988AA4CC4}"/>
              </a:ext>
            </a:extLst>
          </p:cNvPr>
          <p:cNvSpPr txBox="1"/>
          <p:nvPr/>
        </p:nvSpPr>
        <p:spPr>
          <a:xfrm>
            <a:off x="1109663" y="806191"/>
            <a:ext cx="2491813" cy="311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defTabSz="412750" hangingPunct="0">
              <a:defRPr/>
            </a:pPr>
            <a:r>
              <a:rPr lang="it-IT" sz="3000" kern="0" spc="0">
                <a:solidFill>
                  <a:srgbClr val="FFFFFF"/>
                </a:solidFill>
              </a:rPr>
              <a:t>Chi siamo</a:t>
            </a:r>
          </a:p>
        </p:txBody>
      </p:sp>
      <p:sp>
        <p:nvSpPr>
          <p:cNvPr id="4" name="CasellaDiTesto 3">
            <a:extLst>
              <a:ext uri="{FF2B5EF4-FFF2-40B4-BE49-F238E27FC236}">
                <a16:creationId xmlns:a16="http://schemas.microsoft.com/office/drawing/2014/main" id="{3A836024-B78B-36EF-B886-5F5226581C20}"/>
              </a:ext>
            </a:extLst>
          </p:cNvPr>
          <p:cNvSpPr txBox="1"/>
          <p:nvPr/>
        </p:nvSpPr>
        <p:spPr>
          <a:xfrm>
            <a:off x="1030706" y="1903793"/>
            <a:ext cx="5146811" cy="8656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45720" tIns="22860" rIns="45720" bIns="22860" anchor="t">
            <a:spAutoFit/>
          </a:bodyPr>
          <a:lstStyle/>
          <a:p>
            <a:pPr defTabSz="488936" hangingPunct="0"/>
            <a:r>
              <a:rPr lang="it-IT">
                <a:solidFill>
                  <a:srgbClr val="FFFFFF"/>
                </a:solidFill>
                <a:latin typeface="Source Sans Pro Light"/>
                <a:cs typeface="Helvetica"/>
                <a:sym typeface="Helvetica Neue"/>
              </a:rPr>
              <a:t>La </a:t>
            </a:r>
            <a:r>
              <a:rPr lang="it-IT" b="1">
                <a:solidFill>
                  <a:srgbClr val="FFFFFF"/>
                </a:solidFill>
                <a:latin typeface="Source Sans Pro Semibold"/>
                <a:cs typeface="Helvetica"/>
                <a:sym typeface="Helvetica Neue"/>
              </a:rPr>
              <a:t>newco CUSTOM </a:t>
            </a:r>
            <a:r>
              <a:rPr lang="it-IT" b="1" err="1">
                <a:solidFill>
                  <a:srgbClr val="FFFFFF"/>
                </a:solidFill>
                <a:latin typeface="Source Sans Pro Semibold"/>
                <a:cs typeface="Helvetica"/>
                <a:sym typeface="Helvetica Neue"/>
              </a:rPr>
              <a:t>Pay</a:t>
            </a:r>
            <a:r>
              <a:rPr lang="it-IT" b="1">
                <a:solidFill>
                  <a:srgbClr val="FFFFFF"/>
                </a:solidFill>
                <a:latin typeface="Source Sans Pro Semibold"/>
                <a:cs typeface="Helvetica"/>
                <a:sym typeface="Helvetica Neue"/>
              </a:rPr>
              <a:t> </a:t>
            </a:r>
            <a:r>
              <a:rPr lang="it-IT">
                <a:solidFill>
                  <a:srgbClr val="FFFFFF"/>
                </a:solidFill>
                <a:latin typeface="Source Sans Pro Light"/>
                <a:cs typeface="Helvetica"/>
                <a:sym typeface="Helvetica Neue"/>
              </a:rPr>
              <a:t>rappresenta l’ingresso nel mondo dei </a:t>
            </a:r>
            <a:r>
              <a:rPr lang="it-IT" b="1">
                <a:solidFill>
                  <a:srgbClr val="FFFFFF"/>
                </a:solidFill>
                <a:latin typeface="Source Sans Pro Light"/>
                <a:cs typeface="Helvetica"/>
                <a:sym typeface="Helvetica Neue"/>
              </a:rPr>
              <a:t>pagamenti digitali </a:t>
            </a:r>
            <a:r>
              <a:rPr lang="it-IT">
                <a:solidFill>
                  <a:srgbClr val="FFFFFF"/>
                </a:solidFill>
                <a:latin typeface="Source Sans Pro Light"/>
                <a:cs typeface="Helvetica"/>
                <a:sym typeface="Helvetica Neue"/>
              </a:rPr>
              <a:t>di </a:t>
            </a:r>
            <a:r>
              <a:rPr lang="it-IT" b="1">
                <a:solidFill>
                  <a:srgbClr val="FFFFFF"/>
                </a:solidFill>
                <a:latin typeface="Source Sans Pro Light"/>
                <a:cs typeface="Helvetica"/>
                <a:sym typeface="Helvetica Neue"/>
              </a:rPr>
              <a:t>Custom, </a:t>
            </a:r>
            <a:r>
              <a:rPr lang="it-IT" b="1">
                <a:solidFill>
                  <a:srgbClr val="FFFFFF"/>
                </a:solidFill>
                <a:latin typeface="Source Sans Pro Semibold"/>
                <a:cs typeface="Helvetica"/>
                <a:sym typeface="Helvetica Neue"/>
              </a:rPr>
              <a:t>hi-tech </a:t>
            </a:r>
            <a:r>
              <a:rPr lang="it-IT" b="1" err="1">
                <a:solidFill>
                  <a:srgbClr val="FFFFFF"/>
                </a:solidFill>
                <a:latin typeface="Source Sans Pro Semibold"/>
                <a:cs typeface="Helvetica"/>
                <a:sym typeface="Helvetica Neue"/>
              </a:rPr>
              <a:t>solution</a:t>
            </a:r>
            <a:r>
              <a:rPr lang="it-IT" b="1">
                <a:solidFill>
                  <a:srgbClr val="FFFFFF"/>
                </a:solidFill>
                <a:latin typeface="Source Sans Pro Semibold"/>
                <a:cs typeface="Helvetica"/>
                <a:sym typeface="Helvetica Neue"/>
              </a:rPr>
              <a:t> company </a:t>
            </a:r>
            <a:r>
              <a:rPr lang="it-IT">
                <a:solidFill>
                  <a:srgbClr val="FFFFFF"/>
                </a:solidFill>
                <a:latin typeface="Source Sans Pro Light"/>
                <a:cs typeface="Helvetica"/>
                <a:sym typeface="Helvetica Neue"/>
              </a:rPr>
              <a:t>con oltre 30 anni di esperienza in soluzioni di stampa e scansione nel mondo Retail, </a:t>
            </a:r>
            <a:r>
              <a:rPr lang="it-IT" err="1">
                <a:solidFill>
                  <a:srgbClr val="FFFFFF"/>
                </a:solidFill>
                <a:latin typeface="Source Sans Pro Light"/>
                <a:cs typeface="Helvetica"/>
                <a:sym typeface="Helvetica Neue"/>
              </a:rPr>
              <a:t>Hospitality</a:t>
            </a:r>
            <a:r>
              <a:rPr lang="it-IT">
                <a:solidFill>
                  <a:srgbClr val="FFFFFF"/>
                </a:solidFill>
                <a:latin typeface="Source Sans Pro Light"/>
                <a:cs typeface="Helvetica"/>
                <a:sym typeface="Helvetica Neue"/>
              </a:rPr>
              <a:t> e in numerosi altri mercati verticali.</a:t>
            </a:r>
          </a:p>
        </p:txBody>
      </p:sp>
      <p:sp>
        <p:nvSpPr>
          <p:cNvPr id="8" name="CasellaDiTesto 7">
            <a:extLst>
              <a:ext uri="{FF2B5EF4-FFF2-40B4-BE49-F238E27FC236}">
                <a16:creationId xmlns:a16="http://schemas.microsoft.com/office/drawing/2014/main" id="{35891637-8D58-3ACD-43E5-763F69D12702}"/>
              </a:ext>
            </a:extLst>
          </p:cNvPr>
          <p:cNvSpPr txBox="1"/>
          <p:nvPr/>
        </p:nvSpPr>
        <p:spPr>
          <a:xfrm>
            <a:off x="1030705" y="3712130"/>
            <a:ext cx="5327566" cy="1073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45720" tIns="22860" rIns="45720" bIns="22860" anchor="t">
            <a:spAutoFit/>
          </a:bodyPr>
          <a:lstStyle/>
          <a:p>
            <a:pPr defTabSz="488936" hangingPunct="0"/>
            <a:r>
              <a:rPr lang="it-IT">
                <a:solidFill>
                  <a:srgbClr val="FFFFFF"/>
                </a:solidFill>
                <a:latin typeface="Source Sans Pro Light"/>
                <a:cs typeface="Helvetica"/>
                <a:sym typeface="Helvetica Neue"/>
              </a:rPr>
              <a:t>Con CUSTOM </a:t>
            </a:r>
            <a:r>
              <a:rPr lang="it-IT" err="1">
                <a:solidFill>
                  <a:srgbClr val="FFFFFF"/>
                </a:solidFill>
                <a:latin typeface="Source Sans Pro Light"/>
                <a:cs typeface="Helvetica"/>
                <a:sym typeface="Helvetica Neue"/>
              </a:rPr>
              <a:t>Pay</a:t>
            </a:r>
            <a:r>
              <a:rPr lang="it-IT">
                <a:solidFill>
                  <a:srgbClr val="FFFFFF"/>
                </a:solidFill>
                <a:latin typeface="Source Sans Pro Light"/>
                <a:cs typeface="Helvetica"/>
                <a:sym typeface="Helvetica Neue"/>
              </a:rPr>
              <a:t> la gamma di servizi del Gruppo si amplia con un nuovo e innovativo sistema, offrendo finalmente </a:t>
            </a:r>
            <a:r>
              <a:rPr lang="it-IT" b="1">
                <a:solidFill>
                  <a:srgbClr val="FFFFFF"/>
                </a:solidFill>
                <a:latin typeface="Source Sans Pro Semibold"/>
                <a:cs typeface="Helvetica"/>
                <a:sym typeface="Helvetica Neue"/>
              </a:rPr>
              <a:t>ai Retailer una soluzione davvero completa </a:t>
            </a:r>
            <a:r>
              <a:rPr lang="it-IT">
                <a:solidFill>
                  <a:srgbClr val="FFFFFF"/>
                </a:solidFill>
                <a:latin typeface="Source Sans Pro Light"/>
                <a:cs typeface="Helvetica"/>
                <a:sym typeface="Helvetica Neue"/>
              </a:rPr>
              <a:t>da parte di </a:t>
            </a:r>
            <a:r>
              <a:rPr lang="it-IT" b="1">
                <a:solidFill>
                  <a:srgbClr val="FFFFFF"/>
                </a:solidFill>
                <a:latin typeface="Source Sans Pro Semibold"/>
                <a:cs typeface="Helvetica"/>
                <a:sym typeface="Helvetica Neue"/>
              </a:rPr>
              <a:t>un unico interlocutore </a:t>
            </a:r>
            <a:r>
              <a:rPr lang="it-IT">
                <a:solidFill>
                  <a:srgbClr val="FFFFFF"/>
                </a:solidFill>
                <a:latin typeface="Source Sans Pro Light"/>
                <a:cs typeface="Helvetica"/>
                <a:sym typeface="Helvetica Neue"/>
              </a:rPr>
              <a:t>in grado di gestire hardware, software, fiscalità, incasso di pagamenti elettronici e un servizio di assistenza eccellente.</a:t>
            </a:r>
          </a:p>
        </p:txBody>
      </p:sp>
      <p:sp>
        <p:nvSpPr>
          <p:cNvPr id="11" name="Figura a mano libera 10">
            <a:extLst>
              <a:ext uri="{FF2B5EF4-FFF2-40B4-BE49-F238E27FC236}">
                <a16:creationId xmlns:a16="http://schemas.microsoft.com/office/drawing/2014/main" id="{51603F2D-7B86-B258-E277-55579D88FF96}"/>
              </a:ext>
            </a:extLst>
          </p:cNvPr>
          <p:cNvSpPr/>
          <p:nvPr/>
        </p:nvSpPr>
        <p:spPr>
          <a:xfrm>
            <a:off x="6723098" y="3912266"/>
            <a:ext cx="4588888" cy="2298379"/>
          </a:xfrm>
          <a:custGeom>
            <a:avLst/>
            <a:gdLst>
              <a:gd name="connsiteX0" fmla="*/ 1778000 w 3552800"/>
              <a:gd name="connsiteY0" fmla="*/ 0 h 1779068"/>
              <a:gd name="connsiteX1" fmla="*/ 2665400 w 3552800"/>
              <a:gd name="connsiteY1" fmla="*/ 0 h 1779068"/>
              <a:gd name="connsiteX2" fmla="*/ 3552800 w 3552800"/>
              <a:gd name="connsiteY2" fmla="*/ 887400 h 1779068"/>
              <a:gd name="connsiteX3" fmla="*/ 3552800 w 3552800"/>
              <a:gd name="connsiteY3" fmla="*/ 890600 h 1779068"/>
              <a:gd name="connsiteX4" fmla="*/ 2665400 w 3552800"/>
              <a:gd name="connsiteY4" fmla="*/ 1778000 h 1779068"/>
              <a:gd name="connsiteX5" fmla="*/ 1778000 w 3552800"/>
              <a:gd name="connsiteY5" fmla="*/ 1778000 h 1779068"/>
              <a:gd name="connsiteX6" fmla="*/ 0 w 3552800"/>
              <a:gd name="connsiteY6" fmla="*/ 1779068 h 1779068"/>
              <a:gd name="connsiteX7" fmla="*/ 520386 w 3552800"/>
              <a:gd name="connsiteY7" fmla="*/ 521142 h 1779068"/>
              <a:gd name="connsiteX8" fmla="*/ 1778000 w 3552800"/>
              <a:gd name="connsiteY8" fmla="*/ 0 h 177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2800" h="1779068">
                <a:moveTo>
                  <a:pt x="1778000" y="0"/>
                </a:moveTo>
                <a:lnTo>
                  <a:pt x="2665400" y="0"/>
                </a:lnTo>
                <a:cubicBezTo>
                  <a:pt x="3155498" y="0"/>
                  <a:pt x="3552800" y="397303"/>
                  <a:pt x="3552800" y="887400"/>
                </a:cubicBezTo>
                <a:lnTo>
                  <a:pt x="3552800" y="890600"/>
                </a:lnTo>
                <a:cubicBezTo>
                  <a:pt x="3552800" y="1380697"/>
                  <a:pt x="3155498" y="1778000"/>
                  <a:pt x="2665400" y="1778000"/>
                </a:cubicBezTo>
                <a:lnTo>
                  <a:pt x="1778000" y="1778000"/>
                </a:lnTo>
                <a:lnTo>
                  <a:pt x="0" y="1779068"/>
                </a:lnTo>
                <a:cubicBezTo>
                  <a:pt x="-283" y="1307328"/>
                  <a:pt x="186916" y="854812"/>
                  <a:pt x="520386" y="521142"/>
                </a:cubicBezTo>
                <a:cubicBezTo>
                  <a:pt x="853856" y="187471"/>
                  <a:pt x="1306260" y="0"/>
                  <a:pt x="1778000" y="0"/>
                </a:cubicBezTo>
                <a:close/>
              </a:path>
            </a:pathLst>
          </a:custGeom>
          <a:blipFill>
            <a:blip r:embed="rId3"/>
            <a:stretch>
              <a:fillRect t="-19138" b="-19138"/>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412750" hangingPunct="0">
              <a:lnSpc>
                <a:spcPct val="150000"/>
              </a:lnSpc>
              <a:spcBef>
                <a:spcPts val="1000"/>
              </a:spcBef>
            </a:pPr>
            <a:endParaRPr lang="it-IT" sz="1250" kern="0">
              <a:solidFill>
                <a:srgbClr val="212121"/>
              </a:solidFill>
              <a:latin typeface="Helvetica"/>
              <a:cs typeface="Helvetica"/>
              <a:sym typeface="Helvetica"/>
            </a:endParaRPr>
          </a:p>
        </p:txBody>
      </p:sp>
      <p:sp>
        <p:nvSpPr>
          <p:cNvPr id="12" name="Figura a mano libera 11">
            <a:extLst>
              <a:ext uri="{FF2B5EF4-FFF2-40B4-BE49-F238E27FC236}">
                <a16:creationId xmlns:a16="http://schemas.microsoft.com/office/drawing/2014/main" id="{EC3EC166-67F1-D075-960A-33541CF51A93}"/>
              </a:ext>
            </a:extLst>
          </p:cNvPr>
          <p:cNvSpPr/>
          <p:nvPr/>
        </p:nvSpPr>
        <p:spPr>
          <a:xfrm rot="10800000">
            <a:off x="6723097" y="1613887"/>
            <a:ext cx="4588888" cy="2298379"/>
          </a:xfrm>
          <a:custGeom>
            <a:avLst/>
            <a:gdLst>
              <a:gd name="connsiteX0" fmla="*/ 1778000 w 3552800"/>
              <a:gd name="connsiteY0" fmla="*/ 0 h 1779068"/>
              <a:gd name="connsiteX1" fmla="*/ 2665400 w 3552800"/>
              <a:gd name="connsiteY1" fmla="*/ 0 h 1779068"/>
              <a:gd name="connsiteX2" fmla="*/ 3552800 w 3552800"/>
              <a:gd name="connsiteY2" fmla="*/ 887400 h 1779068"/>
              <a:gd name="connsiteX3" fmla="*/ 3552800 w 3552800"/>
              <a:gd name="connsiteY3" fmla="*/ 890600 h 1779068"/>
              <a:gd name="connsiteX4" fmla="*/ 2665400 w 3552800"/>
              <a:gd name="connsiteY4" fmla="*/ 1778000 h 1779068"/>
              <a:gd name="connsiteX5" fmla="*/ 1778000 w 3552800"/>
              <a:gd name="connsiteY5" fmla="*/ 1778000 h 1779068"/>
              <a:gd name="connsiteX6" fmla="*/ 0 w 3552800"/>
              <a:gd name="connsiteY6" fmla="*/ 1779068 h 1779068"/>
              <a:gd name="connsiteX7" fmla="*/ 520386 w 3552800"/>
              <a:gd name="connsiteY7" fmla="*/ 521142 h 1779068"/>
              <a:gd name="connsiteX8" fmla="*/ 1778000 w 3552800"/>
              <a:gd name="connsiteY8" fmla="*/ 0 h 177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2800" h="1779068">
                <a:moveTo>
                  <a:pt x="1778000" y="0"/>
                </a:moveTo>
                <a:lnTo>
                  <a:pt x="2665400" y="0"/>
                </a:lnTo>
                <a:cubicBezTo>
                  <a:pt x="3155498" y="0"/>
                  <a:pt x="3552800" y="397303"/>
                  <a:pt x="3552800" y="887400"/>
                </a:cubicBezTo>
                <a:lnTo>
                  <a:pt x="3552800" y="890600"/>
                </a:lnTo>
                <a:cubicBezTo>
                  <a:pt x="3552800" y="1380697"/>
                  <a:pt x="3155498" y="1778000"/>
                  <a:pt x="2665400" y="1778000"/>
                </a:cubicBezTo>
                <a:lnTo>
                  <a:pt x="1778000" y="1778000"/>
                </a:lnTo>
                <a:lnTo>
                  <a:pt x="0" y="1779068"/>
                </a:lnTo>
                <a:cubicBezTo>
                  <a:pt x="-283" y="1307328"/>
                  <a:pt x="186916" y="854812"/>
                  <a:pt x="520386" y="521142"/>
                </a:cubicBezTo>
                <a:cubicBezTo>
                  <a:pt x="853856" y="187471"/>
                  <a:pt x="1306260" y="0"/>
                  <a:pt x="1778000" y="0"/>
                </a:cubicBezTo>
                <a:close/>
              </a:path>
            </a:pathLst>
          </a:custGeom>
          <a:blipFill dpi="0" rotWithShape="0">
            <a:blip r:embed="rId4"/>
            <a:srcRect/>
            <a:stretch>
              <a:fillRect t="-19138" b="-19138"/>
            </a:stretch>
          </a:blipFill>
          <a:ln w="25400" cap="flat">
            <a:noFill/>
            <a:prstDash val="solid"/>
            <a:round/>
          </a:ln>
          <a:effectLst/>
          <a:scene3d>
            <a:camera prst="orthographicFront">
              <a:rot lat="0" lon="0" rev="0"/>
            </a:camera>
            <a:lightRig rig="threePt" dir="t"/>
          </a:scene3d>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412750" hangingPunct="0">
              <a:lnSpc>
                <a:spcPct val="150000"/>
              </a:lnSpc>
              <a:spcBef>
                <a:spcPts val="1000"/>
              </a:spcBef>
            </a:pPr>
            <a:endParaRPr lang="it-IT" sz="1250" kern="0">
              <a:solidFill>
                <a:srgbClr val="212121"/>
              </a:solidFill>
              <a:latin typeface="Helvetica"/>
              <a:cs typeface="Helvetica"/>
              <a:sym typeface="Helvetica"/>
            </a:endParaRPr>
          </a:p>
        </p:txBody>
      </p:sp>
    </p:spTree>
    <p:extLst>
      <p:ext uri="{BB962C8B-B14F-4D97-AF65-F5344CB8AC3E}">
        <p14:creationId xmlns:p14="http://schemas.microsoft.com/office/powerpoint/2010/main" val="3197399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6685-0813-07DE-F3C2-13353F4460AF}"/>
            </a:ext>
          </a:extLst>
        </p:cNvPr>
        <p:cNvGrpSpPr/>
        <p:nvPr/>
      </p:nvGrpSpPr>
      <p:grpSpPr>
        <a:xfrm>
          <a:off x="0" y="0"/>
          <a:ext cx="0" cy="0"/>
          <a:chOff x="0" y="0"/>
          <a:chExt cx="0" cy="0"/>
        </a:xfrm>
      </p:grpSpPr>
      <p:sp>
        <p:nvSpPr>
          <p:cNvPr id="13" name="Why Custom?">
            <a:extLst>
              <a:ext uri="{FF2B5EF4-FFF2-40B4-BE49-F238E27FC236}">
                <a16:creationId xmlns:a16="http://schemas.microsoft.com/office/drawing/2014/main" id="{DFCA4114-3426-F827-A774-28305AF7F84F}"/>
              </a:ext>
            </a:extLst>
          </p:cNvPr>
          <p:cNvSpPr txBox="1"/>
          <p:nvPr/>
        </p:nvSpPr>
        <p:spPr>
          <a:xfrm>
            <a:off x="1109663" y="806191"/>
            <a:ext cx="2491813" cy="311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defTabSz="412750" hangingPunct="0">
              <a:defRPr/>
            </a:pPr>
            <a:r>
              <a:rPr lang="it-IT" sz="3000" kern="0" spc="0">
                <a:solidFill>
                  <a:srgbClr val="FFFFFF"/>
                </a:solidFill>
              </a:rPr>
              <a:t>Chi siamo</a:t>
            </a:r>
          </a:p>
        </p:txBody>
      </p:sp>
      <p:sp>
        <p:nvSpPr>
          <p:cNvPr id="10" name="CasellaDiTesto 9">
            <a:extLst>
              <a:ext uri="{FF2B5EF4-FFF2-40B4-BE49-F238E27FC236}">
                <a16:creationId xmlns:a16="http://schemas.microsoft.com/office/drawing/2014/main" id="{5D1A3078-37CA-3B36-109F-F07986711159}"/>
              </a:ext>
            </a:extLst>
          </p:cNvPr>
          <p:cNvSpPr txBox="1"/>
          <p:nvPr/>
        </p:nvSpPr>
        <p:spPr>
          <a:xfrm>
            <a:off x="1030705" y="1900863"/>
            <a:ext cx="5327566" cy="12811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45720" tIns="22860" rIns="45720" bIns="22860" anchor="t">
            <a:spAutoFit/>
          </a:bodyPr>
          <a:lstStyle/>
          <a:p>
            <a:pPr defTabSz="488936" hangingPunct="0"/>
            <a:r>
              <a:rPr lang="it-IT">
                <a:solidFill>
                  <a:srgbClr val="FFFFFF"/>
                </a:solidFill>
                <a:latin typeface="Source Sans Pro Light"/>
                <a:cs typeface="Helvetica"/>
                <a:sym typeface="Helvetica Neue"/>
              </a:rPr>
              <a:t>Un’offerta che viene incontro alle esigenze degli utenti finali eliminando le complessità legate alla presenza</a:t>
            </a:r>
            <a:br>
              <a:rPr lang="it-IT">
                <a:solidFill>
                  <a:srgbClr val="FFFFFF"/>
                </a:solidFill>
                <a:latin typeface="Source Sans Pro Light"/>
                <a:cs typeface="Helvetica"/>
                <a:sym typeface="Helvetica Neue"/>
              </a:rPr>
            </a:br>
            <a:r>
              <a:rPr lang="it-IT">
                <a:solidFill>
                  <a:srgbClr val="FFFFFF"/>
                </a:solidFill>
                <a:latin typeface="Source Sans Pro Light"/>
                <a:cs typeface="Helvetica"/>
                <a:sym typeface="Helvetica Neue"/>
              </a:rPr>
              <a:t>di intermediari, facendo così </a:t>
            </a:r>
            <a:r>
              <a:rPr lang="it-IT" b="1">
                <a:solidFill>
                  <a:srgbClr val="FFFFFF"/>
                </a:solidFill>
                <a:latin typeface="Source Sans Pro Semibold"/>
                <a:cs typeface="Helvetica"/>
                <a:sym typeface="Helvetica Neue"/>
              </a:rPr>
              <a:t>risparmiare tempo</a:t>
            </a:r>
            <a:br>
              <a:rPr lang="it-IT" b="1">
                <a:solidFill>
                  <a:srgbClr val="FFFFFF"/>
                </a:solidFill>
                <a:latin typeface="Source Sans Pro Semibold"/>
                <a:cs typeface="Helvetica"/>
                <a:sym typeface="Helvetica Neue"/>
              </a:rPr>
            </a:br>
            <a:r>
              <a:rPr lang="it-IT" b="1">
                <a:solidFill>
                  <a:srgbClr val="FFFFFF"/>
                </a:solidFill>
                <a:latin typeface="Source Sans Pro Semibold"/>
                <a:cs typeface="Helvetica"/>
                <a:sym typeface="Helvetica Neue"/>
              </a:rPr>
              <a:t>e denaro</a:t>
            </a:r>
            <a:r>
              <a:rPr lang="it-IT" b="1">
                <a:solidFill>
                  <a:srgbClr val="FFFFFF"/>
                </a:solidFill>
                <a:latin typeface="Source Sans Pro Light"/>
                <a:cs typeface="Helvetica"/>
                <a:sym typeface="Helvetica Neue"/>
              </a:rPr>
              <a:t> </a:t>
            </a:r>
            <a:r>
              <a:rPr lang="it-IT">
                <a:solidFill>
                  <a:srgbClr val="FFFFFF"/>
                </a:solidFill>
                <a:latin typeface="Source Sans Pro Light"/>
                <a:cs typeface="Helvetica"/>
                <a:sym typeface="Helvetica Neue"/>
              </a:rPr>
              <a:t>e incentivando l’adozione di un servizio di </a:t>
            </a:r>
            <a:r>
              <a:rPr lang="it-IT" b="1">
                <a:solidFill>
                  <a:srgbClr val="FFFFFF"/>
                </a:solidFill>
                <a:latin typeface="Source Sans Pro Semibold"/>
                <a:cs typeface="Helvetica"/>
                <a:sym typeface="Helvetica Neue"/>
              </a:rPr>
              <a:t>pagamento digitale</a:t>
            </a:r>
            <a:r>
              <a:rPr lang="it-IT">
                <a:solidFill>
                  <a:srgbClr val="FFFFFF"/>
                </a:solidFill>
                <a:latin typeface="Source Sans Pro Light"/>
                <a:cs typeface="Helvetica"/>
                <a:sym typeface="Helvetica Neue"/>
              </a:rPr>
              <a:t>, ormai sempre più richiesto</a:t>
            </a:r>
            <a:br>
              <a:rPr lang="it-IT">
                <a:solidFill>
                  <a:srgbClr val="FFFFFF"/>
                </a:solidFill>
                <a:latin typeface="Source Sans Pro Light"/>
                <a:cs typeface="Helvetica"/>
                <a:sym typeface="Helvetica Neue"/>
              </a:rPr>
            </a:br>
            <a:r>
              <a:rPr lang="it-IT">
                <a:solidFill>
                  <a:srgbClr val="FFFFFF"/>
                </a:solidFill>
                <a:latin typeface="Source Sans Pro Light"/>
                <a:cs typeface="Helvetica"/>
                <a:sym typeface="Helvetica Neue"/>
              </a:rPr>
              <a:t>dagli utenti.</a:t>
            </a:r>
          </a:p>
        </p:txBody>
      </p:sp>
      <p:sp>
        <p:nvSpPr>
          <p:cNvPr id="17" name="CasellaDiTesto 16">
            <a:extLst>
              <a:ext uri="{FF2B5EF4-FFF2-40B4-BE49-F238E27FC236}">
                <a16:creationId xmlns:a16="http://schemas.microsoft.com/office/drawing/2014/main" id="{83C39B82-B85D-98AD-0968-7A5B4B397B02}"/>
              </a:ext>
            </a:extLst>
          </p:cNvPr>
          <p:cNvSpPr txBox="1"/>
          <p:nvPr/>
        </p:nvSpPr>
        <p:spPr>
          <a:xfrm>
            <a:off x="1030706" y="3981678"/>
            <a:ext cx="5327565" cy="1073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45720" tIns="22860" rIns="45720" bIns="22860" anchor="t">
            <a:spAutoFit/>
          </a:bodyPr>
          <a:lstStyle/>
          <a:p>
            <a:pPr defTabSz="488936" hangingPunct="0"/>
            <a:r>
              <a:rPr lang="it-IT">
                <a:solidFill>
                  <a:srgbClr val="FFFFFF"/>
                </a:solidFill>
                <a:latin typeface="Source Sans Pro Light"/>
                <a:cs typeface="Helvetica"/>
                <a:sym typeface="Helvetica Neue"/>
              </a:rPr>
              <a:t>Con CUSTOM </a:t>
            </a:r>
            <a:r>
              <a:rPr lang="it-IT" err="1">
                <a:solidFill>
                  <a:srgbClr val="FFFFFF"/>
                </a:solidFill>
                <a:latin typeface="Source Sans Pro Light"/>
                <a:cs typeface="Helvetica"/>
                <a:sym typeface="Helvetica Neue"/>
              </a:rPr>
              <a:t>Pay</a:t>
            </a:r>
            <a:r>
              <a:rPr lang="it-IT">
                <a:solidFill>
                  <a:srgbClr val="FFFFFF"/>
                </a:solidFill>
                <a:latin typeface="Source Sans Pro Light"/>
                <a:cs typeface="Helvetica"/>
                <a:sym typeface="Helvetica Neue"/>
              </a:rPr>
              <a:t>, registratore di cassa, POS, applicativi e gestionali convergono in un unico sistema avanzato. Un’autentica </a:t>
            </a:r>
            <a:r>
              <a:rPr lang="it-IT" b="1">
                <a:solidFill>
                  <a:srgbClr val="FFFFFF"/>
                </a:solidFill>
                <a:latin typeface="Source Sans Pro Semibold"/>
                <a:cs typeface="Helvetica"/>
                <a:sym typeface="Helvetica Neue"/>
              </a:rPr>
              <a:t>soluzione chiavi in mano </a:t>
            </a:r>
            <a:r>
              <a:rPr lang="it-IT">
                <a:solidFill>
                  <a:srgbClr val="FFFFFF"/>
                </a:solidFill>
                <a:latin typeface="Source Sans Pro Light"/>
                <a:cs typeface="Helvetica"/>
                <a:sym typeface="Helvetica Neue"/>
              </a:rPr>
              <a:t>che, oltre alla componente tecnologica, comprende anche i </a:t>
            </a:r>
            <a:r>
              <a:rPr lang="it-IT" b="1">
                <a:solidFill>
                  <a:srgbClr val="FFFFFF"/>
                </a:solidFill>
                <a:latin typeface="Source Sans Pro Light"/>
                <a:cs typeface="Helvetica"/>
                <a:sym typeface="Helvetica Neue"/>
              </a:rPr>
              <a:t>servizi</a:t>
            </a:r>
            <a:br>
              <a:rPr lang="it-IT" b="1">
                <a:solidFill>
                  <a:srgbClr val="FFFFFF"/>
                </a:solidFill>
                <a:latin typeface="Source Sans Pro Light"/>
                <a:cs typeface="Helvetica"/>
                <a:sym typeface="Helvetica Neue"/>
              </a:rPr>
            </a:br>
            <a:r>
              <a:rPr lang="it-IT" b="1">
                <a:solidFill>
                  <a:srgbClr val="FFFFFF"/>
                </a:solidFill>
                <a:latin typeface="Source Sans Pro Light"/>
                <a:cs typeface="Helvetica"/>
                <a:sym typeface="Helvetica Neue"/>
              </a:rPr>
              <a:t>di gestione di </a:t>
            </a:r>
            <a:r>
              <a:rPr lang="it-IT" b="1">
                <a:solidFill>
                  <a:srgbClr val="FFFFFF"/>
                </a:solidFill>
                <a:latin typeface="Source Sans Pro Semibold"/>
                <a:cs typeface="Helvetica"/>
                <a:sym typeface="Helvetica Neue"/>
              </a:rPr>
              <a:t>pagamenti digitali </a:t>
            </a:r>
            <a:r>
              <a:rPr lang="it-IT">
                <a:solidFill>
                  <a:srgbClr val="FFFFFF"/>
                </a:solidFill>
                <a:latin typeface="Source Sans Pro Light"/>
                <a:cs typeface="Helvetica"/>
                <a:sym typeface="Helvetica Neue"/>
              </a:rPr>
              <a:t>atti a raccogliere</a:t>
            </a:r>
            <a:br>
              <a:rPr lang="it-IT">
                <a:solidFill>
                  <a:srgbClr val="FFFFFF"/>
                </a:solidFill>
                <a:latin typeface="Source Sans Pro Light"/>
                <a:cs typeface="Helvetica"/>
                <a:sym typeface="Helvetica Neue"/>
              </a:rPr>
            </a:br>
            <a:r>
              <a:rPr lang="it-IT">
                <a:solidFill>
                  <a:srgbClr val="FFFFFF"/>
                </a:solidFill>
                <a:latin typeface="Source Sans Pro Light"/>
                <a:cs typeface="Helvetica"/>
                <a:sym typeface="Helvetica Neue"/>
              </a:rPr>
              <a:t>il pagamento dei clienti finali in moneta elettronica.</a:t>
            </a:r>
          </a:p>
        </p:txBody>
      </p:sp>
      <p:sp>
        <p:nvSpPr>
          <p:cNvPr id="11" name="Figura a mano libera 10">
            <a:extLst>
              <a:ext uri="{FF2B5EF4-FFF2-40B4-BE49-F238E27FC236}">
                <a16:creationId xmlns:a16="http://schemas.microsoft.com/office/drawing/2014/main" id="{D7221D2D-1E2D-64CA-C35B-28569D03433B}"/>
              </a:ext>
            </a:extLst>
          </p:cNvPr>
          <p:cNvSpPr/>
          <p:nvPr/>
        </p:nvSpPr>
        <p:spPr>
          <a:xfrm>
            <a:off x="6723098" y="3912266"/>
            <a:ext cx="4588888" cy="2298379"/>
          </a:xfrm>
          <a:custGeom>
            <a:avLst/>
            <a:gdLst>
              <a:gd name="connsiteX0" fmla="*/ 1778000 w 3552800"/>
              <a:gd name="connsiteY0" fmla="*/ 0 h 1779068"/>
              <a:gd name="connsiteX1" fmla="*/ 2665400 w 3552800"/>
              <a:gd name="connsiteY1" fmla="*/ 0 h 1779068"/>
              <a:gd name="connsiteX2" fmla="*/ 3552800 w 3552800"/>
              <a:gd name="connsiteY2" fmla="*/ 887400 h 1779068"/>
              <a:gd name="connsiteX3" fmla="*/ 3552800 w 3552800"/>
              <a:gd name="connsiteY3" fmla="*/ 890600 h 1779068"/>
              <a:gd name="connsiteX4" fmla="*/ 2665400 w 3552800"/>
              <a:gd name="connsiteY4" fmla="*/ 1778000 h 1779068"/>
              <a:gd name="connsiteX5" fmla="*/ 1778000 w 3552800"/>
              <a:gd name="connsiteY5" fmla="*/ 1778000 h 1779068"/>
              <a:gd name="connsiteX6" fmla="*/ 0 w 3552800"/>
              <a:gd name="connsiteY6" fmla="*/ 1779068 h 1779068"/>
              <a:gd name="connsiteX7" fmla="*/ 520386 w 3552800"/>
              <a:gd name="connsiteY7" fmla="*/ 521142 h 1779068"/>
              <a:gd name="connsiteX8" fmla="*/ 1778000 w 3552800"/>
              <a:gd name="connsiteY8" fmla="*/ 0 h 177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2800" h="1779068">
                <a:moveTo>
                  <a:pt x="1778000" y="0"/>
                </a:moveTo>
                <a:lnTo>
                  <a:pt x="2665400" y="0"/>
                </a:lnTo>
                <a:cubicBezTo>
                  <a:pt x="3155498" y="0"/>
                  <a:pt x="3552800" y="397303"/>
                  <a:pt x="3552800" y="887400"/>
                </a:cubicBezTo>
                <a:lnTo>
                  <a:pt x="3552800" y="890600"/>
                </a:lnTo>
                <a:cubicBezTo>
                  <a:pt x="3552800" y="1380697"/>
                  <a:pt x="3155498" y="1778000"/>
                  <a:pt x="2665400" y="1778000"/>
                </a:cubicBezTo>
                <a:lnTo>
                  <a:pt x="1778000" y="1778000"/>
                </a:lnTo>
                <a:lnTo>
                  <a:pt x="0" y="1779068"/>
                </a:lnTo>
                <a:cubicBezTo>
                  <a:pt x="-283" y="1307328"/>
                  <a:pt x="186916" y="854812"/>
                  <a:pt x="520386" y="521142"/>
                </a:cubicBezTo>
                <a:cubicBezTo>
                  <a:pt x="853856" y="187471"/>
                  <a:pt x="1306260" y="0"/>
                  <a:pt x="1778000" y="0"/>
                </a:cubicBezTo>
                <a:close/>
              </a:path>
            </a:pathLst>
          </a:custGeom>
          <a:blipFill>
            <a:blip r:embed="rId3"/>
            <a:stretch>
              <a:fillRect t="-19138" b="-19138"/>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412750" hangingPunct="0">
              <a:lnSpc>
                <a:spcPct val="150000"/>
              </a:lnSpc>
              <a:spcBef>
                <a:spcPts val="1000"/>
              </a:spcBef>
            </a:pPr>
            <a:endParaRPr lang="it-IT" sz="1250" kern="0">
              <a:solidFill>
                <a:srgbClr val="212121"/>
              </a:solidFill>
              <a:latin typeface="Helvetica"/>
              <a:cs typeface="Helvetica"/>
              <a:sym typeface="Helvetica"/>
            </a:endParaRPr>
          </a:p>
        </p:txBody>
      </p:sp>
      <p:sp>
        <p:nvSpPr>
          <p:cNvPr id="12" name="Figura a mano libera 11">
            <a:extLst>
              <a:ext uri="{FF2B5EF4-FFF2-40B4-BE49-F238E27FC236}">
                <a16:creationId xmlns:a16="http://schemas.microsoft.com/office/drawing/2014/main" id="{5F630BC7-E45E-63BD-3E70-19343E59761C}"/>
              </a:ext>
            </a:extLst>
          </p:cNvPr>
          <p:cNvSpPr/>
          <p:nvPr/>
        </p:nvSpPr>
        <p:spPr>
          <a:xfrm rot="10800000">
            <a:off x="6723097" y="1613887"/>
            <a:ext cx="4588888" cy="2298379"/>
          </a:xfrm>
          <a:custGeom>
            <a:avLst/>
            <a:gdLst>
              <a:gd name="connsiteX0" fmla="*/ 1778000 w 3552800"/>
              <a:gd name="connsiteY0" fmla="*/ 0 h 1779068"/>
              <a:gd name="connsiteX1" fmla="*/ 2665400 w 3552800"/>
              <a:gd name="connsiteY1" fmla="*/ 0 h 1779068"/>
              <a:gd name="connsiteX2" fmla="*/ 3552800 w 3552800"/>
              <a:gd name="connsiteY2" fmla="*/ 887400 h 1779068"/>
              <a:gd name="connsiteX3" fmla="*/ 3552800 w 3552800"/>
              <a:gd name="connsiteY3" fmla="*/ 890600 h 1779068"/>
              <a:gd name="connsiteX4" fmla="*/ 2665400 w 3552800"/>
              <a:gd name="connsiteY4" fmla="*/ 1778000 h 1779068"/>
              <a:gd name="connsiteX5" fmla="*/ 1778000 w 3552800"/>
              <a:gd name="connsiteY5" fmla="*/ 1778000 h 1779068"/>
              <a:gd name="connsiteX6" fmla="*/ 0 w 3552800"/>
              <a:gd name="connsiteY6" fmla="*/ 1779068 h 1779068"/>
              <a:gd name="connsiteX7" fmla="*/ 520386 w 3552800"/>
              <a:gd name="connsiteY7" fmla="*/ 521142 h 1779068"/>
              <a:gd name="connsiteX8" fmla="*/ 1778000 w 3552800"/>
              <a:gd name="connsiteY8" fmla="*/ 0 h 177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2800" h="1779068">
                <a:moveTo>
                  <a:pt x="1778000" y="0"/>
                </a:moveTo>
                <a:lnTo>
                  <a:pt x="2665400" y="0"/>
                </a:lnTo>
                <a:cubicBezTo>
                  <a:pt x="3155498" y="0"/>
                  <a:pt x="3552800" y="397303"/>
                  <a:pt x="3552800" y="887400"/>
                </a:cubicBezTo>
                <a:lnTo>
                  <a:pt x="3552800" y="890600"/>
                </a:lnTo>
                <a:cubicBezTo>
                  <a:pt x="3552800" y="1380697"/>
                  <a:pt x="3155498" y="1778000"/>
                  <a:pt x="2665400" y="1778000"/>
                </a:cubicBezTo>
                <a:lnTo>
                  <a:pt x="1778000" y="1778000"/>
                </a:lnTo>
                <a:lnTo>
                  <a:pt x="0" y="1779068"/>
                </a:lnTo>
                <a:cubicBezTo>
                  <a:pt x="-283" y="1307328"/>
                  <a:pt x="186916" y="854812"/>
                  <a:pt x="520386" y="521142"/>
                </a:cubicBezTo>
                <a:cubicBezTo>
                  <a:pt x="853856" y="187471"/>
                  <a:pt x="1306260" y="0"/>
                  <a:pt x="1778000" y="0"/>
                </a:cubicBezTo>
                <a:close/>
              </a:path>
            </a:pathLst>
          </a:custGeom>
          <a:blipFill dpi="0" rotWithShape="0">
            <a:blip r:embed="rId4"/>
            <a:srcRect/>
            <a:stretch>
              <a:fillRect t="-19138" b="-19138"/>
            </a:stretch>
          </a:blipFill>
          <a:ln w="25400" cap="flat">
            <a:noFill/>
            <a:prstDash val="solid"/>
            <a:round/>
          </a:ln>
          <a:effectLst/>
          <a:scene3d>
            <a:camera prst="orthographicFront">
              <a:rot lat="0" lon="0" rev="0"/>
            </a:camera>
            <a:lightRig rig="threePt" dir="t"/>
          </a:scene3d>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defTabSz="412750" hangingPunct="0">
              <a:lnSpc>
                <a:spcPct val="150000"/>
              </a:lnSpc>
              <a:spcBef>
                <a:spcPts val="1000"/>
              </a:spcBef>
            </a:pPr>
            <a:endParaRPr lang="it-IT" sz="1250" kern="0">
              <a:solidFill>
                <a:srgbClr val="212121"/>
              </a:solidFill>
              <a:latin typeface="Helvetica"/>
              <a:cs typeface="Helvetica"/>
              <a:sym typeface="Helvetica"/>
            </a:endParaRPr>
          </a:p>
        </p:txBody>
      </p:sp>
    </p:spTree>
    <p:extLst>
      <p:ext uri="{BB962C8B-B14F-4D97-AF65-F5344CB8AC3E}">
        <p14:creationId xmlns:p14="http://schemas.microsoft.com/office/powerpoint/2010/main" val="2839812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A1FE505-6E54-C07E-CFAF-C7A29D1FFE66}"/>
              </a:ext>
            </a:extLst>
          </p:cNvPr>
          <p:cNvSpPr txBox="1"/>
          <p:nvPr/>
        </p:nvSpPr>
        <p:spPr>
          <a:xfrm>
            <a:off x="1073591" y="293048"/>
            <a:ext cx="8564839" cy="1051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r>
              <a:rPr lang="it-IT" sz="3000" kern="0">
                <a:solidFill>
                  <a:srgbClr val="FFFFFF"/>
                </a:solidFill>
                <a:latin typeface="Source Sans Pro Light" panose="020B0403030403020204" pitchFamily="34" charset="0"/>
                <a:ea typeface="Source Sans Pro Light"/>
                <a:cs typeface="Helvetica"/>
                <a:sym typeface="Helvetica"/>
              </a:rPr>
              <a:t>Argomenti che affronteremo:</a:t>
            </a:r>
          </a:p>
        </p:txBody>
      </p:sp>
      <p:sp>
        <p:nvSpPr>
          <p:cNvPr id="4" name="CasellaDiTesto 3">
            <a:extLst>
              <a:ext uri="{FF2B5EF4-FFF2-40B4-BE49-F238E27FC236}">
                <a16:creationId xmlns:a16="http://schemas.microsoft.com/office/drawing/2014/main" id="{A595A36F-B76B-61C1-47CF-A8A5DB8FD247}"/>
              </a:ext>
            </a:extLst>
          </p:cNvPr>
          <p:cNvSpPr txBox="1"/>
          <p:nvPr/>
        </p:nvSpPr>
        <p:spPr>
          <a:xfrm>
            <a:off x="1073591" y="1592646"/>
            <a:ext cx="8436424" cy="41960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nSpc>
                <a:spcPts val="1960"/>
              </a:lnSpc>
            </a:pPr>
            <a:r>
              <a:rPr lang="it-IT" b="1" kern="100" dirty="0">
                <a:solidFill>
                  <a:srgbClr val="FFFFFF"/>
                </a:solidFill>
                <a:latin typeface="Source Sans Pro Semibold" panose="020B0503030403020204" pitchFamily="34" charset="0"/>
                <a:cs typeface="Times New Roman"/>
              </a:rPr>
              <a:t>- Processo di </a:t>
            </a:r>
            <a:r>
              <a:rPr lang="it-IT" b="1" kern="100" dirty="0" err="1">
                <a:solidFill>
                  <a:srgbClr val="FFFFFF"/>
                </a:solidFill>
                <a:latin typeface="Source Sans Pro Semibold" panose="020B0503030403020204" pitchFamily="34" charset="0"/>
                <a:cs typeface="Times New Roman"/>
              </a:rPr>
              <a:t>Onboarding</a:t>
            </a:r>
            <a:r>
              <a:rPr lang="it-IT" b="1" kern="100" dirty="0">
                <a:solidFill>
                  <a:srgbClr val="FFFFFF"/>
                </a:solidFill>
                <a:latin typeface="Source Sans Pro Semibold" panose="020B0503030403020204" pitchFamily="34" charset="0"/>
                <a:cs typeface="Times New Roman"/>
              </a:rPr>
              <a:t> e attivazione Pagamenti e Servizi a Valore Aggiunto (VAS)</a:t>
            </a:r>
            <a:endParaRPr lang="it-IT" b="1" kern="100" dirty="0">
              <a:solidFill>
                <a:srgbClr val="212121"/>
              </a:solidFill>
              <a:latin typeface="Source Sans Pro Semibold" panose="020B0503030403020204" pitchFamily="34" charset="0"/>
              <a:cs typeface="Times New Roman"/>
            </a:endParaRPr>
          </a:p>
          <a:p>
            <a:pPr marL="285750" indent="-285750">
              <a:lnSpc>
                <a:spcPts val="1960"/>
              </a:lnSpc>
              <a:buFont typeface="Arial,Sans-Serif"/>
              <a:buChar char="•"/>
            </a:pPr>
            <a:r>
              <a:rPr lang="it-IT" kern="100" dirty="0">
                <a:solidFill>
                  <a:srgbClr val="FFFFFF"/>
                </a:solidFill>
                <a:latin typeface="Source Sans Pro Light" panose="020B0403030403020204" pitchFamily="34" charset="0"/>
                <a:cs typeface="Times New Roman"/>
              </a:rPr>
              <a:t>Come compilare la lead e dove inviarla</a:t>
            </a:r>
            <a:endParaRPr lang="en-US" kern="100" dirty="0">
              <a:solidFill>
                <a:srgbClr val="212121"/>
              </a:solidFill>
              <a:latin typeface="Source Sans Pro Light" panose="020B0403030403020204" pitchFamily="34" charset="0"/>
              <a:cs typeface="Times New Roman"/>
            </a:endParaRPr>
          </a:p>
          <a:p>
            <a:pPr marL="285750" indent="-285750">
              <a:lnSpc>
                <a:spcPts val="1960"/>
              </a:lnSpc>
              <a:buFont typeface="Arial,Sans-Serif"/>
              <a:buChar char="•"/>
            </a:pPr>
            <a:r>
              <a:rPr lang="it-IT" kern="100" dirty="0">
                <a:solidFill>
                  <a:srgbClr val="FFFFFF"/>
                </a:solidFill>
                <a:latin typeface="Source Sans Pro Light" panose="020B0403030403020204" pitchFamily="34" charset="0"/>
                <a:cs typeface="Times New Roman"/>
              </a:rPr>
              <a:t>I tempi di attivazione del contratto di </a:t>
            </a:r>
            <a:r>
              <a:rPr lang="it-IT" kern="100" dirty="0" err="1">
                <a:solidFill>
                  <a:srgbClr val="FFFFFF"/>
                </a:solidFill>
                <a:latin typeface="Source Sans Pro Light" panose="020B0403030403020204" pitchFamily="34" charset="0"/>
                <a:cs typeface="Times New Roman"/>
              </a:rPr>
              <a:t>acquiring</a:t>
            </a:r>
            <a:r>
              <a:rPr lang="it-IT" kern="100" dirty="0">
                <a:solidFill>
                  <a:srgbClr val="FFFFFF"/>
                </a:solidFill>
                <a:latin typeface="Source Sans Pro Light" panose="020B0403030403020204" pitchFamily="34" charset="0"/>
                <a:cs typeface="Times New Roman"/>
              </a:rPr>
              <a:t> </a:t>
            </a:r>
            <a:endParaRPr lang="en-US" kern="100" dirty="0">
              <a:solidFill>
                <a:srgbClr val="212121"/>
              </a:solidFill>
              <a:latin typeface="Source Sans Pro Light" panose="020B0403030403020204" pitchFamily="34" charset="0"/>
              <a:cs typeface="Times New Roman"/>
            </a:endParaRPr>
          </a:p>
          <a:p>
            <a:pPr>
              <a:lnSpc>
                <a:spcPts val="1960"/>
              </a:lnSpc>
            </a:pPr>
            <a:endParaRPr lang="it-IT" kern="100" dirty="0">
              <a:solidFill>
                <a:srgbClr val="FFFFFF"/>
              </a:solidFill>
              <a:latin typeface="Source Sans Pro Light" panose="020B0403030403020204" pitchFamily="34" charset="0"/>
              <a:cs typeface="Times New Roman" panose="02020603050405020304" pitchFamily="18" charset="0"/>
            </a:endParaRPr>
          </a:p>
          <a:p>
            <a:pPr>
              <a:lnSpc>
                <a:spcPts val="1960"/>
              </a:lnSpc>
            </a:pPr>
            <a:r>
              <a:rPr lang="it-IT" b="1" kern="100" dirty="0">
                <a:solidFill>
                  <a:srgbClr val="FFFFFF"/>
                </a:solidFill>
                <a:latin typeface="Source Sans Pro Semibold" panose="020B0503030403020204" pitchFamily="34" charset="0"/>
                <a:cs typeface="Times New Roman"/>
              </a:rPr>
              <a:t>- Portale Operations, il portale di gestione del parco installato;</a:t>
            </a: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Il ticket di installazione</a:t>
            </a:r>
            <a:endParaRPr lang="it-IT" kern="100" dirty="0">
              <a:solidFill>
                <a:srgbClr val="FFFFFF"/>
              </a:solidFill>
              <a:latin typeface="Source Sans Pro Light" panose="020B0403030403020204" pitchFamily="34" charset="0"/>
              <a:cs typeface="Times New Roman" panose="02020603050405020304" pitchFamily="18" charset="0"/>
            </a:endParaRP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La chiusura del Ticket</a:t>
            </a:r>
          </a:p>
          <a:p>
            <a:pPr>
              <a:lnSpc>
                <a:spcPts val="1960"/>
              </a:lnSpc>
            </a:pPr>
            <a:endParaRPr lang="it-IT" kern="100" dirty="0">
              <a:solidFill>
                <a:srgbClr val="FF0000"/>
              </a:solidFill>
              <a:latin typeface="Source Sans Pro Light" panose="020B0403030403020204" pitchFamily="34" charset="0"/>
              <a:cs typeface="Times New Roman" panose="02020603050405020304" pitchFamily="18" charset="0"/>
            </a:endParaRPr>
          </a:p>
          <a:p>
            <a:pPr>
              <a:lnSpc>
                <a:spcPts val="1960"/>
              </a:lnSpc>
            </a:pPr>
            <a:r>
              <a:rPr lang="it-IT" b="1" kern="100" dirty="0">
                <a:solidFill>
                  <a:srgbClr val="FFFFFF"/>
                </a:solidFill>
                <a:latin typeface="Source Sans Pro Semibold" panose="020B0503030403020204" pitchFamily="34" charset="0"/>
                <a:cs typeface="Times New Roman"/>
              </a:rPr>
              <a:t>- Le possibili configurazioni POS + RT </a:t>
            </a:r>
            <a:endParaRPr lang="it-IT" b="1" dirty="0">
              <a:solidFill>
                <a:srgbClr val="212121"/>
              </a:solidFill>
              <a:latin typeface="Source Sans Pro Semibold" panose="020B0503030403020204" pitchFamily="34" charset="0"/>
            </a:endParaRP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configurazione </a:t>
            </a:r>
            <a:r>
              <a:rPr lang="it-IT" kern="100" dirty="0" err="1">
                <a:solidFill>
                  <a:srgbClr val="FFFFFF"/>
                </a:solidFill>
                <a:latin typeface="Source Sans Pro Light" panose="020B0403030403020204" pitchFamily="34" charset="0"/>
                <a:cs typeface="Times New Roman"/>
              </a:rPr>
              <a:t>Omni</a:t>
            </a:r>
            <a:r>
              <a:rPr lang="it-IT" kern="100" dirty="0">
                <a:solidFill>
                  <a:srgbClr val="FFFFFF"/>
                </a:solidFill>
                <a:latin typeface="Source Sans Pro Light" panose="020B0403030403020204" pitchFamily="34" charset="0"/>
                <a:cs typeface="Times New Roman"/>
              </a:rPr>
              <a:t> Key e </a:t>
            </a:r>
            <a:r>
              <a:rPr lang="it-IT" kern="100" dirty="0" err="1">
                <a:solidFill>
                  <a:srgbClr val="FFFFFF"/>
                </a:solidFill>
                <a:latin typeface="Source Sans Pro Light" panose="020B0403030403020204" pitchFamily="34" charset="0"/>
                <a:cs typeface="Times New Roman"/>
              </a:rPr>
              <a:t>Omni</a:t>
            </a:r>
            <a:r>
              <a:rPr lang="it-IT" kern="100" dirty="0">
                <a:solidFill>
                  <a:srgbClr val="FFFFFF"/>
                </a:solidFill>
                <a:latin typeface="Source Sans Pro Light" panose="020B0403030403020204" pitchFamily="34" charset="0"/>
                <a:cs typeface="Times New Roman"/>
              </a:rPr>
              <a:t> Touch</a:t>
            </a: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Configurazione Edge+ Soft </a:t>
            </a:r>
            <a:r>
              <a:rPr lang="it-IT" kern="100" dirty="0" err="1">
                <a:solidFill>
                  <a:srgbClr val="FFFFFF"/>
                </a:solidFill>
                <a:latin typeface="Source Sans Pro Light" panose="020B0403030403020204" pitchFamily="34" charset="0"/>
                <a:cs typeface="Times New Roman"/>
              </a:rPr>
              <a:t>pos</a:t>
            </a:r>
            <a:endParaRPr lang="it-IT" dirty="0">
              <a:solidFill>
                <a:srgbClr val="212121"/>
              </a:solidFill>
              <a:latin typeface="Source Sans Pro Light" panose="020B0403030403020204" pitchFamily="34" charset="0"/>
              <a:cs typeface="Times New Roman"/>
            </a:endParaRPr>
          </a:p>
          <a:p>
            <a:pPr>
              <a:lnSpc>
                <a:spcPts val="1960"/>
              </a:lnSpc>
            </a:pPr>
            <a:endParaRPr lang="it-IT" kern="100" dirty="0">
              <a:solidFill>
                <a:srgbClr val="FF0000"/>
              </a:solidFill>
              <a:latin typeface="Source Sans Pro Light" panose="020B0403030403020204" pitchFamily="34" charset="0"/>
              <a:cs typeface="Times New Roman" panose="02020603050405020304" pitchFamily="18" charset="0"/>
            </a:endParaRPr>
          </a:p>
          <a:p>
            <a:pPr>
              <a:lnSpc>
                <a:spcPts val="1960"/>
              </a:lnSpc>
            </a:pPr>
            <a:r>
              <a:rPr lang="it-IT" b="1" kern="100" dirty="0">
                <a:solidFill>
                  <a:srgbClr val="FFFFFF"/>
                </a:solidFill>
                <a:latin typeface="Source Sans Pro Semibold" panose="020B0503030403020204" pitchFamily="34" charset="0"/>
                <a:cs typeface="Times New Roman"/>
              </a:rPr>
              <a:t>- Max Store, la piattaforma di telegestione dei terminali;</a:t>
            </a: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Come vedere i terminali da remoto</a:t>
            </a:r>
            <a:endParaRPr lang="it-IT" kern="100" dirty="0">
              <a:solidFill>
                <a:srgbClr val="FFFFFF"/>
              </a:solidFill>
              <a:latin typeface="Source Sans Pro Light" panose="020B0403030403020204" pitchFamily="34" charset="0"/>
              <a:cs typeface="Times New Roman" panose="02020603050405020304" pitchFamily="18" charset="0"/>
            </a:endParaRPr>
          </a:p>
          <a:p>
            <a:pPr marL="285750" indent="-285750">
              <a:lnSpc>
                <a:spcPts val="1960"/>
              </a:lnSpc>
              <a:buFont typeface="Arial"/>
              <a:buChar char="•"/>
            </a:pPr>
            <a:r>
              <a:rPr lang="it-IT" kern="100" dirty="0">
                <a:solidFill>
                  <a:srgbClr val="FFFFFF"/>
                </a:solidFill>
                <a:latin typeface="Source Sans Pro Light" panose="020B0403030403020204" pitchFamily="34" charset="0"/>
                <a:cs typeface="Times New Roman"/>
              </a:rPr>
              <a:t>La configurazione da remoto</a:t>
            </a:r>
            <a:endParaRPr lang="it-IT" kern="100" dirty="0">
              <a:solidFill>
                <a:srgbClr val="FFFFFF"/>
              </a:solidFill>
              <a:latin typeface="Source Sans Pro Light" panose="020B0403030403020204" pitchFamily="34" charset="0"/>
              <a:cs typeface="Times New Roman" panose="02020603050405020304" pitchFamily="18" charset="0"/>
            </a:endParaRPr>
          </a:p>
          <a:p>
            <a:pPr>
              <a:lnSpc>
                <a:spcPts val="1960"/>
              </a:lnSpc>
            </a:pPr>
            <a:endParaRPr lang="it-IT" kern="100" dirty="0">
              <a:solidFill>
                <a:srgbClr val="FFFFFF"/>
              </a:solidFill>
              <a:latin typeface="Source Sans Pro Light" panose="020B0403030403020204" pitchFamily="34" charset="0"/>
              <a:cs typeface="Times New Roman" panose="02020603050405020304" pitchFamily="18" charset="0"/>
            </a:endParaRPr>
          </a:p>
        </p:txBody>
      </p:sp>
      <p:pic>
        <p:nvPicPr>
          <p:cNvPr id="3" name="Immagine 2">
            <a:extLst>
              <a:ext uri="{FF2B5EF4-FFF2-40B4-BE49-F238E27FC236}">
                <a16:creationId xmlns:a16="http://schemas.microsoft.com/office/drawing/2014/main" id="{2EA0844F-0FCC-9A59-DB11-3BD7272CC2E3}"/>
              </a:ext>
            </a:extLst>
          </p:cNvPr>
          <p:cNvPicPr>
            <a:picLocks noChangeAspect="1"/>
          </p:cNvPicPr>
          <p:nvPr/>
        </p:nvPicPr>
        <p:blipFill>
          <a:blip r:embed="rId2"/>
          <a:stretch>
            <a:fillRect/>
          </a:stretch>
        </p:blipFill>
        <p:spPr>
          <a:xfrm>
            <a:off x="0" y="0"/>
            <a:ext cx="12192000" cy="6857999"/>
          </a:xfrm>
          <a:prstGeom prst="rect">
            <a:avLst/>
          </a:prstGeom>
        </p:spPr>
      </p:pic>
      <p:pic>
        <p:nvPicPr>
          <p:cNvPr id="5" name="Immagine 4" descr="Immagine che contiene Dispositivo elettronico, gadget, Cellulare, elettronica&#10;&#10;Il contenuto generato dall'IA potrebbe non essere corretto.">
            <a:extLst>
              <a:ext uri="{FF2B5EF4-FFF2-40B4-BE49-F238E27FC236}">
                <a16:creationId xmlns:a16="http://schemas.microsoft.com/office/drawing/2014/main" id="{04667171-747E-D509-3B3A-2947BCF60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6678" y="2092087"/>
            <a:ext cx="1654024" cy="1654024"/>
          </a:xfrm>
          <a:prstGeom prst="rect">
            <a:avLst/>
          </a:prstGeom>
        </p:spPr>
      </p:pic>
      <p:pic>
        <p:nvPicPr>
          <p:cNvPr id="6" name="Immagine 5" descr="Immagine che contiene Cellulare, testo, gadget, Dispositivo portatile per comunicazioni&#10;&#10;Il contenuto generato dall'IA potrebbe non essere corretto.">
            <a:extLst>
              <a:ext uri="{FF2B5EF4-FFF2-40B4-BE49-F238E27FC236}">
                <a16:creationId xmlns:a16="http://schemas.microsoft.com/office/drawing/2014/main" id="{64047261-B1C9-EFE7-2200-4C11AA012C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9" y="1961568"/>
            <a:ext cx="1693852" cy="1693852"/>
          </a:xfrm>
          <a:prstGeom prst="rect">
            <a:avLst/>
          </a:prstGeom>
        </p:spPr>
      </p:pic>
    </p:spTree>
    <p:extLst>
      <p:ext uri="{BB962C8B-B14F-4D97-AF65-F5344CB8AC3E}">
        <p14:creationId xmlns:p14="http://schemas.microsoft.com/office/powerpoint/2010/main" val="72178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892BECDB-A547-C5A6-4D62-65F325C90347}"/>
              </a:ext>
            </a:extLst>
          </p:cNvPr>
          <p:cNvSpPr txBox="1"/>
          <p:nvPr/>
        </p:nvSpPr>
        <p:spPr>
          <a:xfrm>
            <a:off x="519820" y="1817229"/>
            <a:ext cx="6756959"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3000" b="1">
                <a:solidFill>
                  <a:srgbClr val="FFFFFF"/>
                </a:solidFill>
                <a:latin typeface="Source Sans Pro" panose="020B0503030403020204" pitchFamily="34" charset="0"/>
                <a:ea typeface="Source Sans Pro Light"/>
              </a:rPr>
              <a:t>Processo di </a:t>
            </a:r>
            <a:r>
              <a:rPr lang="it-IT" sz="3000" b="1" err="1">
                <a:solidFill>
                  <a:srgbClr val="FFFFFF"/>
                </a:solidFill>
                <a:latin typeface="Source Sans Pro" panose="020B0503030403020204" pitchFamily="34" charset="0"/>
                <a:ea typeface="Source Sans Pro Light"/>
              </a:rPr>
              <a:t>Onboarding</a:t>
            </a:r>
            <a:r>
              <a:rPr lang="it-IT" sz="3000" b="1">
                <a:solidFill>
                  <a:srgbClr val="FFFFFF"/>
                </a:solidFill>
                <a:latin typeface="Source Sans Pro" panose="020B0503030403020204" pitchFamily="34" charset="0"/>
                <a:ea typeface="Source Sans Pro Light"/>
              </a:rPr>
              <a:t> CUSTOM </a:t>
            </a:r>
            <a:r>
              <a:rPr lang="it-IT" sz="3000" b="1" err="1">
                <a:solidFill>
                  <a:srgbClr val="FFFFFF"/>
                </a:solidFill>
                <a:latin typeface="Source Sans Pro" panose="020B0503030403020204" pitchFamily="34" charset="0"/>
                <a:ea typeface="Source Sans Pro Light"/>
              </a:rPr>
              <a:t>Pay</a:t>
            </a:r>
            <a:endParaRPr lang="it-IT" sz="3000" b="1">
              <a:solidFill>
                <a:srgbClr val="FFFFFF"/>
              </a:solidFill>
              <a:latin typeface="Source Sans Pro" panose="020B0503030403020204" pitchFamily="34" charset="0"/>
              <a:ea typeface="Source Sans Pro Light"/>
            </a:endParaRPr>
          </a:p>
        </p:txBody>
      </p:sp>
      <p:sp>
        <p:nvSpPr>
          <p:cNvPr id="4" name="CasellaDiTesto 3">
            <a:extLst>
              <a:ext uri="{FF2B5EF4-FFF2-40B4-BE49-F238E27FC236}">
                <a16:creationId xmlns:a16="http://schemas.microsoft.com/office/drawing/2014/main" id="{E6215F30-134F-7A72-C91F-5E2D27CEC487}"/>
              </a:ext>
            </a:extLst>
          </p:cNvPr>
          <p:cNvSpPr txBox="1"/>
          <p:nvPr/>
        </p:nvSpPr>
        <p:spPr>
          <a:xfrm>
            <a:off x="542872" y="3098105"/>
            <a:ext cx="6321437" cy="1993238"/>
          </a:xfrm>
          <a:prstGeom prst="rect">
            <a:avLst/>
          </a:prstGeom>
          <a:noFill/>
        </p:spPr>
        <p:txBody>
          <a:bodyPr wrap="square">
            <a:spAutoFit/>
          </a:bodyPr>
          <a:lstStyle/>
          <a:p>
            <a:pPr>
              <a:lnSpc>
                <a:spcPct val="115000"/>
              </a:lnSpc>
              <a:spcAft>
                <a:spcPts val="800"/>
              </a:spcAft>
            </a:pPr>
            <a:r>
              <a:rPr lang="it-IT" kern="100">
                <a:solidFill>
                  <a:schemeClr val="bg1"/>
                </a:solidFill>
                <a:latin typeface="Source Sans Pro Light" panose="020B0403030403020204" pitchFamily="34" charset="0"/>
                <a:ea typeface="Aptos" panose="020B0004020202020204" pitchFamily="34" charset="0"/>
                <a:cs typeface="Times New Roman" panose="02020603050405020304" pitchFamily="18" charset="0"/>
              </a:rPr>
              <a:t>Verranno illustrate tutte le fasi dell’</a:t>
            </a:r>
            <a:r>
              <a:rPr lang="it-IT" kern="100" err="1">
                <a:solidFill>
                  <a:schemeClr val="bg1"/>
                </a:solidFill>
                <a:latin typeface="Source Sans Pro Light" panose="020B0403030403020204" pitchFamily="34" charset="0"/>
                <a:ea typeface="Aptos" panose="020B0004020202020204" pitchFamily="34" charset="0"/>
                <a:cs typeface="Times New Roman" panose="02020603050405020304" pitchFamily="18" charset="0"/>
              </a:rPr>
              <a:t>onboarding</a:t>
            </a:r>
            <a:r>
              <a:rPr lang="it-IT" kern="100">
                <a:solidFill>
                  <a:schemeClr val="bg1"/>
                </a:solidFill>
                <a:latin typeface="Source Sans Pro Light" panose="020B0403030403020204" pitchFamily="34" charset="0"/>
                <a:ea typeface="Aptos" panose="020B0004020202020204" pitchFamily="34" charset="0"/>
                <a:cs typeface="Times New Roman" panose="02020603050405020304" pitchFamily="18" charset="0"/>
              </a:rPr>
              <a:t> di un nuovo esercente, dalla raccolta delle informazioni commerciali fino all’attivazione del terminale e dei servizi a valore aggiunto (come loyalty, Buoni pasto, charity ecc.). Il modulo comprende anche l'associazione del terminale ai sistemi di </a:t>
            </a:r>
            <a:r>
              <a:rPr lang="it-IT" kern="100" err="1">
                <a:solidFill>
                  <a:schemeClr val="bg1"/>
                </a:solidFill>
                <a:latin typeface="Source Sans Pro Light" panose="020B0403030403020204" pitchFamily="34" charset="0"/>
                <a:ea typeface="Aptos" panose="020B0004020202020204" pitchFamily="34" charset="0"/>
                <a:cs typeface="Times New Roman" panose="02020603050405020304" pitchFamily="18" charset="0"/>
              </a:rPr>
              <a:t>acquiring</a:t>
            </a:r>
            <a:r>
              <a:rPr lang="it-IT" kern="100">
                <a:solidFill>
                  <a:schemeClr val="bg1"/>
                </a:solidFill>
                <a:latin typeface="Source Sans Pro Light" panose="020B0403030403020204" pitchFamily="34" charset="0"/>
                <a:ea typeface="Aptos" panose="020B0004020202020204" pitchFamily="34" charset="0"/>
                <a:cs typeface="Times New Roman" panose="02020603050405020304" pitchFamily="18" charset="0"/>
              </a:rPr>
              <a:t> e la verifica del corretto funzionamento dei servizi attivi.</a:t>
            </a:r>
          </a:p>
        </p:txBody>
      </p:sp>
    </p:spTree>
    <p:extLst>
      <p:ext uri="{BB962C8B-B14F-4D97-AF65-F5344CB8AC3E}">
        <p14:creationId xmlns:p14="http://schemas.microsoft.com/office/powerpoint/2010/main" val="203762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FEFDF-02AD-CF36-4928-B7CDE17EF1B7}"/>
            </a:ext>
          </a:extLst>
        </p:cNvPr>
        <p:cNvGrpSpPr/>
        <p:nvPr/>
      </p:nvGrpSpPr>
      <p:grpSpPr>
        <a:xfrm>
          <a:off x="0" y="0"/>
          <a:ext cx="0" cy="0"/>
          <a:chOff x="0" y="0"/>
          <a:chExt cx="0" cy="0"/>
        </a:xfrm>
      </p:grpSpPr>
      <p:graphicFrame>
        <p:nvGraphicFramePr>
          <p:cNvPr id="24" name="Tabella 23">
            <a:extLst>
              <a:ext uri="{FF2B5EF4-FFF2-40B4-BE49-F238E27FC236}">
                <a16:creationId xmlns:a16="http://schemas.microsoft.com/office/drawing/2014/main" id="{40CCD077-6C3F-5B9C-A031-5BF9E515D167}"/>
              </a:ext>
            </a:extLst>
          </p:cNvPr>
          <p:cNvGraphicFramePr>
            <a:graphicFrameLocks noGrp="1"/>
          </p:cNvGraphicFramePr>
          <p:nvPr>
            <p:extLst>
              <p:ext uri="{D42A27DB-BD31-4B8C-83A1-F6EECF244321}">
                <p14:modId xmlns:p14="http://schemas.microsoft.com/office/powerpoint/2010/main" val="3271277798"/>
              </p:ext>
            </p:extLst>
          </p:nvPr>
        </p:nvGraphicFramePr>
        <p:xfrm>
          <a:off x="646940" y="1183341"/>
          <a:ext cx="10902716" cy="4956309"/>
        </p:xfrm>
        <a:graphic>
          <a:graphicData uri="http://schemas.openxmlformats.org/drawingml/2006/table">
            <a:tbl>
              <a:tblPr bandRow="1">
                <a:tableStyleId>{5C22544A-7EE6-4342-B048-85BDC9FD1C3A}</a:tableStyleId>
              </a:tblPr>
              <a:tblGrid>
                <a:gridCol w="1185333">
                  <a:extLst>
                    <a:ext uri="{9D8B030D-6E8A-4147-A177-3AD203B41FA5}">
                      <a16:colId xmlns:a16="http://schemas.microsoft.com/office/drawing/2014/main" val="1746121381"/>
                    </a:ext>
                  </a:extLst>
                </a:gridCol>
                <a:gridCol w="1675684">
                  <a:extLst>
                    <a:ext uri="{9D8B030D-6E8A-4147-A177-3AD203B41FA5}">
                      <a16:colId xmlns:a16="http://schemas.microsoft.com/office/drawing/2014/main" val="2571344274"/>
                    </a:ext>
                  </a:extLst>
                </a:gridCol>
                <a:gridCol w="3221691">
                  <a:extLst>
                    <a:ext uri="{9D8B030D-6E8A-4147-A177-3AD203B41FA5}">
                      <a16:colId xmlns:a16="http://schemas.microsoft.com/office/drawing/2014/main" val="857121072"/>
                    </a:ext>
                  </a:extLst>
                </a:gridCol>
                <a:gridCol w="2363918">
                  <a:extLst>
                    <a:ext uri="{9D8B030D-6E8A-4147-A177-3AD203B41FA5}">
                      <a16:colId xmlns:a16="http://schemas.microsoft.com/office/drawing/2014/main" val="907205418"/>
                    </a:ext>
                  </a:extLst>
                </a:gridCol>
                <a:gridCol w="2456090">
                  <a:extLst>
                    <a:ext uri="{9D8B030D-6E8A-4147-A177-3AD203B41FA5}">
                      <a16:colId xmlns:a16="http://schemas.microsoft.com/office/drawing/2014/main" val="1902542609"/>
                    </a:ext>
                  </a:extLst>
                </a:gridCol>
              </a:tblGrid>
              <a:tr h="459853">
                <a:tc>
                  <a:txBody>
                    <a:bodyPr/>
                    <a:lstStyle/>
                    <a:p>
                      <a:pPr algn="ctr"/>
                      <a:r>
                        <a:rPr lang="it-IT" sz="1200">
                          <a:solidFill>
                            <a:schemeClr val="bg1">
                              <a:lumMod val="20000"/>
                              <a:lumOff val="80000"/>
                            </a:schemeClr>
                          </a:solidFill>
                          <a:latin typeface="Source Sans Pro"/>
                        </a:rPr>
                        <a:t>Giorni LAVORATIVI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err="1">
                          <a:solidFill>
                            <a:schemeClr val="bg1">
                              <a:lumMod val="20000"/>
                              <a:lumOff val="80000"/>
                            </a:schemeClr>
                          </a:solidFill>
                          <a:latin typeface="Source Sans Pro" panose="020B0503030403020204" pitchFamily="34" charset="0"/>
                        </a:rPr>
                        <a:t>Nexi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51240398"/>
                  </a:ext>
                </a:extLst>
              </a:tr>
              <a:tr h="612000">
                <a:tc>
                  <a:txBody>
                    <a:bodyPr/>
                    <a:lstStyle/>
                    <a:p>
                      <a:pPr algn="ctr"/>
                      <a:r>
                        <a:rPr lang="it-IT" sz="2400">
                          <a:solidFill>
                            <a:schemeClr val="bg1">
                              <a:lumMod val="20000"/>
                              <a:lumOff val="80000"/>
                            </a:schemeClr>
                          </a:solidFill>
                          <a:latin typeface="Source Sans Pro"/>
                        </a:rPr>
                        <a:t>1</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r>
                        <a:rPr lang="it-IT" sz="1100" b="0" i="0" cap="none" spc="0">
                          <a:latin typeface="Source Sans Pro Light"/>
                        </a:rPr>
                        <a:t>Compila la lead e la invia a 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Prende in carico la richiesta di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246931"/>
                  </a:ext>
                </a:extLst>
              </a:tr>
              <a:tr h="612000">
                <a:tc>
                  <a:txBody>
                    <a:bodyPr/>
                    <a:lstStyle/>
                    <a:p>
                      <a:pPr algn="ctr"/>
                      <a:r>
                        <a:rPr lang="it-IT" sz="2400">
                          <a:solidFill>
                            <a:schemeClr val="bg1">
                              <a:lumMod val="20000"/>
                              <a:lumOff val="80000"/>
                            </a:schemeClr>
                          </a:solidFill>
                          <a:latin typeface="Source Sans Pro"/>
                        </a:rPr>
                        <a:t>2</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documento di sintesi con le commissioni all'esercente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864296"/>
                  </a:ext>
                </a:extLst>
              </a:tr>
              <a:tr h="612000">
                <a:tc rowSpan="3">
                  <a:txBody>
                    <a:bodyPr/>
                    <a:lstStyle/>
                    <a:p>
                      <a:pPr algn="ctr"/>
                      <a:r>
                        <a:rPr lang="it-IT" sz="2400">
                          <a:solidFill>
                            <a:schemeClr val="bg1">
                              <a:lumMod val="20000"/>
                              <a:lumOff val="80000"/>
                            </a:schemeClr>
                          </a:solidFill>
                          <a:latin typeface="Source Sans Pro"/>
                        </a:rPr>
                        <a:t>3-7</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il contratto per la firma remota all'esercente </a:t>
                      </a:r>
                      <a:br>
                        <a:rPr lang="it-IT" sz="1100" b="0" i="0" cap="none" spc="0">
                          <a:latin typeface="Source Sans Pro Light"/>
                        </a:rPr>
                      </a:br>
                      <a:r>
                        <a:rPr lang="it-IT" sz="1100" b="0" i="0" cap="none" spc="0">
                          <a:latin typeface="Source Sans Pro Light"/>
                        </a:rPr>
                        <a:t>e lo contatta</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u="none" strike="noStrike" cap="none" spc="0" noProof="0">
                        <a:solidFill>
                          <a:srgbClr val="212121"/>
                        </a:solidFill>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Firma digitalmente con SPID </a:t>
                      </a:r>
                      <a:br>
                        <a:rPr lang="it-IT" sz="1100" b="0" i="0" cap="none" spc="0">
                          <a:latin typeface="Source Sans Pro Light"/>
                        </a:rPr>
                      </a:br>
                      <a:r>
                        <a:rPr lang="it-IT" sz="1100" b="0" i="0" cap="none" spc="0">
                          <a:latin typeface="Source Sans Pro Light"/>
                        </a:rPr>
                        <a:t>o videoselfie il contratto di acquiring </a:t>
                      </a:r>
                      <a:br>
                        <a:rPr lang="it-IT" sz="1100" b="0" i="0" cap="none" spc="0">
                          <a:latin typeface="Source Sans Pro Light"/>
                        </a:rPr>
                      </a:br>
                      <a:r>
                        <a:rPr lang="it-IT" sz="1100" b="0" i="0" cap="none" spc="0">
                          <a:latin typeface="Source Sans Pro Light"/>
                        </a:rPr>
                        <a:t>e noleggio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597431"/>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Invia i contratti firmati a nexi</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905826"/>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Adeguata verifica (AML)</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62953"/>
                  </a:ext>
                </a:extLst>
              </a:tr>
              <a:tr h="612000">
                <a:tc rowSpan="3">
                  <a:txBody>
                    <a:bodyPr/>
                    <a:lstStyle/>
                    <a:p>
                      <a:pPr lvl="0" algn="ctr">
                        <a:buNone/>
                      </a:pPr>
                      <a:r>
                        <a:rPr lang="it-IT" sz="2400">
                          <a:solidFill>
                            <a:schemeClr val="bg1">
                              <a:lumMod val="20000"/>
                              <a:lumOff val="80000"/>
                            </a:schemeClr>
                          </a:solidFill>
                          <a:latin typeface="Source Sans Pro"/>
                        </a:rPr>
                        <a:t>8</a:t>
                      </a:r>
                      <a:endParaRPr lang="it-IT">
                        <a:solidFill>
                          <a:schemeClr val="bg1">
                            <a:lumMod val="20000"/>
                            <a:lumOff val="80000"/>
                          </a:schemeClr>
                        </a:solidFill>
                        <a:latin typeface="Source Sans Pro"/>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Risponde positivamente </a:t>
                      </a:r>
                      <a:br>
                        <a:rPr lang="it-IT" sz="1100" b="0" i="0" u="none" strike="noStrike" cap="none" spc="0" noProof="0">
                          <a:solidFill>
                            <a:srgbClr val="212121"/>
                          </a:solidFill>
                          <a:latin typeface="Source Sans Pro Light"/>
                        </a:rPr>
                      </a:br>
                      <a:r>
                        <a:rPr lang="it-IT" sz="1100" b="0" i="0" u="none" strike="noStrike" cap="none" spc="0" noProof="0">
                          <a:solidFill>
                            <a:srgbClr val="212121"/>
                          </a:solidFill>
                          <a:latin typeface="Source Sans Pro Light"/>
                        </a:rPr>
                        <a:t>al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82208"/>
                  </a:ext>
                </a:extLst>
              </a:tr>
              <a:tr h="464229">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Apre il ticket nel portale operations del 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325768"/>
                  </a:ext>
                </a:extLst>
              </a:tr>
              <a:tr h="540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r>
                        <a:rPr lang="it-IT" sz="1100" b="0" i="0" cap="none" spc="0">
                          <a:latin typeface="Source Sans Pro Light"/>
                        </a:rPr>
                        <a:t>Può procedere all'installazione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5440"/>
                  </a:ext>
                </a:extLst>
              </a:tr>
            </a:tbl>
          </a:graphicData>
        </a:graphic>
      </p:graphicFrame>
      <p:sp>
        <p:nvSpPr>
          <p:cNvPr id="3" name="CasellaDiTesto 2">
            <a:extLst>
              <a:ext uri="{FF2B5EF4-FFF2-40B4-BE49-F238E27FC236}">
                <a16:creationId xmlns:a16="http://schemas.microsoft.com/office/drawing/2014/main" id="{616C68C1-4FB4-7DD6-FF2B-CE794D1CAF67}"/>
              </a:ext>
            </a:extLst>
          </p:cNvPr>
          <p:cNvSpPr txBox="1"/>
          <p:nvPr/>
        </p:nvSpPr>
        <p:spPr>
          <a:xfrm>
            <a:off x="646349" y="6129153"/>
            <a:ext cx="8012963"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lnSpc>
                <a:spcPct val="150000"/>
              </a:lnSpc>
              <a:spcBef>
                <a:spcPts val="2000"/>
              </a:spcBef>
            </a:pPr>
            <a:r>
              <a:rPr lang="it-IT" sz="1100">
                <a:solidFill>
                  <a:srgbClr val="212121"/>
                </a:solidFill>
                <a:latin typeface="Source Sans Pro Light"/>
              </a:rPr>
              <a:t>N</a:t>
            </a:r>
            <a:r>
              <a:rPr lang="it-IT" sz="1100">
                <a:solidFill>
                  <a:srgbClr val="212121"/>
                </a:solidFill>
                <a:latin typeface="Source Sans Pro Light"/>
                <a:sym typeface="Helvetica"/>
              </a:rPr>
              <a:t>.B. attivazione possibile se il materiale è già presso il rivenditore</a:t>
            </a:r>
          </a:p>
        </p:txBody>
      </p:sp>
    </p:spTree>
    <p:extLst>
      <p:ext uri="{BB962C8B-B14F-4D97-AF65-F5344CB8AC3E}">
        <p14:creationId xmlns:p14="http://schemas.microsoft.com/office/powerpoint/2010/main" val="338465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E592DD6-4A8B-99B9-924F-80DE9C44A0C4}"/>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grpSp>
        <p:nvGrpSpPr>
          <p:cNvPr id="30" name="Gruppo 29">
            <a:extLst>
              <a:ext uri="{FF2B5EF4-FFF2-40B4-BE49-F238E27FC236}">
                <a16:creationId xmlns:a16="http://schemas.microsoft.com/office/drawing/2014/main" id="{D08E2ED6-1C95-6F44-2D2A-713D40E38F25}"/>
              </a:ext>
            </a:extLst>
          </p:cNvPr>
          <p:cNvGrpSpPr/>
          <p:nvPr/>
        </p:nvGrpSpPr>
        <p:grpSpPr>
          <a:xfrm>
            <a:off x="8425169" y="2314878"/>
            <a:ext cx="2443239" cy="3667962"/>
            <a:chOff x="2437975" y="4629755"/>
            <a:chExt cx="4886477" cy="7335924"/>
          </a:xfrm>
        </p:grpSpPr>
        <p:pic>
          <p:nvPicPr>
            <p:cNvPr id="32" name="Immagine 31">
              <a:extLst>
                <a:ext uri="{FF2B5EF4-FFF2-40B4-BE49-F238E27FC236}">
                  <a16:creationId xmlns:a16="http://schemas.microsoft.com/office/drawing/2014/main" id="{053DAB92-5615-A8E0-EAC4-25E5BF61B8C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858003" y="9572179"/>
              <a:ext cx="3466449" cy="2393500"/>
            </a:xfrm>
            <a:prstGeom prst="rect">
              <a:avLst/>
            </a:prstGeom>
          </p:spPr>
        </p:pic>
        <p:sp>
          <p:nvSpPr>
            <p:cNvPr id="33" name="TextBox 2">
              <a:extLst>
                <a:ext uri="{FF2B5EF4-FFF2-40B4-BE49-F238E27FC236}">
                  <a16:creationId xmlns:a16="http://schemas.microsoft.com/office/drawing/2014/main" id="{56745FD1-9ACF-A14D-E23A-97B5A5CE068E}"/>
                </a:ext>
              </a:extLst>
            </p:cNvPr>
            <p:cNvSpPr txBox="1"/>
            <p:nvPr/>
          </p:nvSpPr>
          <p:spPr>
            <a:xfrm>
              <a:off x="2437975" y="6449395"/>
              <a:ext cx="2074926"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Supporto</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34" name="TextBox 2">
              <a:extLst>
                <a:ext uri="{FF2B5EF4-FFF2-40B4-BE49-F238E27FC236}">
                  <a16:creationId xmlns:a16="http://schemas.microsoft.com/office/drawing/2014/main" id="{56479F36-0ED1-EF77-21A5-00499469FDE3}"/>
                </a:ext>
              </a:extLst>
            </p:cNvPr>
            <p:cNvSpPr txBox="1"/>
            <p:nvPr/>
          </p:nvSpPr>
          <p:spPr>
            <a:xfrm>
              <a:off x="2437975" y="7677921"/>
              <a:ext cx="3736919" cy="1041184"/>
            </a:xfrm>
            <a:prstGeom prst="rect">
              <a:avLst/>
            </a:prstGeom>
            <a:noFill/>
          </p:spPr>
          <p:txBody>
            <a:bodyPr wrap="squar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panose="020B0503030403020204" pitchFamily="34" charset="0"/>
                  <a:cs typeface="Poppins Light" pitchFamily="2" charset="77"/>
                  <a:sym typeface="Helvetica"/>
                </a:rPr>
                <a:t>Supporto</a:t>
              </a:r>
              <a:r>
                <a:rPr lang="en-US" sz="1400" kern="0">
                  <a:solidFill>
                    <a:srgbClr val="212121"/>
                  </a:solidFill>
                  <a:latin typeface="Source Sans Pro" panose="020B0503030403020204" pitchFamily="34" charset="0"/>
                  <a:cs typeface="Poppins Light" pitchFamily="2" charset="77"/>
                  <a:sym typeface="Helvetica"/>
                </a:rPr>
                <a:t> ed </a:t>
              </a:r>
              <a:r>
                <a:rPr lang="en-US" sz="1400" kern="0" err="1">
                  <a:solidFill>
                    <a:srgbClr val="212121"/>
                  </a:solidFill>
                  <a:latin typeface="Source Sans Pro" panose="020B0503030403020204" pitchFamily="34" charset="0"/>
                  <a:cs typeface="Poppins Light" pitchFamily="2" charset="77"/>
                  <a:sym typeface="Helvetica"/>
                </a:rPr>
                <a:t>assistenza</a:t>
              </a:r>
              <a:endParaRPr lang="en-US" sz="1400" kern="0">
                <a:solidFill>
                  <a:srgbClr val="212121"/>
                </a:solidFill>
                <a:latin typeface="Source Sans Pro" panose="020B0503030403020204" pitchFamily="34" charset="0"/>
                <a:cs typeface="Poppins Light" pitchFamily="2" charset="77"/>
                <a:sym typeface="Helvetica"/>
              </a:endParaRPr>
            </a:p>
          </p:txBody>
        </p:sp>
        <p:pic>
          <p:nvPicPr>
            <p:cNvPr id="35" name="Immagine 34">
              <a:extLst>
                <a:ext uri="{FF2B5EF4-FFF2-40B4-BE49-F238E27FC236}">
                  <a16:creationId xmlns:a16="http://schemas.microsoft.com/office/drawing/2014/main" id="{26711220-B7F7-2A0C-6D2E-9623A62A749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393751" y="4629755"/>
              <a:ext cx="1800000" cy="1800000"/>
            </a:xfrm>
            <a:prstGeom prst="rect">
              <a:avLst/>
            </a:prstGeom>
          </p:spPr>
        </p:pic>
        <p:sp>
          <p:nvSpPr>
            <p:cNvPr id="36" name="TextBox 2">
              <a:extLst>
                <a:ext uri="{FF2B5EF4-FFF2-40B4-BE49-F238E27FC236}">
                  <a16:creationId xmlns:a16="http://schemas.microsoft.com/office/drawing/2014/main" id="{6456EA69-2895-C647-FCAC-48AC802870A1}"/>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4</a:t>
              </a:r>
            </a:p>
          </p:txBody>
        </p:sp>
      </p:grpSp>
      <p:pic>
        <p:nvPicPr>
          <p:cNvPr id="2" name="Immagine 1" descr="Immagine che contiene testo, Carattere, Elementi grafici, cartello&#10;&#10;Descrizione generata automaticamente">
            <a:extLst>
              <a:ext uri="{FF2B5EF4-FFF2-40B4-BE49-F238E27FC236}">
                <a16:creationId xmlns:a16="http://schemas.microsoft.com/office/drawing/2014/main" id="{1351D6AE-AF8B-9E8D-C2E0-103E6F75BC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grpSp>
        <p:nvGrpSpPr>
          <p:cNvPr id="6" name="Gruppo 5">
            <a:extLst>
              <a:ext uri="{FF2B5EF4-FFF2-40B4-BE49-F238E27FC236}">
                <a16:creationId xmlns:a16="http://schemas.microsoft.com/office/drawing/2014/main" id="{60BEE02E-AB6D-3C48-E700-BCA94382523D}"/>
              </a:ext>
            </a:extLst>
          </p:cNvPr>
          <p:cNvGrpSpPr/>
          <p:nvPr/>
        </p:nvGrpSpPr>
        <p:grpSpPr>
          <a:xfrm>
            <a:off x="5760088" y="2286355"/>
            <a:ext cx="2469673" cy="3700157"/>
            <a:chOff x="2437975" y="4629755"/>
            <a:chExt cx="4939345" cy="7400314"/>
          </a:xfrm>
        </p:grpSpPr>
        <p:pic>
          <p:nvPicPr>
            <p:cNvPr id="9" name="Immagine 8">
              <a:extLst>
                <a:ext uri="{FF2B5EF4-FFF2-40B4-BE49-F238E27FC236}">
                  <a16:creationId xmlns:a16="http://schemas.microsoft.com/office/drawing/2014/main" id="{A88913FD-AFE8-F788-8208-823B1C69306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910871" y="9636569"/>
              <a:ext cx="3466449" cy="2393500"/>
            </a:xfrm>
            <a:prstGeom prst="rect">
              <a:avLst/>
            </a:prstGeom>
          </p:spPr>
        </p:pic>
        <p:sp>
          <p:nvSpPr>
            <p:cNvPr id="12" name="TextBox 2">
              <a:extLst>
                <a:ext uri="{FF2B5EF4-FFF2-40B4-BE49-F238E27FC236}">
                  <a16:creationId xmlns:a16="http://schemas.microsoft.com/office/drawing/2014/main" id="{AF7D7FEC-9F61-6BB6-C9F4-932459DF00A1}"/>
                </a:ext>
              </a:extLst>
            </p:cNvPr>
            <p:cNvSpPr txBox="1"/>
            <p:nvPr/>
          </p:nvSpPr>
          <p:spPr>
            <a:xfrm>
              <a:off x="2437975" y="6449395"/>
              <a:ext cx="2434000"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Attivazione</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37" name="TextBox 2">
              <a:extLst>
                <a:ext uri="{FF2B5EF4-FFF2-40B4-BE49-F238E27FC236}">
                  <a16:creationId xmlns:a16="http://schemas.microsoft.com/office/drawing/2014/main" id="{3708ED11-8684-423A-442A-B8C0EFDA0116}"/>
                </a:ext>
              </a:extLst>
            </p:cNvPr>
            <p:cNvSpPr txBox="1"/>
            <p:nvPr/>
          </p:nvSpPr>
          <p:spPr>
            <a:xfrm>
              <a:off x="2437975" y="7601455"/>
              <a:ext cx="3736919" cy="1477200"/>
            </a:xfrm>
            <a:prstGeom prst="rect">
              <a:avLst/>
            </a:prstGeom>
            <a:noFill/>
          </p:spPr>
          <p:txBody>
            <a:bodyPr wrap="square" lIns="91440" tIns="45720" rIns="91440" bIns="45720" rtlCol="0" anchor="t">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a:cs typeface="Poppins Light"/>
                  <a:sym typeface="Helvetica"/>
                </a:rPr>
                <a:t>Attivazione</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dei</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processi</a:t>
              </a:r>
              <a:r>
                <a:rPr lang="en-US" sz="1400" kern="0">
                  <a:solidFill>
                    <a:srgbClr val="212121"/>
                  </a:solidFill>
                  <a:latin typeface="Source Sans Pro"/>
                  <a:cs typeface="Poppins Light"/>
                  <a:sym typeface="Helvetica"/>
                </a:rPr>
                <a:t> di </a:t>
              </a:r>
              <a:r>
                <a:rPr lang="en-US" sz="1400" kern="0" err="1">
                  <a:solidFill>
                    <a:srgbClr val="212121"/>
                  </a:solidFill>
                  <a:latin typeface="Source Sans Pro"/>
                  <a:cs typeface="Poppins Light"/>
                  <a:sym typeface="Helvetica"/>
                </a:rPr>
                <a:t>fatturazione</a:t>
              </a:r>
              <a:endParaRPr lang="en-US" sz="1400" kern="0">
                <a:solidFill>
                  <a:srgbClr val="212121"/>
                </a:solidFill>
                <a:latin typeface="Source Sans Pro"/>
                <a:cs typeface="Poppins Light"/>
              </a:endParaRPr>
            </a:p>
          </p:txBody>
        </p:sp>
        <p:pic>
          <p:nvPicPr>
            <p:cNvPr id="38" name="Immagine 37">
              <a:extLst>
                <a:ext uri="{FF2B5EF4-FFF2-40B4-BE49-F238E27FC236}">
                  <a16:creationId xmlns:a16="http://schemas.microsoft.com/office/drawing/2014/main" id="{AF03DA6C-AEF8-E793-3477-47A9131C00CC}"/>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393751" y="4629755"/>
              <a:ext cx="1836000" cy="1836000"/>
            </a:xfrm>
            <a:prstGeom prst="rect">
              <a:avLst/>
            </a:prstGeom>
          </p:spPr>
        </p:pic>
        <p:sp>
          <p:nvSpPr>
            <p:cNvPr id="39" name="TextBox 2">
              <a:extLst>
                <a:ext uri="{FF2B5EF4-FFF2-40B4-BE49-F238E27FC236}">
                  <a16:creationId xmlns:a16="http://schemas.microsoft.com/office/drawing/2014/main" id="{9C8A88B4-D748-F1F6-7762-E970882D6111}"/>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3</a:t>
              </a:r>
            </a:p>
          </p:txBody>
        </p:sp>
      </p:grpSp>
      <p:grpSp>
        <p:nvGrpSpPr>
          <p:cNvPr id="40" name="Gruppo 39">
            <a:extLst>
              <a:ext uri="{FF2B5EF4-FFF2-40B4-BE49-F238E27FC236}">
                <a16:creationId xmlns:a16="http://schemas.microsoft.com/office/drawing/2014/main" id="{915E9CA0-3694-D698-F018-FFA1C2040449}"/>
              </a:ext>
            </a:extLst>
          </p:cNvPr>
          <p:cNvGrpSpPr/>
          <p:nvPr/>
        </p:nvGrpSpPr>
        <p:grpSpPr>
          <a:xfrm>
            <a:off x="3171471" y="2314878"/>
            <a:ext cx="2454549" cy="3621733"/>
            <a:chOff x="2437975" y="4629755"/>
            <a:chExt cx="4909097" cy="7243466"/>
          </a:xfrm>
        </p:grpSpPr>
        <p:pic>
          <p:nvPicPr>
            <p:cNvPr id="42" name="Immagine 41">
              <a:extLst>
                <a:ext uri="{FF2B5EF4-FFF2-40B4-BE49-F238E27FC236}">
                  <a16:creationId xmlns:a16="http://schemas.microsoft.com/office/drawing/2014/main" id="{580F33BD-FDEA-C944-D829-0ADB2F48E78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3880623" y="9479721"/>
              <a:ext cx="3466449" cy="2393500"/>
            </a:xfrm>
            <a:prstGeom prst="rect">
              <a:avLst/>
            </a:prstGeom>
          </p:spPr>
        </p:pic>
        <p:sp>
          <p:nvSpPr>
            <p:cNvPr id="43" name="TextBox 2">
              <a:extLst>
                <a:ext uri="{FF2B5EF4-FFF2-40B4-BE49-F238E27FC236}">
                  <a16:creationId xmlns:a16="http://schemas.microsoft.com/office/drawing/2014/main" id="{B7A88476-439C-F58C-E7AA-834C7D8CC546}"/>
                </a:ext>
              </a:extLst>
            </p:cNvPr>
            <p:cNvSpPr txBox="1"/>
            <p:nvPr/>
          </p:nvSpPr>
          <p:spPr>
            <a:xfrm>
              <a:off x="2437975" y="6449395"/>
              <a:ext cx="3889525"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Convenzionamento</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44" name="TextBox 2">
              <a:extLst>
                <a:ext uri="{FF2B5EF4-FFF2-40B4-BE49-F238E27FC236}">
                  <a16:creationId xmlns:a16="http://schemas.microsoft.com/office/drawing/2014/main" id="{63834599-04DC-BAC1-95EB-B5E0C3F40065}"/>
                </a:ext>
              </a:extLst>
            </p:cNvPr>
            <p:cNvSpPr txBox="1"/>
            <p:nvPr/>
          </p:nvSpPr>
          <p:spPr>
            <a:xfrm>
              <a:off x="2437975" y="7635881"/>
              <a:ext cx="3736919" cy="1041184"/>
            </a:xfrm>
            <a:prstGeom prst="rect">
              <a:avLst/>
            </a:prstGeom>
            <a:noFill/>
          </p:spPr>
          <p:txBody>
            <a:bodyPr wrap="square" lIns="91440" tIns="45720" rIns="91440" bIns="45720" rtlCol="0" anchor="t">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a:cs typeface="Poppins Light"/>
                  <a:sym typeface="Helvetica"/>
                </a:rPr>
                <a:t>Sottoscrizione</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contratti</a:t>
              </a:r>
            </a:p>
          </p:txBody>
        </p:sp>
        <p:pic>
          <p:nvPicPr>
            <p:cNvPr id="45" name="Immagine 44">
              <a:extLst>
                <a:ext uri="{FF2B5EF4-FFF2-40B4-BE49-F238E27FC236}">
                  <a16:creationId xmlns:a16="http://schemas.microsoft.com/office/drawing/2014/main" id="{823ABF89-536B-5F36-6BEB-3F3FC6F09F58}"/>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393751" y="4629755"/>
              <a:ext cx="1836000" cy="1836000"/>
            </a:xfrm>
            <a:prstGeom prst="rect">
              <a:avLst/>
            </a:prstGeom>
          </p:spPr>
        </p:pic>
        <p:sp>
          <p:nvSpPr>
            <p:cNvPr id="46" name="TextBox 2">
              <a:extLst>
                <a:ext uri="{FF2B5EF4-FFF2-40B4-BE49-F238E27FC236}">
                  <a16:creationId xmlns:a16="http://schemas.microsoft.com/office/drawing/2014/main" id="{478C1764-6D4C-A017-520A-93A6ECA649C3}"/>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2</a:t>
              </a:r>
            </a:p>
          </p:txBody>
        </p:sp>
      </p:grpSp>
      <p:grpSp>
        <p:nvGrpSpPr>
          <p:cNvPr id="47" name="Gruppo 46">
            <a:extLst>
              <a:ext uri="{FF2B5EF4-FFF2-40B4-BE49-F238E27FC236}">
                <a16:creationId xmlns:a16="http://schemas.microsoft.com/office/drawing/2014/main" id="{0654AC42-3709-D58C-97AB-97355B7EFDEF}"/>
              </a:ext>
            </a:extLst>
          </p:cNvPr>
          <p:cNvGrpSpPr/>
          <p:nvPr/>
        </p:nvGrpSpPr>
        <p:grpSpPr>
          <a:xfrm>
            <a:off x="556006" y="2314880"/>
            <a:ext cx="2454549" cy="3621736"/>
            <a:chOff x="2437975" y="4629755"/>
            <a:chExt cx="4909097" cy="7243467"/>
          </a:xfrm>
        </p:grpSpPr>
        <p:pic>
          <p:nvPicPr>
            <p:cNvPr id="49" name="Immagine 48" descr="Immagine che contiene Elementi grafici, creatività&#10;&#10;Descrizione generata automaticamente">
              <a:extLst>
                <a:ext uri="{FF2B5EF4-FFF2-40B4-BE49-F238E27FC236}">
                  <a16:creationId xmlns:a16="http://schemas.microsoft.com/office/drawing/2014/main" id="{2A0FAD53-2307-0881-D20E-D51063B95D1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880623" y="9479721"/>
              <a:ext cx="3466449" cy="2393501"/>
            </a:xfrm>
            <a:prstGeom prst="rect">
              <a:avLst/>
            </a:prstGeom>
          </p:spPr>
        </p:pic>
        <p:sp>
          <p:nvSpPr>
            <p:cNvPr id="50" name="TextBox 2">
              <a:extLst>
                <a:ext uri="{FF2B5EF4-FFF2-40B4-BE49-F238E27FC236}">
                  <a16:creationId xmlns:a16="http://schemas.microsoft.com/office/drawing/2014/main" id="{0A953E6C-711C-AFC5-2526-123CBBA1E037}"/>
                </a:ext>
              </a:extLst>
            </p:cNvPr>
            <p:cNvSpPr txBox="1"/>
            <p:nvPr/>
          </p:nvSpPr>
          <p:spPr>
            <a:xfrm>
              <a:off x="2437975" y="6584637"/>
              <a:ext cx="3915173" cy="1131592"/>
            </a:xfrm>
            <a:prstGeom prst="rect">
              <a:avLst/>
            </a:prstGeom>
            <a:noFill/>
          </p:spPr>
          <p:txBody>
            <a:bodyPr wrap="none" rtlCol="0">
              <a:spAutoFit/>
            </a:bodyPr>
            <a:lstStyle/>
            <a:p>
              <a:pPr marL="0" marR="0" lvl="0" indent="0" algn="l" defTabSz="412750" rtl="0" eaLnBrk="1" fontAlgn="auto" latinLnBrk="0" hangingPunct="0">
                <a:lnSpc>
                  <a:spcPts val="1250"/>
                </a:lnSpc>
                <a:spcBef>
                  <a:spcPts val="1000"/>
                </a:spcBef>
                <a:spcAft>
                  <a:spcPts val="0"/>
                </a:spcAft>
                <a:buClrTx/>
                <a:buSzTx/>
                <a:buFontTx/>
                <a:buNone/>
                <a:tabLst/>
                <a:defRPr/>
              </a:pPr>
              <a:r>
                <a:rPr lang="en-US" sz="1600" b="1" kern="0">
                  <a:solidFill>
                    <a:srgbClr val="212121"/>
                  </a:solidFill>
                  <a:latin typeface="Source Sans Pro" panose="020B0503030403020204" pitchFamily="34" charset="0"/>
                  <a:cs typeface="Poppins Light" pitchFamily="2" charset="77"/>
                  <a:sym typeface="Helvetica"/>
                </a:rPr>
                <a:t>Commerciale</a:t>
              </a:r>
            </a:p>
            <a:p>
              <a:pPr marL="0" marR="0" lvl="0" indent="0" algn="l" defTabSz="412750" rtl="0" eaLnBrk="1" fontAlgn="auto" latinLnBrk="0" hangingPunct="0">
                <a:lnSpc>
                  <a:spcPts val="1250"/>
                </a:lnSpc>
                <a:spcBef>
                  <a:spcPts val="1000"/>
                </a:spcBef>
                <a:spcAft>
                  <a:spcPts val="0"/>
                </a:spcAft>
                <a:buClrTx/>
                <a:buSzTx/>
                <a:buFontTx/>
                <a:buNone/>
                <a:tabLst/>
                <a:defRPr/>
              </a:pPr>
              <a:r>
                <a:rPr lang="en-US" sz="1600" b="1" kern="0">
                  <a:solidFill>
                    <a:srgbClr val="212121"/>
                  </a:solidFill>
                  <a:latin typeface="Source Sans Pro" panose="020B0503030403020204" pitchFamily="34" charset="0"/>
                  <a:cs typeface="Poppins Light" pitchFamily="2" charset="77"/>
                  <a:sym typeface="Helvetica"/>
                </a:rPr>
                <a:t>(lead management)</a:t>
              </a:r>
            </a:p>
          </p:txBody>
        </p:sp>
        <p:sp>
          <p:nvSpPr>
            <p:cNvPr id="51" name="TextBox 2">
              <a:extLst>
                <a:ext uri="{FF2B5EF4-FFF2-40B4-BE49-F238E27FC236}">
                  <a16:creationId xmlns:a16="http://schemas.microsoft.com/office/drawing/2014/main" id="{8D182314-7A3D-C769-0EA7-0F68A37B5CFF}"/>
                </a:ext>
              </a:extLst>
            </p:cNvPr>
            <p:cNvSpPr txBox="1"/>
            <p:nvPr/>
          </p:nvSpPr>
          <p:spPr>
            <a:xfrm>
              <a:off x="2437975" y="7947703"/>
              <a:ext cx="3736919" cy="1477200"/>
            </a:xfrm>
            <a:prstGeom prst="rect">
              <a:avLst/>
            </a:prstGeom>
            <a:noFill/>
          </p:spPr>
          <p:txBody>
            <a:bodyPr wrap="squar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panose="020B0503030403020204" pitchFamily="34" charset="0"/>
                  <a:cs typeface="Poppins Light" pitchFamily="2" charset="77"/>
                  <a:sym typeface="Helvetica"/>
                </a:rPr>
                <a:t>Identificazione</a:t>
              </a:r>
              <a:r>
                <a:rPr lang="en-US" sz="1400" kern="0">
                  <a:solidFill>
                    <a:srgbClr val="212121"/>
                  </a:solidFill>
                  <a:latin typeface="Source Sans Pro" panose="020B0503030403020204" pitchFamily="34" charset="0"/>
                  <a:cs typeface="Poppins Light" pitchFamily="2" charset="77"/>
                  <a:sym typeface="Helvetica"/>
                </a:rPr>
                <a:t> </a:t>
              </a:r>
              <a:r>
                <a:rPr lang="en-US" sz="1400" kern="0" err="1">
                  <a:solidFill>
                    <a:srgbClr val="212121"/>
                  </a:solidFill>
                  <a:latin typeface="Source Sans Pro" panose="020B0503030403020204" pitchFamily="34" charset="0"/>
                  <a:cs typeface="Poppins Light" pitchFamily="2" charset="77"/>
                  <a:sym typeface="Helvetica"/>
                </a:rPr>
                <a:t>dell’opportunità</a:t>
              </a:r>
              <a:r>
                <a:rPr lang="en-US" sz="1400" kern="0">
                  <a:solidFill>
                    <a:srgbClr val="212121"/>
                  </a:solidFill>
                  <a:latin typeface="Source Sans Pro" panose="020B0503030403020204" pitchFamily="34" charset="0"/>
                  <a:cs typeface="Poppins Light" pitchFamily="2" charset="77"/>
                  <a:sym typeface="Helvetica"/>
                </a:rPr>
                <a:t> </a:t>
              </a:r>
              <a:r>
                <a:rPr lang="en-US" sz="1400" kern="0" err="1">
                  <a:solidFill>
                    <a:srgbClr val="212121"/>
                  </a:solidFill>
                  <a:latin typeface="Source Sans Pro" panose="020B0503030403020204" pitchFamily="34" charset="0"/>
                  <a:cs typeface="Poppins Light" pitchFamily="2" charset="77"/>
                  <a:sym typeface="Helvetica"/>
                </a:rPr>
                <a:t>commerciale</a:t>
              </a:r>
              <a:endParaRPr lang="en-US" sz="1400" kern="0">
                <a:solidFill>
                  <a:srgbClr val="212121"/>
                </a:solidFill>
                <a:latin typeface="Source Sans Pro" panose="020B0503030403020204" pitchFamily="34" charset="0"/>
                <a:cs typeface="Poppins Light" pitchFamily="2" charset="77"/>
                <a:sym typeface="Helvetica"/>
              </a:endParaRPr>
            </a:p>
          </p:txBody>
        </p:sp>
        <p:pic>
          <p:nvPicPr>
            <p:cNvPr id="52" name="Immagine 51" descr="Immagine che contiene Elementi grafici, Carattere, cerchio, simbolo&#10;&#10;Descrizione generata automaticamente">
              <a:extLst>
                <a:ext uri="{FF2B5EF4-FFF2-40B4-BE49-F238E27FC236}">
                  <a16:creationId xmlns:a16="http://schemas.microsoft.com/office/drawing/2014/main" id="{93F0F625-2231-590A-4EA1-4F8CDBC5A2F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93751" y="4629755"/>
              <a:ext cx="1800000" cy="1800000"/>
            </a:xfrm>
            <a:prstGeom prst="rect">
              <a:avLst/>
            </a:prstGeom>
          </p:spPr>
        </p:pic>
        <p:sp>
          <p:nvSpPr>
            <p:cNvPr id="53" name="TextBox 2">
              <a:extLst>
                <a:ext uri="{FF2B5EF4-FFF2-40B4-BE49-F238E27FC236}">
                  <a16:creationId xmlns:a16="http://schemas.microsoft.com/office/drawing/2014/main" id="{D0818DE0-1153-B184-E8FC-ABF1194367EF}"/>
                </a:ext>
              </a:extLst>
            </p:cNvPr>
            <p:cNvSpPr txBox="1"/>
            <p:nvPr/>
          </p:nvSpPr>
          <p:spPr>
            <a:xfrm>
              <a:off x="5352396" y="10493930"/>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1</a:t>
              </a:r>
            </a:p>
          </p:txBody>
        </p:sp>
      </p:grpSp>
      <p:sp>
        <p:nvSpPr>
          <p:cNvPr id="54" name="TextBox 2">
            <a:extLst>
              <a:ext uri="{FF2B5EF4-FFF2-40B4-BE49-F238E27FC236}">
                <a16:creationId xmlns:a16="http://schemas.microsoft.com/office/drawing/2014/main" id="{400AAD1A-CD5B-CC52-BBEA-834528D36217}"/>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spTree>
    <p:extLst>
      <p:ext uri="{BB962C8B-B14F-4D97-AF65-F5344CB8AC3E}">
        <p14:creationId xmlns:p14="http://schemas.microsoft.com/office/powerpoint/2010/main" val="58177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58AA-9FE4-2987-DDD6-821E36EFBB17}"/>
            </a:ext>
          </a:extLst>
        </p:cNvPr>
        <p:cNvGrpSpPr/>
        <p:nvPr/>
      </p:nvGrpSpPr>
      <p:grpSpPr>
        <a:xfrm>
          <a:off x="0" y="0"/>
          <a:ext cx="0" cy="0"/>
          <a:chOff x="0" y="0"/>
          <a:chExt cx="0" cy="0"/>
        </a:xfrm>
      </p:grpSpPr>
      <p:graphicFrame>
        <p:nvGraphicFramePr>
          <p:cNvPr id="24" name="Tabella 23">
            <a:extLst>
              <a:ext uri="{FF2B5EF4-FFF2-40B4-BE49-F238E27FC236}">
                <a16:creationId xmlns:a16="http://schemas.microsoft.com/office/drawing/2014/main" id="{D267C120-1C95-ACED-8EDE-88A3147781E3}"/>
              </a:ext>
            </a:extLst>
          </p:cNvPr>
          <p:cNvGraphicFramePr>
            <a:graphicFrameLocks noGrp="1"/>
          </p:cNvGraphicFramePr>
          <p:nvPr/>
        </p:nvGraphicFramePr>
        <p:xfrm>
          <a:off x="646940" y="1183341"/>
          <a:ext cx="10902716" cy="4956309"/>
        </p:xfrm>
        <a:graphic>
          <a:graphicData uri="http://schemas.openxmlformats.org/drawingml/2006/table">
            <a:tbl>
              <a:tblPr bandRow="1">
                <a:tableStyleId>{5C22544A-7EE6-4342-B048-85BDC9FD1C3A}</a:tableStyleId>
              </a:tblPr>
              <a:tblGrid>
                <a:gridCol w="1185333">
                  <a:extLst>
                    <a:ext uri="{9D8B030D-6E8A-4147-A177-3AD203B41FA5}">
                      <a16:colId xmlns:a16="http://schemas.microsoft.com/office/drawing/2014/main" val="1746121381"/>
                    </a:ext>
                  </a:extLst>
                </a:gridCol>
                <a:gridCol w="1675684">
                  <a:extLst>
                    <a:ext uri="{9D8B030D-6E8A-4147-A177-3AD203B41FA5}">
                      <a16:colId xmlns:a16="http://schemas.microsoft.com/office/drawing/2014/main" val="2571344274"/>
                    </a:ext>
                  </a:extLst>
                </a:gridCol>
                <a:gridCol w="3221691">
                  <a:extLst>
                    <a:ext uri="{9D8B030D-6E8A-4147-A177-3AD203B41FA5}">
                      <a16:colId xmlns:a16="http://schemas.microsoft.com/office/drawing/2014/main" val="857121072"/>
                    </a:ext>
                  </a:extLst>
                </a:gridCol>
                <a:gridCol w="2363918">
                  <a:extLst>
                    <a:ext uri="{9D8B030D-6E8A-4147-A177-3AD203B41FA5}">
                      <a16:colId xmlns:a16="http://schemas.microsoft.com/office/drawing/2014/main" val="907205418"/>
                    </a:ext>
                  </a:extLst>
                </a:gridCol>
                <a:gridCol w="2456090">
                  <a:extLst>
                    <a:ext uri="{9D8B030D-6E8A-4147-A177-3AD203B41FA5}">
                      <a16:colId xmlns:a16="http://schemas.microsoft.com/office/drawing/2014/main" val="1902542609"/>
                    </a:ext>
                  </a:extLst>
                </a:gridCol>
              </a:tblGrid>
              <a:tr h="459853">
                <a:tc>
                  <a:txBody>
                    <a:bodyPr/>
                    <a:lstStyle/>
                    <a:p>
                      <a:pPr algn="ctr"/>
                      <a:r>
                        <a:rPr lang="it-IT" sz="1200">
                          <a:solidFill>
                            <a:schemeClr val="bg1">
                              <a:lumMod val="20000"/>
                              <a:lumOff val="80000"/>
                            </a:schemeClr>
                          </a:solidFill>
                          <a:latin typeface="Source Sans Pro"/>
                        </a:rPr>
                        <a:t>Giorni LAVORATIVI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err="1">
                          <a:solidFill>
                            <a:schemeClr val="bg1">
                              <a:lumMod val="20000"/>
                              <a:lumOff val="80000"/>
                            </a:schemeClr>
                          </a:solidFill>
                          <a:latin typeface="Source Sans Pro" panose="020B0503030403020204" pitchFamily="34" charset="0"/>
                        </a:rPr>
                        <a:t>Nexi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51240398"/>
                  </a:ext>
                </a:extLst>
              </a:tr>
              <a:tr h="612000">
                <a:tc>
                  <a:txBody>
                    <a:bodyPr/>
                    <a:lstStyle/>
                    <a:p>
                      <a:pPr algn="ctr"/>
                      <a:r>
                        <a:rPr lang="it-IT" sz="2400">
                          <a:solidFill>
                            <a:schemeClr val="bg1">
                              <a:lumMod val="20000"/>
                              <a:lumOff val="80000"/>
                            </a:schemeClr>
                          </a:solidFill>
                          <a:latin typeface="Source Sans Pro"/>
                        </a:rPr>
                        <a:t>1</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r>
                        <a:rPr lang="it-IT" sz="1100" b="0" i="0" cap="none" spc="0">
                          <a:latin typeface="Source Sans Pro Light"/>
                        </a:rPr>
                        <a:t>Compila la lead e la invia a 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Prende in carico la richiesta di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246931"/>
                  </a:ext>
                </a:extLst>
              </a:tr>
              <a:tr h="612000">
                <a:tc>
                  <a:txBody>
                    <a:bodyPr/>
                    <a:lstStyle/>
                    <a:p>
                      <a:pPr algn="ctr"/>
                      <a:r>
                        <a:rPr lang="it-IT" sz="2400">
                          <a:solidFill>
                            <a:schemeClr val="bg1">
                              <a:lumMod val="20000"/>
                              <a:lumOff val="80000"/>
                            </a:schemeClr>
                          </a:solidFill>
                          <a:latin typeface="Source Sans Pro"/>
                        </a:rPr>
                        <a:t>2</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documento di sintesi con le commissioni all'esercente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864296"/>
                  </a:ext>
                </a:extLst>
              </a:tr>
              <a:tr h="612000">
                <a:tc rowSpan="3">
                  <a:txBody>
                    <a:bodyPr/>
                    <a:lstStyle/>
                    <a:p>
                      <a:pPr algn="ctr"/>
                      <a:r>
                        <a:rPr lang="it-IT" sz="2400">
                          <a:solidFill>
                            <a:schemeClr val="bg1">
                              <a:lumMod val="20000"/>
                              <a:lumOff val="80000"/>
                            </a:schemeClr>
                          </a:solidFill>
                          <a:latin typeface="Source Sans Pro"/>
                        </a:rPr>
                        <a:t>3-7</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il contratto per la firma remota all'esercente </a:t>
                      </a:r>
                      <a:br>
                        <a:rPr lang="it-IT" sz="1100" b="0" i="0" cap="none" spc="0">
                          <a:latin typeface="Source Sans Pro Light"/>
                        </a:rPr>
                      </a:br>
                      <a:r>
                        <a:rPr lang="it-IT" sz="1100" b="0" i="0" cap="none" spc="0">
                          <a:latin typeface="Source Sans Pro Light"/>
                        </a:rPr>
                        <a:t>e lo contatta</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u="none" strike="noStrike" cap="none" spc="0" noProof="0">
                        <a:solidFill>
                          <a:srgbClr val="212121"/>
                        </a:solidFill>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Firma digitalmente con SPID </a:t>
                      </a:r>
                      <a:br>
                        <a:rPr lang="it-IT" sz="1100" b="0" i="0" cap="none" spc="0">
                          <a:latin typeface="Source Sans Pro Light"/>
                        </a:rPr>
                      </a:br>
                      <a:r>
                        <a:rPr lang="it-IT" sz="1100" b="0" i="0" cap="none" spc="0">
                          <a:latin typeface="Source Sans Pro Light"/>
                        </a:rPr>
                        <a:t>o videoselfie il contratto di acquiring </a:t>
                      </a:r>
                      <a:br>
                        <a:rPr lang="it-IT" sz="1100" b="0" i="0" cap="none" spc="0">
                          <a:latin typeface="Source Sans Pro Light"/>
                        </a:rPr>
                      </a:br>
                      <a:r>
                        <a:rPr lang="it-IT" sz="1100" b="0" i="0" cap="none" spc="0">
                          <a:latin typeface="Source Sans Pro Light"/>
                        </a:rPr>
                        <a:t>e noleggio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597431"/>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Invia i contratti firmati a nexi</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905826"/>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Adeguata verifica (AML)</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62953"/>
                  </a:ext>
                </a:extLst>
              </a:tr>
              <a:tr h="612000">
                <a:tc rowSpan="3">
                  <a:txBody>
                    <a:bodyPr/>
                    <a:lstStyle/>
                    <a:p>
                      <a:pPr lvl="0" algn="ctr">
                        <a:buNone/>
                      </a:pPr>
                      <a:r>
                        <a:rPr lang="it-IT" sz="2400">
                          <a:solidFill>
                            <a:schemeClr val="bg1">
                              <a:lumMod val="20000"/>
                              <a:lumOff val="80000"/>
                            </a:schemeClr>
                          </a:solidFill>
                          <a:latin typeface="Source Sans Pro"/>
                        </a:rPr>
                        <a:t>8</a:t>
                      </a:r>
                      <a:endParaRPr lang="it-IT">
                        <a:solidFill>
                          <a:schemeClr val="bg1">
                            <a:lumMod val="20000"/>
                            <a:lumOff val="80000"/>
                          </a:schemeClr>
                        </a:solidFill>
                        <a:latin typeface="Source Sans Pro"/>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Risponde positivamente </a:t>
                      </a:r>
                      <a:br>
                        <a:rPr lang="it-IT" sz="1100" b="0" i="0" u="none" strike="noStrike" cap="none" spc="0" noProof="0">
                          <a:solidFill>
                            <a:srgbClr val="212121"/>
                          </a:solidFill>
                          <a:latin typeface="Source Sans Pro Light"/>
                        </a:rPr>
                      </a:br>
                      <a:r>
                        <a:rPr lang="it-IT" sz="1100" b="0" i="0" u="none" strike="noStrike" cap="none" spc="0" noProof="0">
                          <a:solidFill>
                            <a:srgbClr val="212121"/>
                          </a:solidFill>
                          <a:latin typeface="Source Sans Pro Light"/>
                        </a:rPr>
                        <a:t>al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82208"/>
                  </a:ext>
                </a:extLst>
              </a:tr>
              <a:tr h="464229">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Apre il ticket nel portale operations del 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325768"/>
                  </a:ext>
                </a:extLst>
              </a:tr>
              <a:tr h="540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r>
                        <a:rPr lang="it-IT" sz="1100" b="0" i="0" cap="none" spc="0">
                          <a:latin typeface="Source Sans Pro Light"/>
                        </a:rPr>
                        <a:t>Può procedere all'installazione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5440"/>
                  </a:ext>
                </a:extLst>
              </a:tr>
            </a:tbl>
          </a:graphicData>
        </a:graphic>
      </p:graphicFrame>
      <p:sp>
        <p:nvSpPr>
          <p:cNvPr id="3" name="CasellaDiTesto 2">
            <a:extLst>
              <a:ext uri="{FF2B5EF4-FFF2-40B4-BE49-F238E27FC236}">
                <a16:creationId xmlns:a16="http://schemas.microsoft.com/office/drawing/2014/main" id="{A90654CE-429A-5FBC-8D5C-36652247C09F}"/>
              </a:ext>
            </a:extLst>
          </p:cNvPr>
          <p:cNvSpPr txBox="1"/>
          <p:nvPr/>
        </p:nvSpPr>
        <p:spPr>
          <a:xfrm>
            <a:off x="646349" y="6129153"/>
            <a:ext cx="8012963"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0" marR="0" lvl="0" indent="0" algn="l" defTabSz="825500" rtl="0" eaLnBrk="1" fontAlgn="auto" latinLnBrk="0" hangingPunct="0">
              <a:lnSpc>
                <a:spcPct val="150000"/>
              </a:lnSpc>
              <a:spcBef>
                <a:spcPts val="2000"/>
              </a:spcBef>
              <a:spcAft>
                <a:spcPts val="0"/>
              </a:spcAft>
              <a:buClrTx/>
              <a:buSzTx/>
              <a:buFontTx/>
              <a:buNone/>
              <a:tabLst/>
              <a:defRPr/>
            </a:pPr>
            <a:r>
              <a:rPr kumimoji="0" lang="it-IT" sz="1100" b="0" i="0" u="none" strike="noStrike" kern="1200" cap="none" spc="0" normalizeH="0" baseline="0" noProof="0">
                <a:ln>
                  <a:noFill/>
                </a:ln>
                <a:solidFill>
                  <a:srgbClr val="212121"/>
                </a:solidFill>
                <a:effectLst/>
                <a:uLnTx/>
                <a:uFillTx/>
                <a:latin typeface="Source Sans Pro Light"/>
                <a:cs typeface="Helvetica"/>
              </a:rPr>
              <a:t>N</a:t>
            </a:r>
            <a:r>
              <a:rPr kumimoji="0" lang="it-IT" sz="1100" b="0" i="0" u="none" strike="noStrike" kern="1200" cap="none" spc="0" normalizeH="0" baseline="0" noProof="0">
                <a:ln>
                  <a:noFill/>
                </a:ln>
                <a:solidFill>
                  <a:srgbClr val="212121"/>
                </a:solidFill>
                <a:effectLst/>
                <a:uLnTx/>
                <a:uFillTx/>
                <a:latin typeface="Source Sans Pro Light"/>
                <a:cs typeface="Helvetica"/>
                <a:sym typeface="Helvetica"/>
              </a:rPr>
              <a:t>.B. attivazione possibile se il materiale è già presso il rivenditore</a:t>
            </a:r>
          </a:p>
        </p:txBody>
      </p:sp>
      <p:sp>
        <p:nvSpPr>
          <p:cNvPr id="2" name="Freccia a destra 1">
            <a:extLst>
              <a:ext uri="{FF2B5EF4-FFF2-40B4-BE49-F238E27FC236}">
                <a16:creationId xmlns:a16="http://schemas.microsoft.com/office/drawing/2014/main" id="{E10D1274-5307-75C1-9E4D-B6137B3993DE}"/>
              </a:ext>
            </a:extLst>
          </p:cNvPr>
          <p:cNvSpPr/>
          <p:nvPr/>
        </p:nvSpPr>
        <p:spPr>
          <a:xfrm>
            <a:off x="0" y="1719072"/>
            <a:ext cx="996696" cy="475488"/>
          </a:xfrm>
          <a:prstGeom prst="rightArrow">
            <a:avLst/>
          </a:prstGeom>
          <a:solidFill>
            <a:schemeClr val="accent5">
              <a:lumMod val="75000"/>
            </a:schemeClr>
          </a:solidFill>
          <a:ln w="25400" cap="flat">
            <a:solidFill>
              <a:schemeClr val="accent5">
                <a:lumMod val="75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Tree>
    <p:extLst>
      <p:ext uri="{BB962C8B-B14F-4D97-AF65-F5344CB8AC3E}">
        <p14:creationId xmlns:p14="http://schemas.microsoft.com/office/powerpoint/2010/main" val="405301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uppo 40">
            <a:extLst>
              <a:ext uri="{FF2B5EF4-FFF2-40B4-BE49-F238E27FC236}">
                <a16:creationId xmlns:a16="http://schemas.microsoft.com/office/drawing/2014/main" id="{6A59C1B5-6894-16C8-F433-49D9C12AF8ED}"/>
              </a:ext>
            </a:extLst>
          </p:cNvPr>
          <p:cNvGrpSpPr/>
          <p:nvPr/>
        </p:nvGrpSpPr>
        <p:grpSpPr>
          <a:xfrm>
            <a:off x="2494426" y="2135848"/>
            <a:ext cx="2490166" cy="3500604"/>
            <a:chOff x="2437975" y="4629755"/>
            <a:chExt cx="4980331" cy="7001207"/>
          </a:xfrm>
        </p:grpSpPr>
        <p:pic>
          <p:nvPicPr>
            <p:cNvPr id="43" name="Immagine 42" descr="Immagine che contiene Elementi grafici, creatività&#10;&#10;Descrizione generata automaticamente">
              <a:extLst>
                <a:ext uri="{FF2B5EF4-FFF2-40B4-BE49-F238E27FC236}">
                  <a16:creationId xmlns:a16="http://schemas.microsoft.com/office/drawing/2014/main" id="{10B107D7-9814-0321-D160-E15F26D441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1857" y="9237460"/>
              <a:ext cx="3466449" cy="2393502"/>
            </a:xfrm>
            <a:prstGeom prst="rect">
              <a:avLst/>
            </a:prstGeom>
          </p:spPr>
        </p:pic>
        <p:sp>
          <p:nvSpPr>
            <p:cNvPr id="44" name="TextBox 2">
              <a:extLst>
                <a:ext uri="{FF2B5EF4-FFF2-40B4-BE49-F238E27FC236}">
                  <a16:creationId xmlns:a16="http://schemas.microsoft.com/office/drawing/2014/main" id="{7E5F174B-035A-8026-5C3E-AD03CA05222F}"/>
                </a:ext>
              </a:extLst>
            </p:cNvPr>
            <p:cNvSpPr txBox="1"/>
            <p:nvPr/>
          </p:nvSpPr>
          <p:spPr>
            <a:xfrm>
              <a:off x="2437975" y="6584637"/>
              <a:ext cx="3915173" cy="1131592"/>
            </a:xfrm>
            <a:prstGeom prst="rect">
              <a:avLst/>
            </a:prstGeom>
            <a:noFill/>
          </p:spPr>
          <p:txBody>
            <a:bodyPr wrap="none" rtlCol="0">
              <a:spAutoFit/>
            </a:bodyPr>
            <a:lstStyle/>
            <a:p>
              <a:pPr marL="0" marR="0" lvl="0" indent="0" algn="l" defTabSz="412750" rtl="0" eaLnBrk="1" fontAlgn="auto" latinLnBrk="0" hangingPunct="0">
                <a:lnSpc>
                  <a:spcPts val="1250"/>
                </a:lnSpc>
                <a:spcBef>
                  <a:spcPts val="1000"/>
                </a:spcBef>
                <a:spcAft>
                  <a:spcPts val="0"/>
                </a:spcAft>
                <a:buClrTx/>
                <a:buSzTx/>
                <a:buFontTx/>
                <a:buNone/>
                <a:tabLst/>
                <a:defRPr/>
              </a:pPr>
              <a:r>
                <a:rPr lang="en-US" sz="1600" b="1" kern="0">
                  <a:solidFill>
                    <a:srgbClr val="212121"/>
                  </a:solidFill>
                  <a:latin typeface="Source Sans Pro" panose="020B0503030403020204" pitchFamily="34" charset="0"/>
                  <a:cs typeface="Poppins Light" pitchFamily="2" charset="77"/>
                  <a:sym typeface="Helvetica"/>
                </a:rPr>
                <a:t>Commerciale</a:t>
              </a:r>
            </a:p>
            <a:p>
              <a:pPr marL="0" marR="0" lvl="0" indent="0" algn="l" defTabSz="412750" rtl="0" eaLnBrk="1" fontAlgn="auto" latinLnBrk="0" hangingPunct="0">
                <a:lnSpc>
                  <a:spcPts val="1250"/>
                </a:lnSpc>
                <a:spcBef>
                  <a:spcPts val="1000"/>
                </a:spcBef>
                <a:spcAft>
                  <a:spcPts val="0"/>
                </a:spcAft>
                <a:buClrTx/>
                <a:buSzTx/>
                <a:buFontTx/>
                <a:buNone/>
                <a:tabLst/>
                <a:defRPr/>
              </a:pPr>
              <a:r>
                <a:rPr lang="en-US" sz="1600" b="1" kern="0">
                  <a:solidFill>
                    <a:srgbClr val="212121"/>
                  </a:solidFill>
                  <a:latin typeface="Source Sans Pro" panose="020B0503030403020204" pitchFamily="34" charset="0"/>
                  <a:cs typeface="Poppins Light" pitchFamily="2" charset="77"/>
                  <a:sym typeface="Helvetica"/>
                </a:rPr>
                <a:t>(lead management)</a:t>
              </a:r>
            </a:p>
          </p:txBody>
        </p:sp>
        <p:sp>
          <p:nvSpPr>
            <p:cNvPr id="45" name="TextBox 2">
              <a:extLst>
                <a:ext uri="{FF2B5EF4-FFF2-40B4-BE49-F238E27FC236}">
                  <a16:creationId xmlns:a16="http://schemas.microsoft.com/office/drawing/2014/main" id="{1670A6CA-CF90-926A-A804-4966A3780143}"/>
                </a:ext>
              </a:extLst>
            </p:cNvPr>
            <p:cNvSpPr txBox="1"/>
            <p:nvPr/>
          </p:nvSpPr>
          <p:spPr>
            <a:xfrm>
              <a:off x="2437975" y="8069724"/>
              <a:ext cx="4755775" cy="1477328"/>
            </a:xfrm>
            <a:prstGeom prst="rect">
              <a:avLst/>
            </a:prstGeom>
            <a:noFill/>
          </p:spPr>
          <p:txBody>
            <a:bodyPr wrap="square" rtlCol="0">
              <a:spAutoFit/>
            </a:bodyPr>
            <a:lstStyle/>
            <a:p>
              <a:pPr marL="0" marR="0" lvl="0" indent="0" algn="l" defTabSz="412750" rtl="0" eaLnBrk="1" fontAlgn="auto" latinLnBrk="0" hangingPunct="0">
                <a:lnSpc>
                  <a:spcPct val="100000"/>
                </a:lnSpc>
                <a:spcBef>
                  <a:spcPts val="1000"/>
                </a:spcBef>
                <a:spcAft>
                  <a:spcPts val="0"/>
                </a:spcAft>
                <a:buClrTx/>
                <a:buSzTx/>
                <a:buFontTx/>
                <a:buNone/>
                <a:tabLst/>
                <a:defRPr/>
              </a:pPr>
              <a:r>
                <a:rPr lang="en-US" sz="1400" kern="0" err="1">
                  <a:solidFill>
                    <a:srgbClr val="212121"/>
                  </a:solidFill>
                  <a:latin typeface="Source Sans Pro" panose="020B0503030403020204" pitchFamily="34" charset="0"/>
                  <a:cs typeface="Poppins Light" pitchFamily="2" charset="77"/>
                  <a:sym typeface="Helvetica"/>
                </a:rPr>
                <a:t>Identificazione</a:t>
              </a:r>
              <a:r>
                <a:rPr lang="en-US" sz="1400" kern="0">
                  <a:solidFill>
                    <a:srgbClr val="212121"/>
                  </a:solidFill>
                  <a:latin typeface="Source Sans Pro" panose="020B0503030403020204" pitchFamily="34" charset="0"/>
                  <a:cs typeface="Poppins Light" pitchFamily="2" charset="77"/>
                  <a:sym typeface="Helvetica"/>
                </a:rPr>
                <a:t> </a:t>
              </a:r>
              <a:r>
                <a:rPr lang="en-US" sz="1400" kern="0" err="1">
                  <a:solidFill>
                    <a:srgbClr val="212121"/>
                  </a:solidFill>
                  <a:latin typeface="Source Sans Pro" panose="020B0503030403020204" pitchFamily="34" charset="0"/>
                  <a:cs typeface="Poppins Light" pitchFamily="2" charset="77"/>
                  <a:sym typeface="Helvetica"/>
                </a:rPr>
                <a:t>dell’opportunità</a:t>
              </a:r>
              <a:r>
                <a:rPr lang="en-US" sz="1400" kern="0">
                  <a:solidFill>
                    <a:srgbClr val="212121"/>
                  </a:solidFill>
                  <a:latin typeface="Source Sans Pro" panose="020B0503030403020204" pitchFamily="34" charset="0"/>
                  <a:cs typeface="Poppins Light" pitchFamily="2" charset="77"/>
                  <a:sym typeface="Helvetica"/>
                </a:rPr>
                <a:t> </a:t>
              </a:r>
              <a:r>
                <a:rPr lang="en-US" sz="1400" kern="0" err="1">
                  <a:solidFill>
                    <a:srgbClr val="212121"/>
                  </a:solidFill>
                  <a:latin typeface="Source Sans Pro" panose="020B0503030403020204" pitchFamily="34" charset="0"/>
                  <a:cs typeface="Poppins Light" pitchFamily="2" charset="77"/>
                  <a:sym typeface="Helvetica"/>
                </a:rPr>
                <a:t>commerciale</a:t>
              </a:r>
              <a:endParaRPr lang="en-US" sz="1400" kern="0">
                <a:solidFill>
                  <a:srgbClr val="212121"/>
                </a:solidFill>
                <a:latin typeface="Source Sans Pro" panose="020B0503030403020204" pitchFamily="34" charset="0"/>
                <a:cs typeface="Poppins Light" pitchFamily="2" charset="77"/>
                <a:sym typeface="Helvetica"/>
              </a:endParaRPr>
            </a:p>
          </p:txBody>
        </p:sp>
        <p:pic>
          <p:nvPicPr>
            <p:cNvPr id="46" name="Immagine 45" descr="Immagine che contiene Elementi grafici, Carattere, cerchio, simbolo&#10;&#10;Descrizione generata automaticamente">
              <a:extLst>
                <a:ext uri="{FF2B5EF4-FFF2-40B4-BE49-F238E27FC236}">
                  <a16:creationId xmlns:a16="http://schemas.microsoft.com/office/drawing/2014/main" id="{950BE1A4-5CB0-8CED-FE25-CBA8AEB392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3751" y="4629755"/>
              <a:ext cx="1800000" cy="1800000"/>
            </a:xfrm>
            <a:prstGeom prst="rect">
              <a:avLst/>
            </a:prstGeom>
          </p:spPr>
        </p:pic>
        <p:sp>
          <p:nvSpPr>
            <p:cNvPr id="47" name="TextBox 2">
              <a:extLst>
                <a:ext uri="{FF2B5EF4-FFF2-40B4-BE49-F238E27FC236}">
                  <a16:creationId xmlns:a16="http://schemas.microsoft.com/office/drawing/2014/main" id="{02E44FF0-0DCE-F662-6FD7-63F990DB0C51}"/>
                </a:ext>
              </a:extLst>
            </p:cNvPr>
            <p:cNvSpPr txBox="1"/>
            <p:nvPr/>
          </p:nvSpPr>
          <p:spPr>
            <a:xfrm>
              <a:off x="5330496" y="10094822"/>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1</a:t>
              </a:r>
            </a:p>
          </p:txBody>
        </p:sp>
      </p:grpSp>
      <p:sp>
        <p:nvSpPr>
          <p:cNvPr id="2" name="CasellaDiTesto 1">
            <a:extLst>
              <a:ext uri="{FF2B5EF4-FFF2-40B4-BE49-F238E27FC236}">
                <a16:creationId xmlns:a16="http://schemas.microsoft.com/office/drawing/2014/main" id="{299C0266-BCCF-4EC1-AACC-151B4592A6C1}"/>
              </a:ext>
            </a:extLst>
          </p:cNvPr>
          <p:cNvSpPr txBox="1"/>
          <p:nvPr/>
        </p:nvSpPr>
        <p:spPr>
          <a:xfrm>
            <a:off x="7425179" y="3288978"/>
            <a:ext cx="2503118" cy="14465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lnSpc>
                <a:spcPct val="150000"/>
              </a:lnSpc>
              <a:spcBef>
                <a:spcPts val="2000"/>
              </a:spcBef>
            </a:pPr>
            <a:r>
              <a:rPr lang="it-IT" dirty="0">
                <a:latin typeface="Source Sans Pro"/>
                <a:hlinkClick r:id="rId5"/>
              </a:rPr>
              <a:t>Vendita</a:t>
            </a:r>
            <a:endParaRPr lang="it-IT" dirty="0">
              <a:latin typeface="Source Sans Pro" panose="020B0503030403020204" pitchFamily="34" charset="0"/>
            </a:endParaRPr>
          </a:p>
          <a:p>
            <a:pPr defTabSz="825500" hangingPunct="0">
              <a:lnSpc>
                <a:spcPct val="150000"/>
              </a:lnSpc>
              <a:spcBef>
                <a:spcPts val="2000"/>
              </a:spcBef>
            </a:pPr>
            <a:r>
              <a:rPr lang="it-IT" dirty="0">
                <a:latin typeface="Source Sans Pro"/>
                <a:hlinkClick r:id="rId6"/>
              </a:rPr>
              <a:t>Noleggio/Subnoleggio</a:t>
            </a:r>
            <a:endParaRPr lang="it-IT" dirty="0">
              <a:latin typeface="Source Sans Pro" panose="020B0503030403020204" pitchFamily="34" charset="0"/>
              <a:hlinkClick r:id="rId7"/>
            </a:endParaRPr>
          </a:p>
        </p:txBody>
      </p:sp>
      <p:sp>
        <p:nvSpPr>
          <p:cNvPr id="4" name="TextBox 1">
            <a:extLst>
              <a:ext uri="{FF2B5EF4-FFF2-40B4-BE49-F238E27FC236}">
                <a16:creationId xmlns:a16="http://schemas.microsoft.com/office/drawing/2014/main" id="{05C4690F-6A3D-1C0A-E749-DFC814FB11C7}"/>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sp>
        <p:nvSpPr>
          <p:cNvPr id="6" name="TextBox 2">
            <a:extLst>
              <a:ext uri="{FF2B5EF4-FFF2-40B4-BE49-F238E27FC236}">
                <a16:creationId xmlns:a16="http://schemas.microsoft.com/office/drawing/2014/main" id="{AC498344-C258-8A75-AF7F-79E83CFA10C8}"/>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pic>
        <p:nvPicPr>
          <p:cNvPr id="7" name="Immagine 6" descr="Immagine che contiene testo, Carattere, Elementi grafici, cartello&#10;&#10;Descrizione generata automaticamente">
            <a:extLst>
              <a:ext uri="{FF2B5EF4-FFF2-40B4-BE49-F238E27FC236}">
                <a16:creationId xmlns:a16="http://schemas.microsoft.com/office/drawing/2014/main" id="{786703EE-72FC-03F4-0973-79A200EBE1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spTree>
    <p:extLst>
      <p:ext uri="{BB962C8B-B14F-4D97-AF65-F5344CB8AC3E}">
        <p14:creationId xmlns:p14="http://schemas.microsoft.com/office/powerpoint/2010/main" val="211553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0B866A6-4C69-2A19-8418-83FEACCFF182}"/>
              </a:ext>
            </a:extLst>
          </p:cNvPr>
          <p:cNvSpPr txBox="1"/>
          <p:nvPr/>
        </p:nvSpPr>
        <p:spPr>
          <a:xfrm>
            <a:off x="623888" y="1619685"/>
            <a:ext cx="3669438" cy="40523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spcBef>
                <a:spcPts val="2000"/>
              </a:spcBef>
            </a:pPr>
            <a:r>
              <a:rPr lang="it-IT" sz="1600" kern="100">
                <a:latin typeface="Source Sans Pro Light" panose="020B0403030403020204" pitchFamily="34" charset="0"/>
                <a:cs typeface="Times New Roman"/>
              </a:rPr>
              <a:t>In caso di </a:t>
            </a:r>
            <a:r>
              <a:rPr lang="it-IT" sz="1600" b="1" kern="100">
                <a:latin typeface="Source Sans Pro Semibold" panose="020B0503030403020204" pitchFamily="34" charset="0"/>
                <a:cs typeface="Times New Roman"/>
              </a:rPr>
              <a:t>vendita</a:t>
            </a:r>
            <a:r>
              <a:rPr lang="it-IT" sz="1600" kern="100">
                <a:latin typeface="Source Sans Pro Light" panose="020B0403030403020204" pitchFamily="34" charset="0"/>
                <a:cs typeface="Times New Roman"/>
              </a:rPr>
              <a:t>, il dealer dovrà compilare un modulo di lead ad hoc in cui nella prima pagina inserirà i dati principali dell’esercente, le commissioni applicate e l’iban, ed infine i suoi dati (tra cui la Partita IVA). </a:t>
            </a:r>
            <a:br>
              <a:rPr lang="it-IT" sz="1600" kern="100">
                <a:latin typeface="Source Sans Pro Light" panose="020B0403030403020204" pitchFamily="34" charset="0"/>
                <a:cs typeface="Times New Roman"/>
              </a:rPr>
            </a:br>
            <a:br>
              <a:rPr lang="it-IT" sz="1600" kern="100">
                <a:latin typeface="Source Sans Pro Light" panose="020B0403030403020204" pitchFamily="34" charset="0"/>
                <a:cs typeface="Times New Roman"/>
              </a:rPr>
            </a:br>
            <a:r>
              <a:rPr lang="it-IT" sz="1600" kern="100">
                <a:latin typeface="Source Sans Pro Light" panose="020B0403030403020204" pitchFamily="34" charset="0"/>
                <a:cs typeface="Times New Roman"/>
              </a:rPr>
              <a:t>Nella seconda pagina, invece, dovrà selezionare nella tabella della lista </a:t>
            </a:r>
            <a:br>
              <a:rPr lang="it-IT" sz="1600" kern="100">
                <a:latin typeface="Source Sans Pro Light" panose="020B0403030403020204" pitchFamily="34" charset="0"/>
                <a:cs typeface="Times New Roman"/>
              </a:rPr>
            </a:br>
            <a:r>
              <a:rPr lang="it-IT" sz="1600" kern="100">
                <a:latin typeface="Source Sans Pro Light" panose="020B0403030403020204" pitchFamily="34" charset="0"/>
                <a:cs typeface="Times New Roman"/>
              </a:rPr>
              <a:t>di terminali la soluzione di pagamento venduta e se già in possesso dovrà indicare </a:t>
            </a:r>
            <a:br>
              <a:rPr lang="it-IT" sz="1600" kern="100">
                <a:latin typeface="Source Sans Pro Light" panose="020B0403030403020204" pitchFamily="34" charset="0"/>
                <a:cs typeface="Times New Roman"/>
              </a:rPr>
            </a:br>
            <a:r>
              <a:rPr lang="it-IT" sz="1600" kern="100">
                <a:latin typeface="Source Sans Pro Light" panose="020B0403030403020204" pitchFamily="34" charset="0"/>
                <a:cs typeface="Times New Roman"/>
              </a:rPr>
              <a:t>il Serial </a:t>
            </a:r>
            <a:r>
              <a:rPr lang="it-IT" sz="1600" kern="100" err="1">
                <a:latin typeface="Source Sans Pro Light" panose="020B0403030403020204" pitchFamily="34" charset="0"/>
                <a:cs typeface="Times New Roman"/>
              </a:rPr>
              <a:t>Number</a:t>
            </a:r>
            <a:r>
              <a:rPr lang="it-IT" sz="1600" kern="100">
                <a:latin typeface="Source Sans Pro Light" panose="020B0403030403020204" pitchFamily="34" charset="0"/>
                <a:cs typeface="Times New Roman"/>
              </a:rPr>
              <a:t>. Ultima, ma non per importanza, è la tabella delle convenzioni che può variare a seconda della tipologia di contratto di </a:t>
            </a:r>
            <a:r>
              <a:rPr lang="it-IT" sz="1600" kern="100" err="1">
                <a:latin typeface="Source Sans Pro Light" panose="020B0403030403020204" pitchFamily="34" charset="0"/>
                <a:cs typeface="Times New Roman"/>
              </a:rPr>
              <a:t>Acquiring</a:t>
            </a:r>
            <a:r>
              <a:rPr lang="it-IT" sz="1600" kern="100">
                <a:latin typeface="Source Sans Pro Light" panose="020B0403030403020204" pitchFamily="34" charset="0"/>
                <a:cs typeface="Times New Roman"/>
              </a:rPr>
              <a:t>. </a:t>
            </a:r>
          </a:p>
        </p:txBody>
      </p:sp>
      <p:pic>
        <p:nvPicPr>
          <p:cNvPr id="3" name="Immagine 2" descr="Immagine che contiene testo, schermata, numero, Parallelo&#10;&#10;Il contenuto generato dall'IA potrebbe non essere corretto.">
            <a:extLst>
              <a:ext uri="{FF2B5EF4-FFF2-40B4-BE49-F238E27FC236}">
                <a16:creationId xmlns:a16="http://schemas.microsoft.com/office/drawing/2014/main" id="{2EF1D04D-6041-3D30-0343-4C238EFB68F6}"/>
              </a:ext>
            </a:extLst>
          </p:cNvPr>
          <p:cNvPicPr>
            <a:picLocks noChangeAspect="1"/>
          </p:cNvPicPr>
          <p:nvPr/>
        </p:nvPicPr>
        <p:blipFill>
          <a:blip r:embed="rId2"/>
          <a:stretch>
            <a:fillRect/>
          </a:stretch>
        </p:blipFill>
        <p:spPr>
          <a:xfrm>
            <a:off x="4748212" y="1310472"/>
            <a:ext cx="6819900" cy="4829175"/>
          </a:xfrm>
          <a:prstGeom prst="rect">
            <a:avLst/>
          </a:prstGeom>
        </p:spPr>
      </p:pic>
    </p:spTree>
    <p:extLst>
      <p:ext uri="{BB962C8B-B14F-4D97-AF65-F5344CB8AC3E}">
        <p14:creationId xmlns:p14="http://schemas.microsoft.com/office/powerpoint/2010/main" val="322985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testo, schermata, numero, Parallelo&#10;&#10;Il contenuto generato dall'IA potrebbe non essere corretto.">
            <a:extLst>
              <a:ext uri="{FF2B5EF4-FFF2-40B4-BE49-F238E27FC236}">
                <a16:creationId xmlns:a16="http://schemas.microsoft.com/office/drawing/2014/main" id="{330D1FD7-C198-1F1A-DDC5-E3184F2A5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392" y="609609"/>
            <a:ext cx="6933370" cy="4897833"/>
          </a:xfrm>
          <a:prstGeom prst="rect">
            <a:avLst/>
          </a:prstGeom>
          <a:ln w="3175">
            <a:solidFill>
              <a:schemeClr val="tx1"/>
            </a:solidFill>
          </a:ln>
        </p:spPr>
      </p:pic>
      <p:pic>
        <p:nvPicPr>
          <p:cNvPr id="5" name="Immagine 4" descr="Immagine che contiene testo, schermata, numero, Parallelo&#10;&#10;Il contenuto generato dall'IA potrebbe non essere corretto.">
            <a:extLst>
              <a:ext uri="{FF2B5EF4-FFF2-40B4-BE49-F238E27FC236}">
                <a16:creationId xmlns:a16="http://schemas.microsoft.com/office/drawing/2014/main" id="{F592ECE2-F52D-161D-3489-C46A5AFD58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761" y="609610"/>
            <a:ext cx="3478835" cy="4897833"/>
          </a:xfrm>
          <a:prstGeom prst="rect">
            <a:avLst/>
          </a:prstGeom>
          <a:ln w="3175">
            <a:solidFill>
              <a:schemeClr val="tx1"/>
            </a:solidFill>
          </a:ln>
        </p:spPr>
      </p:pic>
      <p:sp>
        <p:nvSpPr>
          <p:cNvPr id="6" name="CasellaDiTesto 5">
            <a:extLst>
              <a:ext uri="{FF2B5EF4-FFF2-40B4-BE49-F238E27FC236}">
                <a16:creationId xmlns:a16="http://schemas.microsoft.com/office/drawing/2014/main" id="{CC147300-64F8-9123-B3AD-44AC07BFD81E}"/>
              </a:ext>
            </a:extLst>
          </p:cNvPr>
          <p:cNvSpPr txBox="1"/>
          <p:nvPr/>
        </p:nvSpPr>
        <p:spPr>
          <a:xfrm>
            <a:off x="556622" y="5507442"/>
            <a:ext cx="10647973" cy="10054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spcBef>
                <a:spcPts val="2000"/>
              </a:spcBef>
            </a:pPr>
            <a:r>
              <a:rPr lang="it-IT" sz="1400">
                <a:latin typeface="Source Sans Pro Light" panose="020B0403030403020204" pitchFamily="34" charset="0"/>
              </a:rPr>
              <a:t>Per quanto riguarda i casi di noleggio e subnoleggio, la prima parte rimane invariata, mentre nella seconda troveremo soluzione più complete e non soltanto i singoli terminali, come per la vendita. Inoltre, con queste tipologie di contratti, non è necessario indicare la tipologia di convenzionamento, bensì vengono richiesti soltanto i giorni e la fascia orario di reperibilità nei confronti del tecnico. </a:t>
            </a:r>
          </a:p>
        </p:txBody>
      </p:sp>
    </p:spTree>
    <p:extLst>
      <p:ext uri="{BB962C8B-B14F-4D97-AF65-F5344CB8AC3E}">
        <p14:creationId xmlns:p14="http://schemas.microsoft.com/office/powerpoint/2010/main" val="1000806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hy Custom?">
            <a:extLst>
              <a:ext uri="{FF2B5EF4-FFF2-40B4-BE49-F238E27FC236}">
                <a16:creationId xmlns:a16="http://schemas.microsoft.com/office/drawing/2014/main" id="{0A50349C-EA24-0723-BF25-F88DE6B12A34}"/>
              </a:ext>
            </a:extLst>
          </p:cNvPr>
          <p:cNvSpPr txBox="1"/>
          <p:nvPr/>
        </p:nvSpPr>
        <p:spPr>
          <a:xfrm>
            <a:off x="6096000" y="2586513"/>
            <a:ext cx="4347934" cy="204132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nchor="t">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marL="0" marR="0" lvl="0" indent="0" algn="l" defTabSz="412750" rtl="0" eaLnBrk="1" fontAlgn="auto" latinLnBrk="0" hangingPunct="0">
              <a:lnSpc>
                <a:spcPct val="90000"/>
              </a:lnSpc>
              <a:spcBef>
                <a:spcPts val="0"/>
              </a:spcBef>
              <a:spcAft>
                <a:spcPts val="900"/>
              </a:spcAft>
              <a:buClrTx/>
              <a:buSzTx/>
              <a:buFontTx/>
              <a:buNone/>
              <a:tabLst/>
              <a:defRPr/>
            </a:pPr>
            <a:r>
              <a:rPr lang="it-IT" sz="1750" kern="0" spc="0">
                <a:latin typeface="Source Sans Pro" panose="020B0503030403020204" pitchFamily="34" charset="0"/>
              </a:rPr>
              <a:t>Il dealer invia la mail a </a:t>
            </a:r>
            <a:r>
              <a:rPr lang="it-IT" sz="1750" b="1" kern="0" spc="0" err="1">
                <a:solidFill>
                  <a:srgbClr val="03ACA1"/>
                </a:solidFill>
                <a:latin typeface="Source Sans Pro" panose="020B0503030403020204" pitchFamily="34" charset="0"/>
              </a:rPr>
              <a:t>lead@custompay.it</a:t>
            </a:r>
            <a:r>
              <a:rPr lang="it-IT" sz="1750" b="1" kern="0" spc="0">
                <a:latin typeface="Source Sans Pro" panose="020B0503030403020204" pitchFamily="34" charset="0"/>
              </a:rPr>
              <a:t> </a:t>
            </a:r>
            <a:r>
              <a:rPr lang="it-IT" sz="1750" kern="0" spc="0">
                <a:latin typeface="Source Sans Pro" panose="020B0503030403020204" pitchFamily="34" charset="0"/>
              </a:rPr>
              <a:t>con i seguenti dati e documenti con riferimento all’esercente:</a:t>
            </a: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Modulo di lead (compilato in tutti i campi):</a:t>
            </a:r>
          </a:p>
          <a:p>
            <a:pPr marL="685800" lvl="1" indent="-228600" defTabSz="412750">
              <a:lnSpc>
                <a:spcPct val="90000"/>
              </a:lnSpc>
              <a:spcAft>
                <a:spcPts val="900"/>
              </a:spcAft>
              <a:buFont typeface="Courier New" panose="020B0604020202020204" pitchFamily="34" charset="0"/>
              <a:buChar char="o"/>
              <a:defRPr/>
            </a:pPr>
            <a:r>
              <a:rPr lang="it-IT" sz="1600" kern="0">
                <a:solidFill>
                  <a:srgbClr val="000000"/>
                </a:solidFill>
                <a:latin typeface="Source Sans Pro Light"/>
                <a:ea typeface="Source Sans Pro Light"/>
                <a:cs typeface="Helvetica"/>
              </a:rPr>
              <a:t>Nel caso si possieda già la soluzione è fondamentale specificare il serial </a:t>
            </a:r>
            <a:r>
              <a:rPr lang="it-IT" sz="1600" kern="0" err="1">
                <a:solidFill>
                  <a:srgbClr val="000000"/>
                </a:solidFill>
                <a:latin typeface="Source Sans Pro Light"/>
                <a:ea typeface="Source Sans Pro Light"/>
                <a:cs typeface="Helvetica"/>
              </a:rPr>
              <a:t>number</a:t>
            </a:r>
            <a:endParaRPr lang="it-IT" sz="1600" kern="0">
              <a:solidFill>
                <a:srgbClr val="000000"/>
              </a:solidFill>
              <a:latin typeface="Source Sans Pro Light"/>
              <a:ea typeface="Source Sans Pro Light"/>
              <a:cs typeface="Helvetica"/>
              <a:sym typeface="Source Sans Pro Light"/>
            </a:endParaRP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Documenti legale rappresentate e titolare/i effettivo/i, scegliendo tra le seguenti opzioni:</a:t>
            </a:r>
          </a:p>
          <a:p>
            <a:pPr marL="685800" marR="0" lvl="1" indent="-228600" algn="l" defTabSz="412750" rtl="0" eaLnBrk="1" fontAlgn="auto" latinLnBrk="0" hangingPunct="1">
              <a:lnSpc>
                <a:spcPct val="90000"/>
              </a:lnSpc>
              <a:spcBef>
                <a:spcPts val="0"/>
              </a:spcBef>
              <a:spcAft>
                <a:spcPts val="900"/>
              </a:spcAft>
              <a:buClrTx/>
              <a:buSzTx/>
              <a:buFont typeface="Courier New" panose="020B0604020202020204" pitchFamily="34" charset="0"/>
              <a:buChar char="o"/>
              <a:tabLst/>
              <a:defRPr/>
            </a:pPr>
            <a:r>
              <a:rPr lang="it-IT" sz="1600" kern="0">
                <a:solidFill>
                  <a:srgbClr val="000000"/>
                </a:solidFill>
                <a:latin typeface="Source Sans Pro Light"/>
                <a:ea typeface="Source Sans Pro Light"/>
                <a:cs typeface="Helvetica"/>
              </a:rPr>
              <a:t>Carta d'identità cartacea/elettronica e tessera sanitaria</a:t>
            </a:r>
          </a:p>
          <a:p>
            <a:pPr marL="685800" marR="0" lvl="1" indent="-228600" algn="l" defTabSz="412750" rtl="0" eaLnBrk="1" fontAlgn="auto" latinLnBrk="0" hangingPunct="1">
              <a:lnSpc>
                <a:spcPct val="100000"/>
              </a:lnSpc>
              <a:spcBef>
                <a:spcPts val="0"/>
              </a:spcBef>
              <a:spcAft>
                <a:spcPts val="900"/>
              </a:spcAft>
              <a:buClrTx/>
              <a:buSzTx/>
              <a:buFont typeface="Courier New" panose="020B0604020202020204" pitchFamily="34" charset="0"/>
              <a:buChar char="o"/>
              <a:tabLst/>
              <a:defRPr/>
            </a:pPr>
            <a:r>
              <a:rPr lang="it-IT" sz="1600" kern="0">
                <a:solidFill>
                  <a:srgbClr val="000000"/>
                </a:solidFill>
                <a:latin typeface="Source Sans Pro Light"/>
                <a:ea typeface="Source Sans Pro Light"/>
                <a:cs typeface="Helvetica"/>
              </a:rPr>
              <a:t>Patente e tessera sanitaria</a:t>
            </a:r>
            <a:endParaRPr lang="it-IT" sz="1600" kern="0">
              <a:solidFill>
                <a:srgbClr val="212121"/>
              </a:solidFill>
              <a:latin typeface="Helvetica"/>
              <a:ea typeface="Source Sans Pro Light"/>
              <a:cs typeface="Helvetica"/>
            </a:endParaRPr>
          </a:p>
        </p:txBody>
      </p:sp>
      <p:pic>
        <p:nvPicPr>
          <p:cNvPr id="5" name="Immagine 4">
            <a:extLst>
              <a:ext uri="{FF2B5EF4-FFF2-40B4-BE49-F238E27FC236}">
                <a16:creationId xmlns:a16="http://schemas.microsoft.com/office/drawing/2014/main" id="{C2F47371-A166-C7FB-697E-98641F21EEE9}"/>
              </a:ext>
            </a:extLst>
          </p:cNvPr>
          <p:cNvPicPr>
            <a:picLocks noChangeAspect="1"/>
          </p:cNvPicPr>
          <p:nvPr/>
        </p:nvPicPr>
        <p:blipFill>
          <a:blip r:embed="rId2"/>
          <a:stretch>
            <a:fillRect/>
          </a:stretch>
        </p:blipFill>
        <p:spPr>
          <a:xfrm>
            <a:off x="1534482" y="2084853"/>
            <a:ext cx="2523963" cy="3499407"/>
          </a:xfrm>
          <a:prstGeom prst="rect">
            <a:avLst/>
          </a:prstGeom>
        </p:spPr>
      </p:pic>
      <p:sp>
        <p:nvSpPr>
          <p:cNvPr id="6" name="TextBox 1">
            <a:extLst>
              <a:ext uri="{FF2B5EF4-FFF2-40B4-BE49-F238E27FC236}">
                <a16:creationId xmlns:a16="http://schemas.microsoft.com/office/drawing/2014/main" id="{6C3D170B-ACE3-271E-61C5-4D043BD815BF}"/>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sp>
        <p:nvSpPr>
          <p:cNvPr id="8" name="TextBox 2">
            <a:extLst>
              <a:ext uri="{FF2B5EF4-FFF2-40B4-BE49-F238E27FC236}">
                <a16:creationId xmlns:a16="http://schemas.microsoft.com/office/drawing/2014/main" id="{8FC9D25A-3BB1-7604-CC66-8F693F1E5F50}"/>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pic>
        <p:nvPicPr>
          <p:cNvPr id="9" name="Immagine 8" descr="Immagine che contiene testo, Carattere, Elementi grafici, cartello&#10;&#10;Descrizione generata automaticamente">
            <a:extLst>
              <a:ext uri="{FF2B5EF4-FFF2-40B4-BE49-F238E27FC236}">
                <a16:creationId xmlns:a16="http://schemas.microsoft.com/office/drawing/2014/main" id="{7406B88D-05A2-10B1-98A7-17DD93F7F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spTree>
    <p:extLst>
      <p:ext uri="{BB962C8B-B14F-4D97-AF65-F5344CB8AC3E}">
        <p14:creationId xmlns:p14="http://schemas.microsoft.com/office/powerpoint/2010/main" val="180977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9E9E9-A285-9BF7-AEA9-3B96016686DE}"/>
            </a:ext>
          </a:extLst>
        </p:cNvPr>
        <p:cNvGrpSpPr/>
        <p:nvPr/>
      </p:nvGrpSpPr>
      <p:grpSpPr>
        <a:xfrm>
          <a:off x="0" y="0"/>
          <a:ext cx="0" cy="0"/>
          <a:chOff x="0" y="0"/>
          <a:chExt cx="0" cy="0"/>
        </a:xfrm>
      </p:grpSpPr>
      <p:graphicFrame>
        <p:nvGraphicFramePr>
          <p:cNvPr id="24" name="Tabella 23">
            <a:extLst>
              <a:ext uri="{FF2B5EF4-FFF2-40B4-BE49-F238E27FC236}">
                <a16:creationId xmlns:a16="http://schemas.microsoft.com/office/drawing/2014/main" id="{27D6BAB5-7547-7E66-1E87-C1E05C43468D}"/>
              </a:ext>
            </a:extLst>
          </p:cNvPr>
          <p:cNvGraphicFramePr>
            <a:graphicFrameLocks noGrp="1"/>
          </p:cNvGraphicFramePr>
          <p:nvPr/>
        </p:nvGraphicFramePr>
        <p:xfrm>
          <a:off x="646940" y="1183341"/>
          <a:ext cx="10902716" cy="4956309"/>
        </p:xfrm>
        <a:graphic>
          <a:graphicData uri="http://schemas.openxmlformats.org/drawingml/2006/table">
            <a:tbl>
              <a:tblPr bandRow="1">
                <a:tableStyleId>{5C22544A-7EE6-4342-B048-85BDC9FD1C3A}</a:tableStyleId>
              </a:tblPr>
              <a:tblGrid>
                <a:gridCol w="1185333">
                  <a:extLst>
                    <a:ext uri="{9D8B030D-6E8A-4147-A177-3AD203B41FA5}">
                      <a16:colId xmlns:a16="http://schemas.microsoft.com/office/drawing/2014/main" val="1746121381"/>
                    </a:ext>
                  </a:extLst>
                </a:gridCol>
                <a:gridCol w="1675684">
                  <a:extLst>
                    <a:ext uri="{9D8B030D-6E8A-4147-A177-3AD203B41FA5}">
                      <a16:colId xmlns:a16="http://schemas.microsoft.com/office/drawing/2014/main" val="2571344274"/>
                    </a:ext>
                  </a:extLst>
                </a:gridCol>
                <a:gridCol w="3221691">
                  <a:extLst>
                    <a:ext uri="{9D8B030D-6E8A-4147-A177-3AD203B41FA5}">
                      <a16:colId xmlns:a16="http://schemas.microsoft.com/office/drawing/2014/main" val="857121072"/>
                    </a:ext>
                  </a:extLst>
                </a:gridCol>
                <a:gridCol w="2363918">
                  <a:extLst>
                    <a:ext uri="{9D8B030D-6E8A-4147-A177-3AD203B41FA5}">
                      <a16:colId xmlns:a16="http://schemas.microsoft.com/office/drawing/2014/main" val="907205418"/>
                    </a:ext>
                  </a:extLst>
                </a:gridCol>
                <a:gridCol w="2456090">
                  <a:extLst>
                    <a:ext uri="{9D8B030D-6E8A-4147-A177-3AD203B41FA5}">
                      <a16:colId xmlns:a16="http://schemas.microsoft.com/office/drawing/2014/main" val="1902542609"/>
                    </a:ext>
                  </a:extLst>
                </a:gridCol>
              </a:tblGrid>
              <a:tr h="459853">
                <a:tc>
                  <a:txBody>
                    <a:bodyPr/>
                    <a:lstStyle/>
                    <a:p>
                      <a:pPr algn="ctr"/>
                      <a:r>
                        <a:rPr lang="it-IT" sz="1200">
                          <a:solidFill>
                            <a:schemeClr val="bg1">
                              <a:lumMod val="20000"/>
                              <a:lumOff val="80000"/>
                            </a:schemeClr>
                          </a:solidFill>
                          <a:latin typeface="Source Sans Pro"/>
                        </a:rPr>
                        <a:t>Giorni LAVORATIVI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err="1">
                          <a:solidFill>
                            <a:schemeClr val="bg1">
                              <a:lumMod val="20000"/>
                              <a:lumOff val="80000"/>
                            </a:schemeClr>
                          </a:solidFill>
                          <a:latin typeface="Source Sans Pro" panose="020B0503030403020204" pitchFamily="34" charset="0"/>
                        </a:rPr>
                        <a:t>Nexi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51240398"/>
                  </a:ext>
                </a:extLst>
              </a:tr>
              <a:tr h="612000">
                <a:tc>
                  <a:txBody>
                    <a:bodyPr/>
                    <a:lstStyle/>
                    <a:p>
                      <a:pPr algn="ctr"/>
                      <a:r>
                        <a:rPr lang="it-IT" sz="2400">
                          <a:solidFill>
                            <a:schemeClr val="bg1">
                              <a:lumMod val="20000"/>
                              <a:lumOff val="80000"/>
                            </a:schemeClr>
                          </a:solidFill>
                          <a:latin typeface="Source Sans Pro"/>
                        </a:rPr>
                        <a:t>1</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r>
                        <a:rPr lang="it-IT" sz="1100" b="0" i="0" cap="none" spc="0">
                          <a:latin typeface="Source Sans Pro Light"/>
                        </a:rPr>
                        <a:t>Compila la lead e la invia a 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Prende in carico la richiesta di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246931"/>
                  </a:ext>
                </a:extLst>
              </a:tr>
              <a:tr h="612000">
                <a:tc>
                  <a:txBody>
                    <a:bodyPr/>
                    <a:lstStyle/>
                    <a:p>
                      <a:pPr algn="ctr"/>
                      <a:r>
                        <a:rPr lang="it-IT" sz="2400">
                          <a:solidFill>
                            <a:schemeClr val="bg1">
                              <a:lumMod val="20000"/>
                              <a:lumOff val="80000"/>
                            </a:schemeClr>
                          </a:solidFill>
                          <a:latin typeface="Source Sans Pro"/>
                        </a:rPr>
                        <a:t>2</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documento di sintesi con le commissioni all'esercente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864296"/>
                  </a:ext>
                </a:extLst>
              </a:tr>
              <a:tr h="612000">
                <a:tc rowSpan="3">
                  <a:txBody>
                    <a:bodyPr/>
                    <a:lstStyle/>
                    <a:p>
                      <a:pPr algn="ctr"/>
                      <a:r>
                        <a:rPr lang="it-IT" sz="2400">
                          <a:solidFill>
                            <a:schemeClr val="bg1">
                              <a:lumMod val="20000"/>
                              <a:lumOff val="80000"/>
                            </a:schemeClr>
                          </a:solidFill>
                          <a:latin typeface="Source Sans Pro"/>
                        </a:rPr>
                        <a:t>3-7</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il contratto per la firma remota all'esercente </a:t>
                      </a:r>
                      <a:br>
                        <a:rPr lang="it-IT" sz="1100" b="0" i="0" cap="none" spc="0">
                          <a:latin typeface="Source Sans Pro Light"/>
                        </a:rPr>
                      </a:br>
                      <a:r>
                        <a:rPr lang="it-IT" sz="1100" b="0" i="0" cap="none" spc="0">
                          <a:latin typeface="Source Sans Pro Light"/>
                        </a:rPr>
                        <a:t>e lo contatta</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u="none" strike="noStrike" cap="none" spc="0" noProof="0">
                        <a:solidFill>
                          <a:srgbClr val="212121"/>
                        </a:solidFill>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Firma digitalmente con SPID </a:t>
                      </a:r>
                      <a:br>
                        <a:rPr lang="it-IT" sz="1100" b="0" i="0" cap="none" spc="0">
                          <a:latin typeface="Source Sans Pro Light"/>
                        </a:rPr>
                      </a:br>
                      <a:r>
                        <a:rPr lang="it-IT" sz="1100" b="0" i="0" cap="none" spc="0">
                          <a:latin typeface="Source Sans Pro Light"/>
                        </a:rPr>
                        <a:t>o videoselfie il contratto di acquiring </a:t>
                      </a:r>
                      <a:br>
                        <a:rPr lang="it-IT" sz="1100" b="0" i="0" cap="none" spc="0">
                          <a:latin typeface="Source Sans Pro Light"/>
                        </a:rPr>
                      </a:br>
                      <a:r>
                        <a:rPr lang="it-IT" sz="1100" b="0" i="0" cap="none" spc="0">
                          <a:latin typeface="Source Sans Pro Light"/>
                        </a:rPr>
                        <a:t>e noleggio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597431"/>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Invia i contratti firmati a nexi</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905826"/>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Adeguata verifica (AML)</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62953"/>
                  </a:ext>
                </a:extLst>
              </a:tr>
              <a:tr h="612000">
                <a:tc rowSpan="3">
                  <a:txBody>
                    <a:bodyPr/>
                    <a:lstStyle/>
                    <a:p>
                      <a:pPr lvl="0" algn="ctr">
                        <a:buNone/>
                      </a:pPr>
                      <a:r>
                        <a:rPr lang="it-IT" sz="2400">
                          <a:solidFill>
                            <a:schemeClr val="bg1">
                              <a:lumMod val="20000"/>
                              <a:lumOff val="80000"/>
                            </a:schemeClr>
                          </a:solidFill>
                          <a:latin typeface="Source Sans Pro"/>
                        </a:rPr>
                        <a:t>8</a:t>
                      </a:r>
                      <a:endParaRPr lang="it-IT">
                        <a:solidFill>
                          <a:schemeClr val="bg1">
                            <a:lumMod val="20000"/>
                            <a:lumOff val="80000"/>
                          </a:schemeClr>
                        </a:solidFill>
                        <a:latin typeface="Source Sans Pro"/>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Risponde positivamente </a:t>
                      </a:r>
                      <a:br>
                        <a:rPr lang="it-IT" sz="1100" b="0" i="0" u="none" strike="noStrike" cap="none" spc="0" noProof="0">
                          <a:solidFill>
                            <a:srgbClr val="212121"/>
                          </a:solidFill>
                          <a:latin typeface="Source Sans Pro Light"/>
                        </a:rPr>
                      </a:br>
                      <a:r>
                        <a:rPr lang="it-IT" sz="1100" b="0" i="0" u="none" strike="noStrike" cap="none" spc="0" noProof="0">
                          <a:solidFill>
                            <a:srgbClr val="212121"/>
                          </a:solidFill>
                          <a:latin typeface="Source Sans Pro Light"/>
                        </a:rPr>
                        <a:t>al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82208"/>
                  </a:ext>
                </a:extLst>
              </a:tr>
              <a:tr h="464229">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Apre il ticket nel portale operations del 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325768"/>
                  </a:ext>
                </a:extLst>
              </a:tr>
              <a:tr h="540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r>
                        <a:rPr lang="it-IT" sz="1100" b="0" i="0" cap="none" spc="0">
                          <a:latin typeface="Source Sans Pro Light"/>
                        </a:rPr>
                        <a:t>Può procedere all'installazione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5440"/>
                  </a:ext>
                </a:extLst>
              </a:tr>
            </a:tbl>
          </a:graphicData>
        </a:graphic>
      </p:graphicFrame>
      <p:sp>
        <p:nvSpPr>
          <p:cNvPr id="3" name="CasellaDiTesto 2">
            <a:extLst>
              <a:ext uri="{FF2B5EF4-FFF2-40B4-BE49-F238E27FC236}">
                <a16:creationId xmlns:a16="http://schemas.microsoft.com/office/drawing/2014/main" id="{4794E68E-52BA-B09D-68BA-749CD1E27625}"/>
              </a:ext>
            </a:extLst>
          </p:cNvPr>
          <p:cNvSpPr txBox="1"/>
          <p:nvPr/>
        </p:nvSpPr>
        <p:spPr>
          <a:xfrm>
            <a:off x="646349" y="6129153"/>
            <a:ext cx="8012963"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0" marR="0" lvl="0" indent="0" algn="l" defTabSz="825500" rtl="0" eaLnBrk="1" fontAlgn="auto" latinLnBrk="0" hangingPunct="0">
              <a:lnSpc>
                <a:spcPct val="150000"/>
              </a:lnSpc>
              <a:spcBef>
                <a:spcPts val="2000"/>
              </a:spcBef>
              <a:spcAft>
                <a:spcPts val="0"/>
              </a:spcAft>
              <a:buClrTx/>
              <a:buSzTx/>
              <a:buFontTx/>
              <a:buNone/>
              <a:tabLst/>
              <a:defRPr/>
            </a:pPr>
            <a:r>
              <a:rPr kumimoji="0" lang="it-IT" sz="1100" b="0" i="0" u="none" strike="noStrike" kern="1200" cap="none" spc="0" normalizeH="0" baseline="0" noProof="0">
                <a:ln>
                  <a:noFill/>
                </a:ln>
                <a:solidFill>
                  <a:srgbClr val="212121"/>
                </a:solidFill>
                <a:effectLst/>
                <a:uLnTx/>
                <a:uFillTx/>
                <a:latin typeface="Source Sans Pro Light"/>
                <a:cs typeface="Helvetica"/>
              </a:rPr>
              <a:t>N</a:t>
            </a:r>
            <a:r>
              <a:rPr kumimoji="0" lang="it-IT" sz="1100" b="0" i="0" u="none" strike="noStrike" kern="1200" cap="none" spc="0" normalizeH="0" baseline="0" noProof="0">
                <a:ln>
                  <a:noFill/>
                </a:ln>
                <a:solidFill>
                  <a:srgbClr val="212121"/>
                </a:solidFill>
                <a:effectLst/>
                <a:uLnTx/>
                <a:uFillTx/>
                <a:latin typeface="Source Sans Pro Light"/>
                <a:cs typeface="Helvetica"/>
                <a:sym typeface="Helvetica"/>
              </a:rPr>
              <a:t>.B. attivazione possibile se il materiale è già presso il rivenditore</a:t>
            </a:r>
          </a:p>
        </p:txBody>
      </p:sp>
      <p:sp>
        <p:nvSpPr>
          <p:cNvPr id="2" name="Freccia a destra 1">
            <a:extLst>
              <a:ext uri="{FF2B5EF4-FFF2-40B4-BE49-F238E27FC236}">
                <a16:creationId xmlns:a16="http://schemas.microsoft.com/office/drawing/2014/main" id="{5C79D938-7EDC-3A63-7A02-987B19E80A6B}"/>
              </a:ext>
            </a:extLst>
          </p:cNvPr>
          <p:cNvSpPr/>
          <p:nvPr/>
        </p:nvSpPr>
        <p:spPr>
          <a:xfrm>
            <a:off x="0" y="2340864"/>
            <a:ext cx="996696" cy="475488"/>
          </a:xfrm>
          <a:prstGeom prst="rightArrow">
            <a:avLst/>
          </a:prstGeom>
          <a:solidFill>
            <a:schemeClr val="accent5">
              <a:lumMod val="75000"/>
            </a:schemeClr>
          </a:solidFill>
          <a:ln w="25400" cap="flat">
            <a:solidFill>
              <a:schemeClr val="accent5">
                <a:lumMod val="75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Tree>
    <p:extLst>
      <p:ext uri="{BB962C8B-B14F-4D97-AF65-F5344CB8AC3E}">
        <p14:creationId xmlns:p14="http://schemas.microsoft.com/office/powerpoint/2010/main" val="148189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Why Custom?">
            <a:extLst>
              <a:ext uri="{FF2B5EF4-FFF2-40B4-BE49-F238E27FC236}">
                <a16:creationId xmlns:a16="http://schemas.microsoft.com/office/drawing/2014/main" id="{81627478-4761-2FF3-BF28-8410B4A8932A}"/>
              </a:ext>
            </a:extLst>
          </p:cNvPr>
          <p:cNvSpPr txBox="1"/>
          <p:nvPr/>
        </p:nvSpPr>
        <p:spPr>
          <a:xfrm>
            <a:off x="6118158" y="2485291"/>
            <a:ext cx="5251197" cy="27584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b="1" kern="0" spc="0">
                <a:latin typeface="Source Sans Pro"/>
              </a:rPr>
              <a:t>Il lead viene gestito dal backoffice CUSTOM </a:t>
            </a:r>
            <a:r>
              <a:rPr lang="it-IT" sz="1750" b="1" kern="0" spc="0" err="1">
                <a:latin typeface="Source Sans Pro"/>
              </a:rPr>
              <a:t>Pay</a:t>
            </a:r>
            <a:endParaRPr lang="it-IT" sz="1750" b="1" kern="0" spc="0">
              <a:latin typeface="Source Sans Pro"/>
            </a:endParaRP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Gli Agenti OAM CUSTOM </a:t>
            </a:r>
            <a:r>
              <a:rPr lang="it-IT" sz="1750" kern="0" spc="0" err="1"/>
              <a:t>Pay</a:t>
            </a:r>
            <a:r>
              <a:rPr lang="it-IT" sz="1750" kern="0" spc="0"/>
              <a:t> verificano:</a:t>
            </a:r>
          </a:p>
          <a:p>
            <a:pPr marL="0" marR="0" lvl="0" indent="0" algn="l" defTabSz="412750" rtl="0" eaLnBrk="1" fontAlgn="auto" latinLnBrk="0" hangingPunct="0">
              <a:lnSpc>
                <a:spcPct val="90000"/>
              </a:lnSpc>
              <a:spcBef>
                <a:spcPts val="0"/>
              </a:spcBef>
              <a:spcAft>
                <a:spcPts val="900"/>
              </a:spcAft>
              <a:buClrTx/>
              <a:buSzTx/>
              <a:buFontTx/>
              <a:buNone/>
              <a:tabLst/>
              <a:defRPr/>
            </a:pPr>
            <a:r>
              <a:rPr lang="it-IT" sz="1750" kern="0" spc="0"/>
              <a:t>      - la correttezza della documentazione ricevuta;</a:t>
            </a:r>
          </a:p>
          <a:p>
            <a:pPr marL="0" marR="0" lvl="0" indent="0" algn="l" defTabSz="412750" rtl="0" eaLnBrk="1" fontAlgn="auto" latinLnBrk="0" hangingPunct="0">
              <a:lnSpc>
                <a:spcPct val="90000"/>
              </a:lnSpc>
              <a:spcBef>
                <a:spcPts val="0"/>
              </a:spcBef>
              <a:spcAft>
                <a:spcPts val="900"/>
              </a:spcAft>
              <a:buClrTx/>
              <a:buSzTx/>
              <a:buFontTx/>
              <a:buNone/>
              <a:tabLst/>
              <a:defRPr/>
            </a:pPr>
            <a:r>
              <a:rPr lang="it-IT" sz="1750" kern="0" spc="0"/>
              <a:t>      - se l’esercente è in linea con le policy aziendali. </a:t>
            </a: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Gli Agenti OAM CUSTOM PAY contattano l’esercente, proponendo le FEE sul transato, </a:t>
            </a:r>
            <a:r>
              <a:rPr lang="it-IT" sz="1750" kern="0" spc="0">
                <a:solidFill>
                  <a:schemeClr val="tx1"/>
                </a:solidFill>
                <a:hlinkClick r:id="rId2">
                  <a:extLst>
                    <a:ext uri="{A12FA001-AC4F-418D-AE19-62706E023703}">
                      <ahyp:hlinkClr xmlns:ahyp="http://schemas.microsoft.com/office/drawing/2018/hyperlinkcolor" val="tx"/>
                    </a:ext>
                  </a:extLst>
                </a:hlinkClick>
              </a:rPr>
              <a:t>e fanno firmare i contratti di Acquiring NEXI da remoto. </a:t>
            </a:r>
            <a:endParaRPr lang="it-IT" sz="1750" kern="0" spc="0">
              <a:solidFill>
                <a:schemeClr val="tx1"/>
              </a:solidFill>
            </a:endParaRPr>
          </a:p>
          <a:p>
            <a:pPr marL="228600" marR="0" lvl="0" indent="-228600" algn="l" defTabSz="412750" rtl="0" eaLnBrk="1" fontAlgn="auto" latinLnBrk="0" hangingPunct="1">
              <a:lnSpc>
                <a:spcPct val="90000"/>
              </a:lnSpc>
              <a:spcBef>
                <a:spcPts val="0"/>
              </a:spcBef>
              <a:spcAft>
                <a:spcPts val="900"/>
              </a:spcAft>
              <a:buClrTx/>
              <a:buSzTx/>
              <a:buFont typeface="Arial" panose="020B0604020202020204" pitchFamily="34" charset="0"/>
              <a:buChar char="•"/>
              <a:tabLst/>
              <a:defRPr/>
            </a:pPr>
            <a:r>
              <a:rPr lang="it-IT" sz="1750" kern="0" spc="0"/>
              <a:t>Inviati i contratti a NEXI, quest'ultima svolgerà l’attività di adeguata verifica e apertura dei rapporti di </a:t>
            </a:r>
            <a:r>
              <a:rPr lang="it-IT" sz="1750" kern="0" spc="0" err="1"/>
              <a:t>Acquiring</a:t>
            </a:r>
            <a:r>
              <a:rPr lang="it-IT" sz="1750" kern="0" spc="0"/>
              <a:t>.</a:t>
            </a:r>
            <a:endParaRPr lang="it-IT"/>
          </a:p>
        </p:txBody>
      </p:sp>
      <p:grpSp>
        <p:nvGrpSpPr>
          <p:cNvPr id="7" name="Gruppo 6">
            <a:extLst>
              <a:ext uri="{FF2B5EF4-FFF2-40B4-BE49-F238E27FC236}">
                <a16:creationId xmlns:a16="http://schemas.microsoft.com/office/drawing/2014/main" id="{508F3BB0-4D1F-020A-F9B6-078D4CFEA034}"/>
              </a:ext>
            </a:extLst>
          </p:cNvPr>
          <p:cNvGrpSpPr/>
          <p:nvPr/>
        </p:nvGrpSpPr>
        <p:grpSpPr>
          <a:xfrm>
            <a:off x="1579785" y="2104595"/>
            <a:ext cx="2454549" cy="3621733"/>
            <a:chOff x="2437975" y="4629755"/>
            <a:chExt cx="4909097" cy="7243466"/>
          </a:xfrm>
        </p:grpSpPr>
        <p:pic>
          <p:nvPicPr>
            <p:cNvPr id="10" name="Immagine 9">
              <a:extLst>
                <a:ext uri="{FF2B5EF4-FFF2-40B4-BE49-F238E27FC236}">
                  <a16:creationId xmlns:a16="http://schemas.microsoft.com/office/drawing/2014/main" id="{0DF7790A-45BA-F378-4768-5BE846D23EA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880623" y="9479721"/>
              <a:ext cx="3466449" cy="2393500"/>
            </a:xfrm>
            <a:prstGeom prst="rect">
              <a:avLst/>
            </a:prstGeom>
          </p:spPr>
        </p:pic>
        <p:sp>
          <p:nvSpPr>
            <p:cNvPr id="11" name="TextBox 2">
              <a:extLst>
                <a:ext uri="{FF2B5EF4-FFF2-40B4-BE49-F238E27FC236}">
                  <a16:creationId xmlns:a16="http://schemas.microsoft.com/office/drawing/2014/main" id="{1607B56E-4AD6-A7A0-B72E-A436057A3262}"/>
                </a:ext>
              </a:extLst>
            </p:cNvPr>
            <p:cNvSpPr txBox="1"/>
            <p:nvPr/>
          </p:nvSpPr>
          <p:spPr>
            <a:xfrm>
              <a:off x="2437975" y="6449395"/>
              <a:ext cx="3889525"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Convenzionamento</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12" name="TextBox 2">
              <a:extLst>
                <a:ext uri="{FF2B5EF4-FFF2-40B4-BE49-F238E27FC236}">
                  <a16:creationId xmlns:a16="http://schemas.microsoft.com/office/drawing/2014/main" id="{EBDB61D1-4B7D-7DEB-D706-008558E298D1}"/>
                </a:ext>
              </a:extLst>
            </p:cNvPr>
            <p:cNvSpPr txBox="1"/>
            <p:nvPr/>
          </p:nvSpPr>
          <p:spPr>
            <a:xfrm>
              <a:off x="2437975" y="7635881"/>
              <a:ext cx="3736919" cy="1041184"/>
            </a:xfrm>
            <a:prstGeom prst="rect">
              <a:avLst/>
            </a:prstGeom>
            <a:noFill/>
          </p:spPr>
          <p:txBody>
            <a:bodyPr wrap="square" lIns="91440" tIns="45720" rIns="91440" bIns="45720" rtlCol="0" anchor="t">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a:cs typeface="Poppins Light"/>
                  <a:sym typeface="Helvetica"/>
                </a:rPr>
                <a:t>Sottoscrizione</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contratti</a:t>
              </a:r>
              <a:endParaRPr lang="en-US" sz="1400" kern="0">
                <a:solidFill>
                  <a:srgbClr val="212121"/>
                </a:solidFill>
                <a:latin typeface="Source Sans Pro"/>
                <a:cs typeface="Poppins Light"/>
              </a:endParaRPr>
            </a:p>
          </p:txBody>
        </p:sp>
        <p:pic>
          <p:nvPicPr>
            <p:cNvPr id="13" name="Immagine 12">
              <a:extLst>
                <a:ext uri="{FF2B5EF4-FFF2-40B4-BE49-F238E27FC236}">
                  <a16:creationId xmlns:a16="http://schemas.microsoft.com/office/drawing/2014/main" id="{126B3719-60CE-AFF9-87EC-C627395AE30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393751" y="4629755"/>
              <a:ext cx="1800000" cy="1800000"/>
            </a:xfrm>
            <a:prstGeom prst="rect">
              <a:avLst/>
            </a:prstGeom>
          </p:spPr>
        </p:pic>
        <p:sp>
          <p:nvSpPr>
            <p:cNvPr id="14" name="TextBox 2">
              <a:extLst>
                <a:ext uri="{FF2B5EF4-FFF2-40B4-BE49-F238E27FC236}">
                  <a16:creationId xmlns:a16="http://schemas.microsoft.com/office/drawing/2014/main" id="{6BB33E1F-F3EF-52E6-5368-1C05F8BC64D6}"/>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2</a:t>
              </a:r>
            </a:p>
          </p:txBody>
        </p:sp>
      </p:grpSp>
      <p:sp>
        <p:nvSpPr>
          <p:cNvPr id="5" name="TextBox 1">
            <a:extLst>
              <a:ext uri="{FF2B5EF4-FFF2-40B4-BE49-F238E27FC236}">
                <a16:creationId xmlns:a16="http://schemas.microsoft.com/office/drawing/2014/main" id="{72EF2C0C-E43E-D66D-3A75-3FC1D24BF574}"/>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sp>
        <p:nvSpPr>
          <p:cNvPr id="6" name="TextBox 2">
            <a:extLst>
              <a:ext uri="{FF2B5EF4-FFF2-40B4-BE49-F238E27FC236}">
                <a16:creationId xmlns:a16="http://schemas.microsoft.com/office/drawing/2014/main" id="{36DEA7BF-7386-562F-EF75-4032B815BB56}"/>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pic>
        <p:nvPicPr>
          <p:cNvPr id="9" name="Immagine 8" descr="Immagine che contiene testo, Carattere, Elementi grafici, cartello&#10;&#10;Descrizione generata automaticamente">
            <a:extLst>
              <a:ext uri="{FF2B5EF4-FFF2-40B4-BE49-F238E27FC236}">
                <a16:creationId xmlns:a16="http://schemas.microsoft.com/office/drawing/2014/main" id="{5C6C6A8D-450D-4FF0-FBB9-60815E6898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spTree>
    <p:extLst>
      <p:ext uri="{BB962C8B-B14F-4D97-AF65-F5344CB8AC3E}">
        <p14:creationId xmlns:p14="http://schemas.microsoft.com/office/powerpoint/2010/main" val="292224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87472-979E-FE69-BF59-2D77F68DC1F0}"/>
            </a:ext>
          </a:extLst>
        </p:cNvPr>
        <p:cNvGrpSpPr/>
        <p:nvPr/>
      </p:nvGrpSpPr>
      <p:grpSpPr>
        <a:xfrm>
          <a:off x="0" y="0"/>
          <a:ext cx="0" cy="0"/>
          <a:chOff x="0" y="0"/>
          <a:chExt cx="0" cy="0"/>
        </a:xfrm>
      </p:grpSpPr>
      <p:graphicFrame>
        <p:nvGraphicFramePr>
          <p:cNvPr id="24" name="Tabella 23">
            <a:extLst>
              <a:ext uri="{FF2B5EF4-FFF2-40B4-BE49-F238E27FC236}">
                <a16:creationId xmlns:a16="http://schemas.microsoft.com/office/drawing/2014/main" id="{4D8992FA-710E-926F-322F-DB1D172B8B08}"/>
              </a:ext>
            </a:extLst>
          </p:cNvPr>
          <p:cNvGraphicFramePr>
            <a:graphicFrameLocks noGrp="1"/>
          </p:cNvGraphicFramePr>
          <p:nvPr/>
        </p:nvGraphicFramePr>
        <p:xfrm>
          <a:off x="646940" y="1183341"/>
          <a:ext cx="10902716" cy="4956309"/>
        </p:xfrm>
        <a:graphic>
          <a:graphicData uri="http://schemas.openxmlformats.org/drawingml/2006/table">
            <a:tbl>
              <a:tblPr bandRow="1">
                <a:tableStyleId>{5C22544A-7EE6-4342-B048-85BDC9FD1C3A}</a:tableStyleId>
              </a:tblPr>
              <a:tblGrid>
                <a:gridCol w="1185333">
                  <a:extLst>
                    <a:ext uri="{9D8B030D-6E8A-4147-A177-3AD203B41FA5}">
                      <a16:colId xmlns:a16="http://schemas.microsoft.com/office/drawing/2014/main" val="1746121381"/>
                    </a:ext>
                  </a:extLst>
                </a:gridCol>
                <a:gridCol w="1675684">
                  <a:extLst>
                    <a:ext uri="{9D8B030D-6E8A-4147-A177-3AD203B41FA5}">
                      <a16:colId xmlns:a16="http://schemas.microsoft.com/office/drawing/2014/main" val="2571344274"/>
                    </a:ext>
                  </a:extLst>
                </a:gridCol>
                <a:gridCol w="3221691">
                  <a:extLst>
                    <a:ext uri="{9D8B030D-6E8A-4147-A177-3AD203B41FA5}">
                      <a16:colId xmlns:a16="http://schemas.microsoft.com/office/drawing/2014/main" val="857121072"/>
                    </a:ext>
                  </a:extLst>
                </a:gridCol>
                <a:gridCol w="2363918">
                  <a:extLst>
                    <a:ext uri="{9D8B030D-6E8A-4147-A177-3AD203B41FA5}">
                      <a16:colId xmlns:a16="http://schemas.microsoft.com/office/drawing/2014/main" val="907205418"/>
                    </a:ext>
                  </a:extLst>
                </a:gridCol>
                <a:gridCol w="2456090">
                  <a:extLst>
                    <a:ext uri="{9D8B030D-6E8A-4147-A177-3AD203B41FA5}">
                      <a16:colId xmlns:a16="http://schemas.microsoft.com/office/drawing/2014/main" val="1902542609"/>
                    </a:ext>
                  </a:extLst>
                </a:gridCol>
              </a:tblGrid>
              <a:tr h="459853">
                <a:tc>
                  <a:txBody>
                    <a:bodyPr/>
                    <a:lstStyle/>
                    <a:p>
                      <a:pPr algn="ctr"/>
                      <a:r>
                        <a:rPr lang="it-IT" sz="1200">
                          <a:solidFill>
                            <a:schemeClr val="bg1">
                              <a:lumMod val="20000"/>
                              <a:lumOff val="80000"/>
                            </a:schemeClr>
                          </a:solidFill>
                          <a:latin typeface="Source Sans Pro"/>
                        </a:rPr>
                        <a:t>Giorni LAVORATIVI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err="1">
                          <a:solidFill>
                            <a:schemeClr val="bg1">
                              <a:lumMod val="20000"/>
                              <a:lumOff val="80000"/>
                            </a:schemeClr>
                          </a:solidFill>
                          <a:latin typeface="Source Sans Pro" panose="020B0503030403020204" pitchFamily="34" charset="0"/>
                        </a:rPr>
                        <a:t>Nexi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51240398"/>
                  </a:ext>
                </a:extLst>
              </a:tr>
              <a:tr h="612000">
                <a:tc>
                  <a:txBody>
                    <a:bodyPr/>
                    <a:lstStyle/>
                    <a:p>
                      <a:pPr algn="ctr"/>
                      <a:r>
                        <a:rPr lang="it-IT" sz="2400">
                          <a:solidFill>
                            <a:schemeClr val="bg1">
                              <a:lumMod val="20000"/>
                              <a:lumOff val="80000"/>
                            </a:schemeClr>
                          </a:solidFill>
                          <a:latin typeface="Source Sans Pro"/>
                        </a:rPr>
                        <a:t>1</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r>
                        <a:rPr lang="it-IT" sz="1100" b="0" i="0" cap="none" spc="0">
                          <a:latin typeface="Source Sans Pro Light"/>
                        </a:rPr>
                        <a:t>Compila la lead e la invia a 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Prende in carico la richiesta di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246931"/>
                  </a:ext>
                </a:extLst>
              </a:tr>
              <a:tr h="612000">
                <a:tc>
                  <a:txBody>
                    <a:bodyPr/>
                    <a:lstStyle/>
                    <a:p>
                      <a:pPr algn="ctr"/>
                      <a:r>
                        <a:rPr lang="it-IT" sz="2400">
                          <a:solidFill>
                            <a:schemeClr val="bg1">
                              <a:lumMod val="20000"/>
                              <a:lumOff val="80000"/>
                            </a:schemeClr>
                          </a:solidFill>
                          <a:latin typeface="Source Sans Pro"/>
                        </a:rPr>
                        <a:t>2</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documento di sintesi con le commissioni all'esercente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864296"/>
                  </a:ext>
                </a:extLst>
              </a:tr>
              <a:tr h="612000">
                <a:tc rowSpan="3">
                  <a:txBody>
                    <a:bodyPr/>
                    <a:lstStyle/>
                    <a:p>
                      <a:pPr algn="ctr"/>
                      <a:r>
                        <a:rPr lang="it-IT" sz="2400">
                          <a:solidFill>
                            <a:schemeClr val="bg1">
                              <a:lumMod val="20000"/>
                              <a:lumOff val="80000"/>
                            </a:schemeClr>
                          </a:solidFill>
                          <a:latin typeface="Source Sans Pro"/>
                        </a:rPr>
                        <a:t>3-7</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il contratto per la firma remota all'esercente </a:t>
                      </a:r>
                      <a:br>
                        <a:rPr lang="it-IT" sz="1100" b="0" i="0" cap="none" spc="0">
                          <a:latin typeface="Source Sans Pro Light"/>
                        </a:rPr>
                      </a:br>
                      <a:r>
                        <a:rPr lang="it-IT" sz="1100" b="0" i="0" cap="none" spc="0">
                          <a:latin typeface="Source Sans Pro Light"/>
                        </a:rPr>
                        <a:t>e lo contatta</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u="none" strike="noStrike" cap="none" spc="0" noProof="0">
                        <a:solidFill>
                          <a:srgbClr val="212121"/>
                        </a:solidFill>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Firma digitalmente con SPID </a:t>
                      </a:r>
                      <a:br>
                        <a:rPr lang="it-IT" sz="1100" b="0" i="0" cap="none" spc="0">
                          <a:latin typeface="Source Sans Pro Light"/>
                        </a:rPr>
                      </a:br>
                      <a:r>
                        <a:rPr lang="it-IT" sz="1100" b="0" i="0" cap="none" spc="0">
                          <a:latin typeface="Source Sans Pro Light"/>
                        </a:rPr>
                        <a:t>o videoselfie il contratto di acquiring </a:t>
                      </a:r>
                      <a:br>
                        <a:rPr lang="it-IT" sz="1100" b="0" i="0" cap="none" spc="0">
                          <a:latin typeface="Source Sans Pro Light"/>
                        </a:rPr>
                      </a:br>
                      <a:r>
                        <a:rPr lang="it-IT" sz="1100" b="0" i="0" cap="none" spc="0">
                          <a:latin typeface="Source Sans Pro Light"/>
                        </a:rPr>
                        <a:t>e noleggio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597431"/>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Invia i contratti firmati a nexi</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905826"/>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Adeguata verifica (AML)</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62953"/>
                  </a:ext>
                </a:extLst>
              </a:tr>
              <a:tr h="612000">
                <a:tc rowSpan="3">
                  <a:txBody>
                    <a:bodyPr/>
                    <a:lstStyle/>
                    <a:p>
                      <a:pPr lvl="0" algn="ctr">
                        <a:buNone/>
                      </a:pPr>
                      <a:r>
                        <a:rPr lang="it-IT" sz="2400">
                          <a:solidFill>
                            <a:schemeClr val="bg1">
                              <a:lumMod val="20000"/>
                              <a:lumOff val="80000"/>
                            </a:schemeClr>
                          </a:solidFill>
                          <a:latin typeface="Source Sans Pro"/>
                        </a:rPr>
                        <a:t>8</a:t>
                      </a:r>
                      <a:endParaRPr lang="it-IT">
                        <a:solidFill>
                          <a:schemeClr val="bg1">
                            <a:lumMod val="20000"/>
                            <a:lumOff val="80000"/>
                          </a:schemeClr>
                        </a:solidFill>
                        <a:latin typeface="Source Sans Pro"/>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Risponde positivamente </a:t>
                      </a:r>
                      <a:br>
                        <a:rPr lang="it-IT" sz="1100" b="0" i="0" u="none" strike="noStrike" cap="none" spc="0" noProof="0">
                          <a:solidFill>
                            <a:srgbClr val="212121"/>
                          </a:solidFill>
                          <a:latin typeface="Source Sans Pro Light"/>
                        </a:rPr>
                      </a:br>
                      <a:r>
                        <a:rPr lang="it-IT" sz="1100" b="0" i="0" u="none" strike="noStrike" cap="none" spc="0" noProof="0">
                          <a:solidFill>
                            <a:srgbClr val="212121"/>
                          </a:solidFill>
                          <a:latin typeface="Source Sans Pro Light"/>
                        </a:rPr>
                        <a:t>al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82208"/>
                  </a:ext>
                </a:extLst>
              </a:tr>
              <a:tr h="464229">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Apre il ticket nel portale operations del 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325768"/>
                  </a:ext>
                </a:extLst>
              </a:tr>
              <a:tr h="540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r>
                        <a:rPr lang="it-IT" sz="1100" b="0" i="0" cap="none" spc="0">
                          <a:latin typeface="Source Sans Pro Light"/>
                        </a:rPr>
                        <a:t>Può procedere all'installazione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5440"/>
                  </a:ext>
                </a:extLst>
              </a:tr>
            </a:tbl>
          </a:graphicData>
        </a:graphic>
      </p:graphicFrame>
      <p:sp>
        <p:nvSpPr>
          <p:cNvPr id="3" name="CasellaDiTesto 2">
            <a:extLst>
              <a:ext uri="{FF2B5EF4-FFF2-40B4-BE49-F238E27FC236}">
                <a16:creationId xmlns:a16="http://schemas.microsoft.com/office/drawing/2014/main" id="{DC692999-E35A-A88C-4586-FCC6FFABA55E}"/>
              </a:ext>
            </a:extLst>
          </p:cNvPr>
          <p:cNvSpPr txBox="1"/>
          <p:nvPr/>
        </p:nvSpPr>
        <p:spPr>
          <a:xfrm>
            <a:off x="646349" y="6129153"/>
            <a:ext cx="8012963"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0" marR="0" lvl="0" indent="0" algn="l" defTabSz="825500" rtl="0" eaLnBrk="1" fontAlgn="auto" latinLnBrk="0" hangingPunct="0">
              <a:lnSpc>
                <a:spcPct val="150000"/>
              </a:lnSpc>
              <a:spcBef>
                <a:spcPts val="2000"/>
              </a:spcBef>
              <a:spcAft>
                <a:spcPts val="0"/>
              </a:spcAft>
              <a:buClrTx/>
              <a:buSzTx/>
              <a:buFontTx/>
              <a:buNone/>
              <a:tabLst/>
              <a:defRPr/>
            </a:pPr>
            <a:r>
              <a:rPr kumimoji="0" lang="it-IT" sz="1100" b="0" i="0" u="none" strike="noStrike" kern="1200" cap="none" spc="0" normalizeH="0" baseline="0" noProof="0">
                <a:ln>
                  <a:noFill/>
                </a:ln>
                <a:solidFill>
                  <a:srgbClr val="212121"/>
                </a:solidFill>
                <a:effectLst/>
                <a:uLnTx/>
                <a:uFillTx/>
                <a:latin typeface="Source Sans Pro Light"/>
                <a:cs typeface="Helvetica"/>
              </a:rPr>
              <a:t>N</a:t>
            </a:r>
            <a:r>
              <a:rPr kumimoji="0" lang="it-IT" sz="1100" b="0" i="0" u="none" strike="noStrike" kern="1200" cap="none" spc="0" normalizeH="0" baseline="0" noProof="0">
                <a:ln>
                  <a:noFill/>
                </a:ln>
                <a:solidFill>
                  <a:srgbClr val="212121"/>
                </a:solidFill>
                <a:effectLst/>
                <a:uLnTx/>
                <a:uFillTx/>
                <a:latin typeface="Source Sans Pro Light"/>
                <a:cs typeface="Helvetica"/>
                <a:sym typeface="Helvetica"/>
              </a:rPr>
              <a:t>.B. attivazione possibile se il materiale è già presso il rivenditore</a:t>
            </a:r>
          </a:p>
        </p:txBody>
      </p:sp>
      <p:sp>
        <p:nvSpPr>
          <p:cNvPr id="2" name="Freccia a destra 1">
            <a:extLst>
              <a:ext uri="{FF2B5EF4-FFF2-40B4-BE49-F238E27FC236}">
                <a16:creationId xmlns:a16="http://schemas.microsoft.com/office/drawing/2014/main" id="{09939F59-94B9-72B0-C372-ACB693324750}"/>
              </a:ext>
            </a:extLst>
          </p:cNvPr>
          <p:cNvSpPr/>
          <p:nvPr/>
        </p:nvSpPr>
        <p:spPr>
          <a:xfrm>
            <a:off x="-182880" y="4992624"/>
            <a:ext cx="996696" cy="475488"/>
          </a:xfrm>
          <a:prstGeom prst="rightArrow">
            <a:avLst/>
          </a:prstGeom>
          <a:solidFill>
            <a:schemeClr val="accent5">
              <a:lumMod val="75000"/>
            </a:schemeClr>
          </a:solidFill>
          <a:ln w="25400" cap="flat">
            <a:solidFill>
              <a:schemeClr val="accent5">
                <a:lumMod val="75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Tree>
    <p:extLst>
      <p:ext uri="{BB962C8B-B14F-4D97-AF65-F5344CB8AC3E}">
        <p14:creationId xmlns:p14="http://schemas.microsoft.com/office/powerpoint/2010/main" val="160097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hy Custom?">
            <a:extLst>
              <a:ext uri="{FF2B5EF4-FFF2-40B4-BE49-F238E27FC236}">
                <a16:creationId xmlns:a16="http://schemas.microsoft.com/office/drawing/2014/main" id="{EE833B81-4B2E-27E7-50B3-461C2FE2841A}"/>
              </a:ext>
            </a:extLst>
          </p:cNvPr>
          <p:cNvSpPr txBox="1"/>
          <p:nvPr/>
        </p:nvSpPr>
        <p:spPr>
          <a:xfrm>
            <a:off x="6096000" y="2587621"/>
            <a:ext cx="4769052" cy="3139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marL="228600" indent="-228600" defTabSz="412750" hangingPunct="0">
              <a:spcAft>
                <a:spcPts val="900"/>
              </a:spcAft>
              <a:buFont typeface="Arial" panose="020B0604020202020204" pitchFamily="34" charset="0"/>
              <a:buChar char="•"/>
              <a:defRPr/>
            </a:pPr>
            <a:r>
              <a:rPr lang="it-IT" sz="1750" kern="0" spc="0">
                <a:latin typeface="Source Sans Pro"/>
              </a:rPr>
              <a:t>Conclusa con successo la fase di </a:t>
            </a:r>
            <a:r>
              <a:rPr lang="it-IT" sz="1750" kern="0" spc="0" err="1">
                <a:latin typeface="Source Sans Pro"/>
              </a:rPr>
              <a:t>onboarding</a:t>
            </a:r>
            <a:r>
              <a:rPr lang="it-IT" sz="1750" kern="0" spc="0">
                <a:latin typeface="Source Sans Pro"/>
              </a:rPr>
              <a:t> e contrattualizzazione dell’esercente, il tempo di attivazione del contratto è compreso tra i 8 e i 10 giorni lavorativi.</a:t>
            </a:r>
            <a:endParaRPr lang="it-IT" sz="1750" kern="0" spc="0">
              <a:latin typeface="Source Sans Pro" panose="020B0503030403020204" pitchFamily="34" charset="0"/>
            </a:endParaRP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La struttura di backoffice Custom </a:t>
            </a:r>
            <a:r>
              <a:rPr lang="it-IT" sz="1750" kern="0" spc="0" err="1"/>
              <a:t>Pay</a:t>
            </a:r>
            <a:r>
              <a:rPr lang="it-IT" sz="1750" kern="0" spc="0"/>
              <a:t> comunica al dealer l'attivazione del contratto e il relativo terminal ID (TID) da associare al dispositivo dell'esercente tramite il portale Operations Custom </a:t>
            </a:r>
            <a:r>
              <a:rPr lang="it-IT" sz="1750" kern="0" spc="0" err="1"/>
              <a:t>Pay</a:t>
            </a:r>
            <a:r>
              <a:rPr lang="it-IT" sz="1750" kern="0" spc="0"/>
              <a:t>;</a:t>
            </a:r>
            <a:endParaRPr lang="it-IT" sz="1750" kern="0" spc="0">
              <a:latin typeface="Source Sans Pro Light" panose="020B0403030403020204" pitchFamily="34" charset="0"/>
            </a:endParaRP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Dal momento in cui viene attivato il contratto di </a:t>
            </a:r>
            <a:r>
              <a:rPr lang="it-IT" sz="1750" kern="0" spc="0" err="1"/>
              <a:t>Acquiring</a:t>
            </a:r>
            <a:r>
              <a:rPr lang="it-IT" sz="1750" kern="0" spc="0"/>
              <a:t> all'esercente, al dealer verrà fatturato il canone di processing con trimestre anticipato. </a:t>
            </a:r>
            <a:endParaRPr lang="it-IT" sz="1750" kern="0" spc="0">
              <a:latin typeface="Source Sans Pro Light" panose="020B0403030403020204" pitchFamily="34" charset="0"/>
            </a:endParaRPr>
          </a:p>
        </p:txBody>
      </p:sp>
      <p:grpSp>
        <p:nvGrpSpPr>
          <p:cNvPr id="8" name="Gruppo 7">
            <a:extLst>
              <a:ext uri="{FF2B5EF4-FFF2-40B4-BE49-F238E27FC236}">
                <a16:creationId xmlns:a16="http://schemas.microsoft.com/office/drawing/2014/main" id="{2A354412-86C9-12E6-8B02-0A2411FF1E50}"/>
              </a:ext>
            </a:extLst>
          </p:cNvPr>
          <p:cNvGrpSpPr/>
          <p:nvPr/>
        </p:nvGrpSpPr>
        <p:grpSpPr>
          <a:xfrm>
            <a:off x="1588496" y="2107121"/>
            <a:ext cx="2454549" cy="3621733"/>
            <a:chOff x="2437975" y="4629755"/>
            <a:chExt cx="4909097" cy="7243466"/>
          </a:xfrm>
        </p:grpSpPr>
        <p:pic>
          <p:nvPicPr>
            <p:cNvPr id="10" name="Immagine 9">
              <a:extLst>
                <a:ext uri="{FF2B5EF4-FFF2-40B4-BE49-F238E27FC236}">
                  <a16:creationId xmlns:a16="http://schemas.microsoft.com/office/drawing/2014/main" id="{59173B9F-C8D3-2F4A-EE12-F50EFD84A2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880623" y="9479721"/>
              <a:ext cx="3466449" cy="2393500"/>
            </a:xfrm>
            <a:prstGeom prst="rect">
              <a:avLst/>
            </a:prstGeom>
          </p:spPr>
        </p:pic>
        <p:sp>
          <p:nvSpPr>
            <p:cNvPr id="11" name="TextBox 2">
              <a:extLst>
                <a:ext uri="{FF2B5EF4-FFF2-40B4-BE49-F238E27FC236}">
                  <a16:creationId xmlns:a16="http://schemas.microsoft.com/office/drawing/2014/main" id="{FD81C4C1-4536-FB05-C665-5E600755A67C}"/>
                </a:ext>
              </a:extLst>
            </p:cNvPr>
            <p:cNvSpPr txBox="1"/>
            <p:nvPr/>
          </p:nvSpPr>
          <p:spPr>
            <a:xfrm>
              <a:off x="2437975" y="6449395"/>
              <a:ext cx="2434000"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Attivazione</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12" name="TextBox 2">
              <a:extLst>
                <a:ext uri="{FF2B5EF4-FFF2-40B4-BE49-F238E27FC236}">
                  <a16:creationId xmlns:a16="http://schemas.microsoft.com/office/drawing/2014/main" id="{3026F457-003A-DC78-A260-7AEF4C128403}"/>
                </a:ext>
              </a:extLst>
            </p:cNvPr>
            <p:cNvSpPr txBox="1"/>
            <p:nvPr/>
          </p:nvSpPr>
          <p:spPr>
            <a:xfrm>
              <a:off x="2437975" y="7601455"/>
              <a:ext cx="3736919" cy="1477200"/>
            </a:xfrm>
            <a:prstGeom prst="rect">
              <a:avLst/>
            </a:prstGeom>
            <a:noFill/>
          </p:spPr>
          <p:txBody>
            <a:bodyPr wrap="square" lIns="91440" tIns="45720" rIns="91440" bIns="45720" rtlCol="0" anchor="t">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a:cs typeface="Poppins Light"/>
                  <a:sym typeface="Helvetica"/>
                </a:rPr>
                <a:t>Attivazione</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dei</a:t>
              </a:r>
              <a:r>
                <a:rPr lang="en-US" sz="1400" kern="0">
                  <a:solidFill>
                    <a:srgbClr val="212121"/>
                  </a:solidFill>
                  <a:latin typeface="Source Sans Pro"/>
                  <a:cs typeface="Poppins Light"/>
                  <a:sym typeface="Helvetica"/>
                </a:rPr>
                <a:t> </a:t>
              </a:r>
              <a:r>
                <a:rPr lang="en-US" sz="1400" kern="0" err="1">
                  <a:solidFill>
                    <a:srgbClr val="212121"/>
                  </a:solidFill>
                  <a:latin typeface="Source Sans Pro"/>
                  <a:cs typeface="Poppins Light"/>
                  <a:sym typeface="Helvetica"/>
                </a:rPr>
                <a:t>processi</a:t>
              </a:r>
              <a:r>
                <a:rPr lang="en-US" sz="1400" kern="0">
                  <a:solidFill>
                    <a:srgbClr val="212121"/>
                  </a:solidFill>
                  <a:latin typeface="Source Sans Pro"/>
                  <a:cs typeface="Poppins Light"/>
                  <a:sym typeface="Helvetica"/>
                </a:rPr>
                <a:t> di </a:t>
              </a:r>
              <a:r>
                <a:rPr lang="en-US" sz="1400" kern="0" err="1">
                  <a:solidFill>
                    <a:srgbClr val="212121"/>
                  </a:solidFill>
                  <a:latin typeface="Source Sans Pro"/>
                  <a:cs typeface="Poppins Light"/>
                  <a:sym typeface="Helvetica"/>
                </a:rPr>
                <a:t>fatturazione</a:t>
              </a:r>
              <a:endParaRPr lang="en-US" sz="1400" kern="0">
                <a:solidFill>
                  <a:srgbClr val="212121"/>
                </a:solidFill>
                <a:latin typeface="Source Sans Pro"/>
                <a:cs typeface="Poppins Light"/>
              </a:endParaRPr>
            </a:p>
          </p:txBody>
        </p:sp>
        <p:pic>
          <p:nvPicPr>
            <p:cNvPr id="13" name="Immagine 12">
              <a:extLst>
                <a:ext uri="{FF2B5EF4-FFF2-40B4-BE49-F238E27FC236}">
                  <a16:creationId xmlns:a16="http://schemas.microsoft.com/office/drawing/2014/main" id="{5DE8BEAA-FE78-658A-B308-C32FF47A253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93751" y="4629755"/>
              <a:ext cx="1800000" cy="1800000"/>
            </a:xfrm>
            <a:prstGeom prst="rect">
              <a:avLst/>
            </a:prstGeom>
          </p:spPr>
        </p:pic>
        <p:sp>
          <p:nvSpPr>
            <p:cNvPr id="14" name="TextBox 2">
              <a:extLst>
                <a:ext uri="{FF2B5EF4-FFF2-40B4-BE49-F238E27FC236}">
                  <a16:creationId xmlns:a16="http://schemas.microsoft.com/office/drawing/2014/main" id="{D36E0312-020F-DFBC-529C-7944E2894DB2}"/>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3</a:t>
              </a:r>
            </a:p>
          </p:txBody>
        </p:sp>
      </p:grpSp>
      <p:sp>
        <p:nvSpPr>
          <p:cNvPr id="5" name="TextBox 1">
            <a:extLst>
              <a:ext uri="{FF2B5EF4-FFF2-40B4-BE49-F238E27FC236}">
                <a16:creationId xmlns:a16="http://schemas.microsoft.com/office/drawing/2014/main" id="{E32BB5FA-DD7A-B857-C551-86F520BB2B2A}"/>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sp>
        <p:nvSpPr>
          <p:cNvPr id="6" name="TextBox 2">
            <a:extLst>
              <a:ext uri="{FF2B5EF4-FFF2-40B4-BE49-F238E27FC236}">
                <a16:creationId xmlns:a16="http://schemas.microsoft.com/office/drawing/2014/main" id="{3C70A464-27F4-5D5D-2C08-4E28F48ACF78}"/>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pic>
        <p:nvPicPr>
          <p:cNvPr id="9" name="Immagine 8" descr="Immagine che contiene testo, Carattere, Elementi grafici, cartello&#10;&#10;Descrizione generata automaticamente">
            <a:extLst>
              <a:ext uri="{FF2B5EF4-FFF2-40B4-BE49-F238E27FC236}">
                <a16:creationId xmlns:a16="http://schemas.microsoft.com/office/drawing/2014/main" id="{55D3B784-BFF3-6316-69DC-100C3EB6C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spTree>
    <p:extLst>
      <p:ext uri="{BB962C8B-B14F-4D97-AF65-F5344CB8AC3E}">
        <p14:creationId xmlns:p14="http://schemas.microsoft.com/office/powerpoint/2010/main" val="75093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9A61-399A-10DB-31FA-0C7541636E92}"/>
            </a:ext>
          </a:extLst>
        </p:cNvPr>
        <p:cNvGrpSpPr/>
        <p:nvPr/>
      </p:nvGrpSpPr>
      <p:grpSpPr>
        <a:xfrm>
          <a:off x="0" y="0"/>
          <a:ext cx="0" cy="0"/>
          <a:chOff x="0" y="0"/>
          <a:chExt cx="0" cy="0"/>
        </a:xfrm>
      </p:grpSpPr>
      <p:graphicFrame>
        <p:nvGraphicFramePr>
          <p:cNvPr id="24" name="Tabella 23">
            <a:extLst>
              <a:ext uri="{FF2B5EF4-FFF2-40B4-BE49-F238E27FC236}">
                <a16:creationId xmlns:a16="http://schemas.microsoft.com/office/drawing/2014/main" id="{74FA31CB-5CA4-74C9-B3E4-36F3C100D454}"/>
              </a:ext>
            </a:extLst>
          </p:cNvPr>
          <p:cNvGraphicFramePr>
            <a:graphicFrameLocks noGrp="1"/>
          </p:cNvGraphicFramePr>
          <p:nvPr/>
        </p:nvGraphicFramePr>
        <p:xfrm>
          <a:off x="646940" y="1183341"/>
          <a:ext cx="10902716" cy="4956309"/>
        </p:xfrm>
        <a:graphic>
          <a:graphicData uri="http://schemas.openxmlformats.org/drawingml/2006/table">
            <a:tbl>
              <a:tblPr bandRow="1">
                <a:tableStyleId>{5C22544A-7EE6-4342-B048-85BDC9FD1C3A}</a:tableStyleId>
              </a:tblPr>
              <a:tblGrid>
                <a:gridCol w="1185333">
                  <a:extLst>
                    <a:ext uri="{9D8B030D-6E8A-4147-A177-3AD203B41FA5}">
                      <a16:colId xmlns:a16="http://schemas.microsoft.com/office/drawing/2014/main" val="1746121381"/>
                    </a:ext>
                  </a:extLst>
                </a:gridCol>
                <a:gridCol w="1675684">
                  <a:extLst>
                    <a:ext uri="{9D8B030D-6E8A-4147-A177-3AD203B41FA5}">
                      <a16:colId xmlns:a16="http://schemas.microsoft.com/office/drawing/2014/main" val="2571344274"/>
                    </a:ext>
                  </a:extLst>
                </a:gridCol>
                <a:gridCol w="3221691">
                  <a:extLst>
                    <a:ext uri="{9D8B030D-6E8A-4147-A177-3AD203B41FA5}">
                      <a16:colId xmlns:a16="http://schemas.microsoft.com/office/drawing/2014/main" val="857121072"/>
                    </a:ext>
                  </a:extLst>
                </a:gridCol>
                <a:gridCol w="2363918">
                  <a:extLst>
                    <a:ext uri="{9D8B030D-6E8A-4147-A177-3AD203B41FA5}">
                      <a16:colId xmlns:a16="http://schemas.microsoft.com/office/drawing/2014/main" val="907205418"/>
                    </a:ext>
                  </a:extLst>
                </a:gridCol>
                <a:gridCol w="2456090">
                  <a:extLst>
                    <a:ext uri="{9D8B030D-6E8A-4147-A177-3AD203B41FA5}">
                      <a16:colId xmlns:a16="http://schemas.microsoft.com/office/drawing/2014/main" val="1902542609"/>
                    </a:ext>
                  </a:extLst>
                </a:gridCol>
              </a:tblGrid>
              <a:tr h="459853">
                <a:tc>
                  <a:txBody>
                    <a:bodyPr/>
                    <a:lstStyle/>
                    <a:p>
                      <a:pPr algn="ctr"/>
                      <a:r>
                        <a:rPr lang="it-IT" sz="1200">
                          <a:solidFill>
                            <a:schemeClr val="bg1">
                              <a:lumMod val="20000"/>
                              <a:lumOff val="80000"/>
                            </a:schemeClr>
                          </a:solidFill>
                          <a:latin typeface="Source Sans Pro"/>
                        </a:rPr>
                        <a:t>Giorni LAVORATIVI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err="1">
                          <a:solidFill>
                            <a:schemeClr val="bg1">
                              <a:lumMod val="20000"/>
                              <a:lumOff val="80000"/>
                            </a:schemeClr>
                          </a:solidFill>
                          <a:latin typeface="Source Sans Pro" panose="020B0503030403020204" pitchFamily="34" charset="0"/>
                        </a:rPr>
                        <a:t>Nexi</a:t>
                      </a:r>
                      <a:endParaRPr lang="it-IT" sz="1200">
                        <a:solidFill>
                          <a:schemeClr val="bg1">
                            <a:lumMod val="20000"/>
                            <a:lumOff val="80000"/>
                          </a:schemeClr>
                        </a:solidFill>
                        <a:latin typeface="Source Sans Pro" panose="020B05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it-IT" sz="1200">
                          <a:solidFill>
                            <a:schemeClr val="bg1">
                              <a:lumMod val="20000"/>
                              <a:lumOff val="80000"/>
                            </a:schemeClr>
                          </a:solidFill>
                          <a:latin typeface="Source Sans Pro"/>
                        </a:rPr>
                        <a:t>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51240398"/>
                  </a:ext>
                </a:extLst>
              </a:tr>
              <a:tr h="612000">
                <a:tc>
                  <a:txBody>
                    <a:bodyPr/>
                    <a:lstStyle/>
                    <a:p>
                      <a:pPr algn="ctr"/>
                      <a:r>
                        <a:rPr lang="it-IT" sz="2400">
                          <a:solidFill>
                            <a:schemeClr val="bg1">
                              <a:lumMod val="20000"/>
                              <a:lumOff val="80000"/>
                            </a:schemeClr>
                          </a:solidFill>
                          <a:latin typeface="Source Sans Pro"/>
                        </a:rPr>
                        <a:t>1</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r>
                        <a:rPr lang="it-IT" sz="1100" b="0" i="0" cap="none" spc="0">
                          <a:latin typeface="Source Sans Pro Light"/>
                        </a:rPr>
                        <a:t>Compila la lead e la invia a custom pay</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Prende in carico la richiesta di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246931"/>
                  </a:ext>
                </a:extLst>
              </a:tr>
              <a:tr h="612000">
                <a:tc>
                  <a:txBody>
                    <a:bodyPr/>
                    <a:lstStyle/>
                    <a:p>
                      <a:pPr algn="ctr"/>
                      <a:r>
                        <a:rPr lang="it-IT" sz="2400">
                          <a:solidFill>
                            <a:schemeClr val="bg1">
                              <a:lumMod val="20000"/>
                              <a:lumOff val="80000"/>
                            </a:schemeClr>
                          </a:solidFill>
                          <a:latin typeface="Source Sans Pro"/>
                        </a:rPr>
                        <a:t>2</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documento di sintesi con le commissioni all'esercente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864296"/>
                  </a:ext>
                </a:extLst>
              </a:tr>
              <a:tr h="612000">
                <a:tc rowSpan="3">
                  <a:txBody>
                    <a:bodyPr/>
                    <a:lstStyle/>
                    <a:p>
                      <a:pPr algn="ctr"/>
                      <a:r>
                        <a:rPr lang="it-IT" sz="2400">
                          <a:solidFill>
                            <a:schemeClr val="bg1">
                              <a:lumMod val="20000"/>
                              <a:lumOff val="80000"/>
                            </a:schemeClr>
                          </a:solidFill>
                          <a:latin typeface="Source Sans Pro"/>
                        </a:rPr>
                        <a:t>3-7</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Invia il contratto per la firma remota all'esercente </a:t>
                      </a:r>
                      <a:br>
                        <a:rPr lang="it-IT" sz="1100" b="0" i="0" cap="none" spc="0">
                          <a:latin typeface="Source Sans Pro Light"/>
                        </a:rPr>
                      </a:br>
                      <a:r>
                        <a:rPr lang="it-IT" sz="1100" b="0" i="0" cap="none" spc="0">
                          <a:latin typeface="Source Sans Pro Light"/>
                        </a:rPr>
                        <a:t>e lo contatta</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u="none" strike="noStrike" cap="none" spc="0" noProof="0">
                        <a:solidFill>
                          <a:srgbClr val="212121"/>
                        </a:solidFill>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sz="1100" b="0" i="0" cap="none" spc="0">
                          <a:latin typeface="Source Sans Pro Light"/>
                        </a:rPr>
                        <a:t>Firma digitalmente con SPID </a:t>
                      </a:r>
                      <a:br>
                        <a:rPr lang="it-IT" sz="1100" b="0" i="0" cap="none" spc="0">
                          <a:latin typeface="Source Sans Pro Light"/>
                        </a:rPr>
                      </a:br>
                      <a:r>
                        <a:rPr lang="it-IT" sz="1100" b="0" i="0" cap="none" spc="0">
                          <a:latin typeface="Source Sans Pro Light"/>
                        </a:rPr>
                        <a:t>o videoselfie il contratto di acquiring </a:t>
                      </a:r>
                      <a:br>
                        <a:rPr lang="it-IT" sz="1100" b="0" i="0" cap="none" spc="0">
                          <a:latin typeface="Source Sans Pro Light"/>
                        </a:rPr>
                      </a:br>
                      <a:r>
                        <a:rPr lang="it-IT" sz="1100" b="0" i="0" cap="none" spc="0">
                          <a:latin typeface="Source Sans Pro Light"/>
                        </a:rPr>
                        <a:t>e noleggio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597431"/>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Invia i contratti firmati a nexi</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905826"/>
                  </a:ext>
                </a:extLst>
              </a:tr>
              <a:tr h="432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Adeguata verifica (AML)</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62953"/>
                  </a:ext>
                </a:extLst>
              </a:tr>
              <a:tr h="612000">
                <a:tc rowSpan="3">
                  <a:txBody>
                    <a:bodyPr/>
                    <a:lstStyle/>
                    <a:p>
                      <a:pPr lvl="0" algn="ctr">
                        <a:buNone/>
                      </a:pPr>
                      <a:r>
                        <a:rPr lang="it-IT" sz="2400">
                          <a:solidFill>
                            <a:schemeClr val="bg1">
                              <a:lumMod val="20000"/>
                              <a:lumOff val="80000"/>
                            </a:schemeClr>
                          </a:solidFill>
                          <a:latin typeface="Source Sans Pro"/>
                        </a:rPr>
                        <a:t>8</a:t>
                      </a:r>
                      <a:endParaRPr lang="it-IT">
                        <a:solidFill>
                          <a:schemeClr val="bg1">
                            <a:lumMod val="20000"/>
                            <a:lumOff val="80000"/>
                          </a:schemeClr>
                        </a:solidFill>
                        <a:latin typeface="Source Sans Pro"/>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03ACA1"/>
                    </a:solid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Risponde positivamente </a:t>
                      </a:r>
                      <a:br>
                        <a:rPr lang="it-IT" sz="1100" b="0" i="0" u="none" strike="noStrike" cap="none" spc="0" noProof="0">
                          <a:solidFill>
                            <a:srgbClr val="212121"/>
                          </a:solidFill>
                          <a:latin typeface="Source Sans Pro Light"/>
                        </a:rPr>
                      </a:br>
                      <a:r>
                        <a:rPr lang="it-IT" sz="1100" b="0" i="0" u="none" strike="noStrike" cap="none" spc="0" noProof="0">
                          <a:solidFill>
                            <a:srgbClr val="212121"/>
                          </a:solidFill>
                          <a:latin typeface="Source Sans Pro Light"/>
                        </a:rPr>
                        <a:t>al convenzionamento</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82208"/>
                  </a:ext>
                </a:extLst>
              </a:tr>
              <a:tr h="464229">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it-IT" sz="1100" b="0" i="0" u="none" strike="noStrike" cap="none" spc="0" noProof="0">
                          <a:solidFill>
                            <a:srgbClr val="212121"/>
                          </a:solidFill>
                          <a:latin typeface="Source Sans Pro Light"/>
                        </a:rPr>
                        <a:t>Apre il ticket nel portale operations del dealer</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325768"/>
                  </a:ext>
                </a:extLst>
              </a:tr>
              <a:tr h="540000">
                <a:tc vMerge="1">
                  <a:txBody>
                    <a:bodyPr/>
                    <a:lstStyle/>
                    <a:p>
                      <a:endParaRPr lang="it-IT"/>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r>
                        <a:rPr lang="it-IT" sz="1100" b="0" i="0" cap="none" spc="0">
                          <a:latin typeface="Source Sans Pro Light"/>
                        </a:rPr>
                        <a:t>Può procedere all'installazione</a:t>
                      </a: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it-IT" sz="1100" b="0" i="0" cap="none" spc="0">
                        <a:latin typeface="Source Sans Pro Light" panose="020B0403030403020204" pitchFamily="34" charset="0"/>
                      </a:endParaRPr>
                    </a:p>
                  </a:txBody>
                  <a:tcPr anchor="ctr">
                    <a:lnL w="6350" cap="flat" cmpd="sng" algn="ctr">
                      <a:solidFill>
                        <a:schemeClr val="bg1">
                          <a:lumMod val="60000"/>
                          <a:lumOff val="40000"/>
                        </a:schemeClr>
                      </a:solidFill>
                      <a:prstDash val="solid"/>
                      <a:round/>
                      <a:headEnd type="none" w="med" len="med"/>
                      <a:tailEnd type="none" w="med" len="med"/>
                    </a:lnL>
                    <a:lnR w="6350" cap="flat" cmpd="sng" algn="ctr">
                      <a:solidFill>
                        <a:schemeClr val="bg1">
                          <a:lumMod val="60000"/>
                          <a:lumOff val="40000"/>
                        </a:schemeClr>
                      </a:solidFill>
                      <a:prstDash val="solid"/>
                      <a:round/>
                      <a:headEnd type="none" w="med" len="med"/>
                      <a:tailEnd type="none" w="med" len="med"/>
                    </a:lnR>
                    <a:lnT w="6350" cap="flat" cmpd="sng" algn="ctr">
                      <a:solidFill>
                        <a:schemeClr val="bg1">
                          <a:lumMod val="60000"/>
                          <a:lumOff val="40000"/>
                        </a:schemeClr>
                      </a:solidFill>
                      <a:prstDash val="solid"/>
                      <a:round/>
                      <a:headEnd type="none" w="med" len="med"/>
                      <a:tailEnd type="none" w="med" len="med"/>
                    </a:lnT>
                    <a:lnB w="6350" cap="flat" cmpd="sng" algn="ctr">
                      <a:solidFill>
                        <a:schemeClr val="bg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5440"/>
                  </a:ext>
                </a:extLst>
              </a:tr>
            </a:tbl>
          </a:graphicData>
        </a:graphic>
      </p:graphicFrame>
      <p:sp>
        <p:nvSpPr>
          <p:cNvPr id="3" name="CasellaDiTesto 2">
            <a:extLst>
              <a:ext uri="{FF2B5EF4-FFF2-40B4-BE49-F238E27FC236}">
                <a16:creationId xmlns:a16="http://schemas.microsoft.com/office/drawing/2014/main" id="{F1FFBF24-BF41-91A6-4A75-1B60875C7123}"/>
              </a:ext>
            </a:extLst>
          </p:cNvPr>
          <p:cNvSpPr txBox="1"/>
          <p:nvPr/>
        </p:nvSpPr>
        <p:spPr>
          <a:xfrm>
            <a:off x="646349" y="6129153"/>
            <a:ext cx="8012963"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0" marR="0" lvl="0" indent="0" algn="l" defTabSz="825500" rtl="0" eaLnBrk="1" fontAlgn="auto" latinLnBrk="0" hangingPunct="0">
              <a:lnSpc>
                <a:spcPct val="150000"/>
              </a:lnSpc>
              <a:spcBef>
                <a:spcPts val="2000"/>
              </a:spcBef>
              <a:spcAft>
                <a:spcPts val="0"/>
              </a:spcAft>
              <a:buClrTx/>
              <a:buSzTx/>
              <a:buFontTx/>
              <a:buNone/>
              <a:tabLst/>
              <a:defRPr/>
            </a:pPr>
            <a:r>
              <a:rPr kumimoji="0" lang="it-IT" sz="1100" b="0" i="0" u="none" strike="noStrike" kern="1200" cap="none" spc="0" normalizeH="0" baseline="0" noProof="0">
                <a:ln>
                  <a:noFill/>
                </a:ln>
                <a:solidFill>
                  <a:srgbClr val="212121"/>
                </a:solidFill>
                <a:effectLst/>
                <a:uLnTx/>
                <a:uFillTx/>
                <a:latin typeface="Source Sans Pro Light"/>
                <a:cs typeface="Helvetica"/>
              </a:rPr>
              <a:t>N</a:t>
            </a:r>
            <a:r>
              <a:rPr kumimoji="0" lang="it-IT" sz="1100" b="0" i="0" u="none" strike="noStrike" kern="1200" cap="none" spc="0" normalizeH="0" baseline="0" noProof="0">
                <a:ln>
                  <a:noFill/>
                </a:ln>
                <a:solidFill>
                  <a:srgbClr val="212121"/>
                </a:solidFill>
                <a:effectLst/>
                <a:uLnTx/>
                <a:uFillTx/>
                <a:latin typeface="Source Sans Pro Light"/>
                <a:cs typeface="Helvetica"/>
                <a:sym typeface="Helvetica"/>
              </a:rPr>
              <a:t>.B. attivazione possibile se il materiale è già presso il rivenditore</a:t>
            </a:r>
          </a:p>
        </p:txBody>
      </p:sp>
      <p:sp>
        <p:nvSpPr>
          <p:cNvPr id="2" name="Freccia a destra 1">
            <a:extLst>
              <a:ext uri="{FF2B5EF4-FFF2-40B4-BE49-F238E27FC236}">
                <a16:creationId xmlns:a16="http://schemas.microsoft.com/office/drawing/2014/main" id="{62F2E950-EEAB-78CF-EF89-2AE082999BD5}"/>
              </a:ext>
            </a:extLst>
          </p:cNvPr>
          <p:cNvSpPr/>
          <p:nvPr/>
        </p:nvSpPr>
        <p:spPr>
          <a:xfrm>
            <a:off x="-192024" y="5483935"/>
            <a:ext cx="996696" cy="475488"/>
          </a:xfrm>
          <a:prstGeom prst="rightArrow">
            <a:avLst/>
          </a:prstGeom>
          <a:solidFill>
            <a:schemeClr val="accent5">
              <a:lumMod val="75000"/>
            </a:schemeClr>
          </a:solidFill>
          <a:ln w="25400" cap="flat">
            <a:solidFill>
              <a:schemeClr val="accent5">
                <a:lumMod val="75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Tree>
    <p:extLst>
      <p:ext uri="{BB962C8B-B14F-4D97-AF65-F5344CB8AC3E}">
        <p14:creationId xmlns:p14="http://schemas.microsoft.com/office/powerpoint/2010/main" val="231770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hy Custom?">
            <a:extLst>
              <a:ext uri="{FF2B5EF4-FFF2-40B4-BE49-F238E27FC236}">
                <a16:creationId xmlns:a16="http://schemas.microsoft.com/office/drawing/2014/main" id="{1E0B29DA-0769-D1B1-FFB2-D296E955AB7C}"/>
              </a:ext>
            </a:extLst>
          </p:cNvPr>
          <p:cNvSpPr txBox="1"/>
          <p:nvPr/>
        </p:nvSpPr>
        <p:spPr>
          <a:xfrm>
            <a:off x="6085338" y="2363214"/>
            <a:ext cx="4295246" cy="41778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lvl1pPr defTabSz="825500">
              <a:lnSpc>
                <a:spcPct val="90000"/>
              </a:lnSpc>
              <a:defRPr sz="6000" cap="none" spc="900">
                <a:solidFill>
                  <a:srgbClr val="000000"/>
                </a:solidFill>
                <a:latin typeface="Source Sans Pro Light"/>
                <a:ea typeface="Source Sans Pro Light"/>
                <a:cs typeface="Source Sans Pro Light"/>
                <a:sym typeface="Source Sans Pro Light"/>
              </a:defRPr>
            </a:lvl1pPr>
          </a:lstStyle>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b="1" kern="0" spc="0">
                <a:latin typeface="Source Sans Pro"/>
              </a:rPr>
              <a:t>Il dealer si occupa di installare, configurare e addestrare l'esercente sull'utilizzo della soluzione </a:t>
            </a:r>
          </a:p>
          <a:p>
            <a:pPr marL="228600" marR="0" lvl="0" indent="-228600" algn="l" defTabSz="412750" rtl="0" eaLnBrk="1" fontAlgn="auto" latinLnBrk="0" hangingPunct="0">
              <a:lnSpc>
                <a:spcPct val="90000"/>
              </a:lnSpc>
              <a:spcBef>
                <a:spcPts val="0"/>
              </a:spcBef>
              <a:spcAft>
                <a:spcPts val="900"/>
              </a:spcAft>
              <a:buClrTx/>
              <a:buSzTx/>
              <a:buFont typeface="Arial" panose="020B0604020202020204" pitchFamily="34" charset="0"/>
              <a:buChar char="•"/>
              <a:tabLst/>
              <a:defRPr/>
            </a:pPr>
            <a:r>
              <a:rPr lang="it-IT" sz="1750" kern="0" spc="0"/>
              <a:t>Il numero di assistenza Custom </a:t>
            </a:r>
            <a:r>
              <a:rPr lang="it-IT" sz="1750" kern="0" spc="0" err="1"/>
              <a:t>Pay</a:t>
            </a:r>
            <a:r>
              <a:rPr lang="it-IT" sz="1750" kern="0" spc="0"/>
              <a:t> </a:t>
            </a:r>
            <a:br>
              <a:rPr lang="it-IT" sz="1750" kern="0" spc="0"/>
            </a:br>
            <a:r>
              <a:rPr lang="it-IT" sz="1750" b="1" kern="0" spc="0"/>
              <a:t>0521 1855755 </a:t>
            </a:r>
            <a:r>
              <a:rPr lang="it-IT" sz="1750" kern="0" spc="0"/>
              <a:t>è dedicato al dealer per la configurazione e le problematiche legate </a:t>
            </a:r>
            <a:br>
              <a:rPr lang="it-IT" sz="1750" kern="0" spc="0"/>
            </a:br>
            <a:r>
              <a:rPr lang="it-IT" sz="1750" kern="0" spc="0"/>
              <a:t>al dispositivo.</a:t>
            </a:r>
          </a:p>
          <a:p>
            <a:pPr marL="285750" marR="0" lvl="0" indent="-285750" algn="l" defTabSz="412750" rtl="0" eaLnBrk="1" fontAlgn="auto" latinLnBrk="0" hangingPunct="1">
              <a:lnSpc>
                <a:spcPct val="90000"/>
              </a:lnSpc>
              <a:spcBef>
                <a:spcPts val="0"/>
              </a:spcBef>
              <a:spcAft>
                <a:spcPts val="900"/>
              </a:spcAft>
              <a:buClrTx/>
              <a:buSzTx/>
              <a:buFont typeface="Arial" panose="020B0604020202020204" pitchFamily="34" charset="0"/>
              <a:buChar char="•"/>
              <a:tabLst/>
              <a:defRPr/>
            </a:pPr>
            <a:r>
              <a:rPr lang="it-IT" sz="1750" kern="0" spc="0"/>
              <a:t>Il numero </a:t>
            </a:r>
            <a:r>
              <a:rPr lang="it-IT" sz="1750" b="1" kern="0" spc="0"/>
              <a:t>02 345 448</a:t>
            </a:r>
            <a:r>
              <a:rPr lang="it-IT" sz="1750" kern="0" spc="0"/>
              <a:t> disponibile 24 ore </a:t>
            </a:r>
            <a:br>
              <a:rPr lang="it-IT" sz="1750" kern="0" spc="0"/>
            </a:br>
            <a:r>
              <a:rPr lang="it-IT" sz="1750" kern="0" spc="0"/>
              <a:t>su 24 e 365 giorni l’anno è dedicato all'esercente per assistenza sulla parte transazioni </a:t>
            </a:r>
          </a:p>
          <a:p>
            <a:pPr marL="0" marR="0" lvl="0" indent="0" algn="l" defTabSz="412750" rtl="0" eaLnBrk="1" fontAlgn="auto" latinLnBrk="0" hangingPunct="1">
              <a:lnSpc>
                <a:spcPct val="90000"/>
              </a:lnSpc>
              <a:spcBef>
                <a:spcPts val="0"/>
              </a:spcBef>
              <a:spcAft>
                <a:spcPts val="900"/>
              </a:spcAft>
              <a:buClrTx/>
              <a:buSzTx/>
              <a:buFontTx/>
              <a:buNone/>
              <a:tabLst/>
              <a:defRPr/>
            </a:pPr>
            <a:endParaRPr lang="it-IT" sz="1750" kern="0"/>
          </a:p>
          <a:p>
            <a:pPr marL="742950" marR="0" lvl="1" indent="-285750" algn="l" defTabSz="412750" rtl="0" eaLnBrk="1" fontAlgn="auto" latinLnBrk="0" hangingPunct="1">
              <a:lnSpc>
                <a:spcPct val="90000"/>
              </a:lnSpc>
              <a:spcBef>
                <a:spcPts val="0"/>
              </a:spcBef>
              <a:spcAft>
                <a:spcPts val="900"/>
              </a:spcAft>
              <a:buClrTx/>
              <a:buSzTx/>
              <a:buFont typeface="Courier New" panose="020B0604020202020204" pitchFamily="34" charset="0"/>
              <a:buChar char="o"/>
              <a:tabLst/>
              <a:defRPr/>
            </a:pPr>
            <a:r>
              <a:rPr lang="it-IT" sz="1600" kern="0">
                <a:solidFill>
                  <a:srgbClr val="000000"/>
                </a:solidFill>
                <a:latin typeface="Source Sans Pro Light"/>
                <a:ea typeface="Source Sans Pro Light"/>
                <a:cs typeface="Helvetica"/>
                <a:sym typeface="Source Sans Pro Light"/>
              </a:rPr>
              <a:t>Opzione consigliata: </a:t>
            </a:r>
            <a:r>
              <a:rPr lang="it-IT" sz="1600" b="1" kern="0">
                <a:solidFill>
                  <a:srgbClr val="000000"/>
                </a:solidFill>
                <a:latin typeface="Source Sans Pro Light"/>
                <a:ea typeface="Source Sans Pro Light"/>
                <a:cs typeface="Helvetica"/>
                <a:sym typeface="Source Sans Pro Light"/>
              </a:rPr>
              <a:t>iscriversi a NEXI BUSINESS tramite l'app mobile</a:t>
            </a:r>
            <a:endParaRPr lang="it-IT" sz="1600" b="1" kern="0">
              <a:solidFill>
                <a:srgbClr val="000000"/>
              </a:solidFill>
              <a:latin typeface="Source Sans Pro Light"/>
              <a:ea typeface="Source Sans Pro Light"/>
              <a:cs typeface="Helvetica"/>
            </a:endParaRPr>
          </a:p>
          <a:p>
            <a:pPr marL="228600" marR="0" lvl="0" indent="-228600" algn="l" defTabSz="412750" rtl="0" eaLnBrk="1" fontAlgn="auto" latinLnBrk="0" hangingPunct="1">
              <a:lnSpc>
                <a:spcPct val="90000"/>
              </a:lnSpc>
              <a:spcBef>
                <a:spcPts val="0"/>
              </a:spcBef>
              <a:spcAft>
                <a:spcPts val="900"/>
              </a:spcAft>
              <a:buClrTx/>
              <a:buSzTx/>
              <a:buFont typeface="Arial" panose="020B0604020202020204" pitchFamily="34" charset="0"/>
              <a:buChar char="•"/>
              <a:tabLst/>
              <a:defRPr/>
            </a:pPr>
            <a:endParaRPr lang="it-IT" sz="1750" kern="0" spc="0"/>
          </a:p>
        </p:txBody>
      </p:sp>
      <p:grpSp>
        <p:nvGrpSpPr>
          <p:cNvPr id="8" name="Gruppo 7">
            <a:extLst>
              <a:ext uri="{FF2B5EF4-FFF2-40B4-BE49-F238E27FC236}">
                <a16:creationId xmlns:a16="http://schemas.microsoft.com/office/drawing/2014/main" id="{2D62B308-717C-596D-575A-2610732059DD}"/>
              </a:ext>
            </a:extLst>
          </p:cNvPr>
          <p:cNvGrpSpPr/>
          <p:nvPr/>
        </p:nvGrpSpPr>
        <p:grpSpPr>
          <a:xfrm>
            <a:off x="1571076" y="2104595"/>
            <a:ext cx="2454549" cy="3621733"/>
            <a:chOff x="2437975" y="4629755"/>
            <a:chExt cx="4909097" cy="7243466"/>
          </a:xfrm>
        </p:grpSpPr>
        <p:pic>
          <p:nvPicPr>
            <p:cNvPr id="10" name="Immagine 9">
              <a:extLst>
                <a:ext uri="{FF2B5EF4-FFF2-40B4-BE49-F238E27FC236}">
                  <a16:creationId xmlns:a16="http://schemas.microsoft.com/office/drawing/2014/main" id="{78D4DDF7-E424-33BC-A01C-FDD93DB2E9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880623" y="9479721"/>
              <a:ext cx="3466449" cy="2393500"/>
            </a:xfrm>
            <a:prstGeom prst="rect">
              <a:avLst/>
            </a:prstGeom>
          </p:spPr>
        </p:pic>
        <p:sp>
          <p:nvSpPr>
            <p:cNvPr id="11" name="TextBox 2">
              <a:extLst>
                <a:ext uri="{FF2B5EF4-FFF2-40B4-BE49-F238E27FC236}">
                  <a16:creationId xmlns:a16="http://schemas.microsoft.com/office/drawing/2014/main" id="{C2018C02-7D6B-03B9-EA6A-54FAAA19E743}"/>
                </a:ext>
              </a:extLst>
            </p:cNvPr>
            <p:cNvSpPr txBox="1"/>
            <p:nvPr/>
          </p:nvSpPr>
          <p:spPr>
            <a:xfrm>
              <a:off x="2437975" y="6449395"/>
              <a:ext cx="2074926" cy="620682"/>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600" b="1" kern="0" err="1">
                  <a:solidFill>
                    <a:srgbClr val="212121"/>
                  </a:solidFill>
                  <a:latin typeface="Source Sans Pro" panose="020B0503030403020204" pitchFamily="34" charset="0"/>
                  <a:cs typeface="Poppins Light" pitchFamily="2" charset="77"/>
                  <a:sym typeface="Helvetica"/>
                </a:rPr>
                <a:t>Supporto</a:t>
              </a:r>
              <a:endParaRPr lang="en-US" sz="1600" b="1" kern="0">
                <a:solidFill>
                  <a:srgbClr val="212121"/>
                </a:solidFill>
                <a:latin typeface="Source Sans Pro" panose="020B0503030403020204" pitchFamily="34" charset="0"/>
                <a:cs typeface="Poppins Light" pitchFamily="2" charset="77"/>
                <a:sym typeface="Helvetica"/>
              </a:endParaRPr>
            </a:p>
          </p:txBody>
        </p:sp>
        <p:sp>
          <p:nvSpPr>
            <p:cNvPr id="12" name="TextBox 2">
              <a:extLst>
                <a:ext uri="{FF2B5EF4-FFF2-40B4-BE49-F238E27FC236}">
                  <a16:creationId xmlns:a16="http://schemas.microsoft.com/office/drawing/2014/main" id="{F962DAA9-63A7-97F0-CED5-C11083FD6EF9}"/>
                </a:ext>
              </a:extLst>
            </p:cNvPr>
            <p:cNvSpPr txBox="1"/>
            <p:nvPr/>
          </p:nvSpPr>
          <p:spPr>
            <a:xfrm>
              <a:off x="2437975" y="7677921"/>
              <a:ext cx="3736919" cy="1041184"/>
            </a:xfrm>
            <a:prstGeom prst="rect">
              <a:avLst/>
            </a:prstGeom>
            <a:noFill/>
          </p:spPr>
          <p:txBody>
            <a:bodyPr wrap="squar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1400" kern="0" err="1">
                  <a:solidFill>
                    <a:srgbClr val="212121"/>
                  </a:solidFill>
                  <a:latin typeface="Source Sans Pro" panose="020B0503030403020204" pitchFamily="34" charset="0"/>
                  <a:cs typeface="Poppins Light" pitchFamily="2" charset="77"/>
                  <a:sym typeface="Helvetica"/>
                </a:rPr>
                <a:t>Supporto</a:t>
              </a:r>
              <a:r>
                <a:rPr lang="en-US" sz="1400" kern="0">
                  <a:solidFill>
                    <a:srgbClr val="212121"/>
                  </a:solidFill>
                  <a:latin typeface="Source Sans Pro" panose="020B0503030403020204" pitchFamily="34" charset="0"/>
                  <a:cs typeface="Poppins Light" pitchFamily="2" charset="77"/>
                  <a:sym typeface="Helvetica"/>
                </a:rPr>
                <a:t> ed </a:t>
              </a:r>
              <a:r>
                <a:rPr lang="en-US" sz="1400" kern="0" err="1">
                  <a:solidFill>
                    <a:srgbClr val="212121"/>
                  </a:solidFill>
                  <a:latin typeface="Source Sans Pro" panose="020B0503030403020204" pitchFamily="34" charset="0"/>
                  <a:cs typeface="Poppins Light" pitchFamily="2" charset="77"/>
                  <a:sym typeface="Helvetica"/>
                </a:rPr>
                <a:t>assistenza</a:t>
              </a:r>
              <a:endParaRPr lang="en-US" sz="1400" kern="0">
                <a:solidFill>
                  <a:srgbClr val="212121"/>
                </a:solidFill>
                <a:latin typeface="Source Sans Pro" panose="020B0503030403020204" pitchFamily="34" charset="0"/>
                <a:cs typeface="Poppins Light" pitchFamily="2" charset="77"/>
                <a:sym typeface="Helvetica"/>
              </a:endParaRPr>
            </a:p>
          </p:txBody>
        </p:sp>
        <p:pic>
          <p:nvPicPr>
            <p:cNvPr id="13" name="Immagine 12">
              <a:extLst>
                <a:ext uri="{FF2B5EF4-FFF2-40B4-BE49-F238E27FC236}">
                  <a16:creationId xmlns:a16="http://schemas.microsoft.com/office/drawing/2014/main" id="{C6FD93EA-47CF-16FC-AF40-B2E95DFF9ED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93751" y="4629755"/>
              <a:ext cx="1800000" cy="1800000"/>
            </a:xfrm>
            <a:prstGeom prst="rect">
              <a:avLst/>
            </a:prstGeom>
          </p:spPr>
        </p:pic>
        <p:sp>
          <p:nvSpPr>
            <p:cNvPr id="14" name="TextBox 2">
              <a:extLst>
                <a:ext uri="{FF2B5EF4-FFF2-40B4-BE49-F238E27FC236}">
                  <a16:creationId xmlns:a16="http://schemas.microsoft.com/office/drawing/2014/main" id="{C42E9056-59E0-7CBF-14EC-AE4CF95378C0}"/>
                </a:ext>
              </a:extLst>
            </p:cNvPr>
            <p:cNvSpPr txBox="1"/>
            <p:nvPr/>
          </p:nvSpPr>
          <p:spPr>
            <a:xfrm>
              <a:off x="5352396" y="10493931"/>
              <a:ext cx="709168" cy="678776"/>
            </a:xfrm>
            <a:prstGeom prst="rect">
              <a:avLst/>
            </a:prstGeom>
            <a:noFill/>
          </p:spPr>
          <p:txBody>
            <a:bodyPr wrap="none" rtlCol="0">
              <a:spAutoFit/>
            </a:bodyPr>
            <a:lstStyle/>
            <a:p>
              <a:pPr marL="0" marR="0" lvl="0" indent="0" algn="l" defTabSz="412750" rtl="0" eaLnBrk="1" fontAlgn="auto" latinLnBrk="0" hangingPunct="0">
                <a:lnSpc>
                  <a:spcPts val="1700"/>
                </a:lnSpc>
                <a:spcBef>
                  <a:spcPts val="1000"/>
                </a:spcBef>
                <a:spcAft>
                  <a:spcPts val="0"/>
                </a:spcAft>
                <a:buClrTx/>
                <a:buSzTx/>
                <a:buFontTx/>
                <a:buNone/>
                <a:tabLst/>
                <a:defRPr/>
              </a:pPr>
              <a:r>
                <a:rPr lang="en-US" sz="2500" b="1" kern="0">
                  <a:solidFill>
                    <a:srgbClr val="FFFFFF"/>
                  </a:solidFill>
                  <a:latin typeface="Source Sans Pro" panose="020B0503030403020204" pitchFamily="34" charset="0"/>
                  <a:cs typeface="Poppins Light" pitchFamily="2" charset="77"/>
                  <a:sym typeface="Helvetica"/>
                </a:rPr>
                <a:t>4</a:t>
              </a:r>
            </a:p>
          </p:txBody>
        </p:sp>
      </p:grpSp>
      <p:pic>
        <p:nvPicPr>
          <p:cNvPr id="2" name="Immagine 1" descr="Immagine che contiene Cellulare, Dispositivo portatile per comunicazioni, Dispositivo mobile, gadget&#10;&#10;Il contenuto generato dall&amp;#39;intelligenza artificiale potrebbe non essere corretto.">
            <a:extLst>
              <a:ext uri="{FF2B5EF4-FFF2-40B4-BE49-F238E27FC236}">
                <a16:creationId xmlns:a16="http://schemas.microsoft.com/office/drawing/2014/main" id="{CC26BC81-2239-F3CE-2B17-4DE0DF0F8CCE}"/>
              </a:ext>
            </a:extLst>
          </p:cNvPr>
          <p:cNvPicPr>
            <a:picLocks noChangeAspect="1"/>
          </p:cNvPicPr>
          <p:nvPr/>
        </p:nvPicPr>
        <p:blipFill>
          <a:blip r:embed="rId4"/>
          <a:stretch>
            <a:fillRect/>
          </a:stretch>
        </p:blipFill>
        <p:spPr>
          <a:xfrm>
            <a:off x="10162870" y="4452151"/>
            <a:ext cx="1355138" cy="1813161"/>
          </a:xfrm>
          <a:prstGeom prst="rect">
            <a:avLst/>
          </a:prstGeom>
        </p:spPr>
      </p:pic>
      <p:sp>
        <p:nvSpPr>
          <p:cNvPr id="4" name="TextBox 1">
            <a:extLst>
              <a:ext uri="{FF2B5EF4-FFF2-40B4-BE49-F238E27FC236}">
                <a16:creationId xmlns:a16="http://schemas.microsoft.com/office/drawing/2014/main" id="{71987805-7D9B-9927-996F-118D74C0B350}"/>
              </a:ext>
            </a:extLst>
          </p:cNvPr>
          <p:cNvSpPr txBox="1"/>
          <p:nvPr/>
        </p:nvSpPr>
        <p:spPr>
          <a:xfrm>
            <a:off x="623888" y="810155"/>
            <a:ext cx="9152786" cy="427040"/>
          </a:xfrm>
          <a:prstGeom prst="rect">
            <a:avLst/>
          </a:prstGeom>
          <a:ln w="12700">
            <a:miter lim="400000"/>
          </a:ln>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a:lnSpc>
                <a:spcPct val="90000"/>
              </a:lnSpc>
              <a:spcBef>
                <a:spcPts val="0"/>
              </a:spcBef>
              <a:defRPr sz="6000" spc="900">
                <a:solidFill>
                  <a:srgbClr val="000000"/>
                </a:solidFill>
                <a:latin typeface="Source Sans Pro Light"/>
                <a:ea typeface="Source Sans Pro Light"/>
                <a:cs typeface="Source Sans Pro Light"/>
              </a:defRPr>
            </a:lvl1pPr>
          </a:lstStyle>
          <a:p>
            <a:pPr marL="0" marR="0" lvl="0" indent="0" algn="l" defTabSz="412750" rtl="0" eaLnBrk="1" fontAlgn="auto" latinLnBrk="0" hangingPunct="0">
              <a:lnSpc>
                <a:spcPct val="90000"/>
              </a:lnSpc>
              <a:spcBef>
                <a:spcPts val="0"/>
              </a:spcBef>
              <a:spcAft>
                <a:spcPts val="0"/>
              </a:spcAft>
              <a:buClrTx/>
              <a:buSzTx/>
              <a:buFontTx/>
              <a:buNone/>
              <a:tabLst/>
              <a:defRPr/>
            </a:pPr>
            <a:r>
              <a:rPr lang="en-US" sz="3000" kern="0" spc="0" err="1">
                <a:sym typeface="Helvetica"/>
              </a:rPr>
              <a:t>Principali</a:t>
            </a:r>
            <a:r>
              <a:rPr lang="en-US" sz="3000" kern="0" spc="0">
                <a:sym typeface="Helvetica"/>
              </a:rPr>
              <a:t> </a:t>
            </a:r>
            <a:r>
              <a:rPr lang="en-US" sz="3000" kern="0" spc="0" err="1">
                <a:sym typeface="Helvetica"/>
              </a:rPr>
              <a:t>processi</a:t>
            </a:r>
            <a:r>
              <a:rPr lang="en-US" sz="3000" kern="0" spc="0">
                <a:sym typeface="Helvetica"/>
              </a:rPr>
              <a:t> </a:t>
            </a:r>
            <a:r>
              <a:rPr lang="en-US" sz="3000" kern="0" spc="0" err="1">
                <a:sym typeface="Helvetica"/>
              </a:rPr>
              <a:t>operativi</a:t>
            </a:r>
            <a:r>
              <a:rPr lang="en-US" sz="3000" kern="0" spc="0">
                <a:sym typeface="Helvetica"/>
              </a:rPr>
              <a:t> CUSTOM Pay</a:t>
            </a:r>
          </a:p>
        </p:txBody>
      </p:sp>
      <p:sp>
        <p:nvSpPr>
          <p:cNvPr id="5" name="TextBox 2">
            <a:extLst>
              <a:ext uri="{FF2B5EF4-FFF2-40B4-BE49-F238E27FC236}">
                <a16:creationId xmlns:a16="http://schemas.microsoft.com/office/drawing/2014/main" id="{33E2F6E9-DDDB-423B-B991-6478B991EEE1}"/>
              </a:ext>
            </a:extLst>
          </p:cNvPr>
          <p:cNvSpPr txBox="1"/>
          <p:nvPr/>
        </p:nvSpPr>
        <p:spPr>
          <a:xfrm>
            <a:off x="556006" y="1157799"/>
            <a:ext cx="3421129" cy="346249"/>
          </a:xfrm>
          <a:prstGeom prst="rect">
            <a:avLst/>
          </a:prstGeom>
          <a:noFill/>
        </p:spPr>
        <p:txBody>
          <a:bodyPr wrap="square" rtlCol="0">
            <a:spAutoFit/>
          </a:bodyPr>
          <a:lstStyle/>
          <a:p>
            <a:pPr marL="0" marR="0" lvl="0" indent="0" defTabSz="412750" rtl="0" eaLnBrk="1" fontAlgn="auto" latinLnBrk="0" hangingPunct="0">
              <a:lnSpc>
                <a:spcPct val="150000"/>
              </a:lnSpc>
              <a:spcBef>
                <a:spcPts val="1000"/>
              </a:spcBef>
              <a:spcAft>
                <a:spcPts val="0"/>
              </a:spcAft>
              <a:buClrTx/>
              <a:buSzTx/>
              <a:buFontTx/>
              <a:buNone/>
              <a:tabLst/>
              <a:defRPr/>
            </a:pPr>
            <a:r>
              <a:rPr lang="en-US" sz="1200" kern="0">
                <a:solidFill>
                  <a:srgbClr val="212121"/>
                </a:solidFill>
                <a:latin typeface="Source Sans Pro Light" panose="020B0403030403020204" pitchFamily="34" charset="0"/>
                <a:cs typeface="Poppins Light" pitchFamily="2" charset="77"/>
                <a:sym typeface="Helvetica"/>
              </a:rPr>
              <a:t>Quale </a:t>
            </a:r>
            <a:r>
              <a:rPr lang="en-US" sz="1200" kern="0" err="1">
                <a:solidFill>
                  <a:srgbClr val="212121"/>
                </a:solidFill>
                <a:latin typeface="Source Sans Pro Light" panose="020B0403030403020204" pitchFamily="34" charset="0"/>
                <a:cs typeface="Poppins Light" pitchFamily="2" charset="77"/>
                <a:sym typeface="Helvetica"/>
              </a:rPr>
              <a:t>agente</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nei</a:t>
            </a:r>
            <a:r>
              <a:rPr lang="en-US" sz="1200" kern="0">
                <a:solidFill>
                  <a:srgbClr val="212121"/>
                </a:solidFill>
                <a:latin typeface="Source Sans Pro Light" panose="020B0403030403020204" pitchFamily="34" charset="0"/>
                <a:cs typeface="Poppins Light" pitchFamily="2" charset="77"/>
                <a:sym typeface="Helvetica"/>
              </a:rPr>
              <a:t> </a:t>
            </a:r>
            <a:r>
              <a:rPr lang="en-US" sz="1200" kern="0" err="1">
                <a:solidFill>
                  <a:srgbClr val="212121"/>
                </a:solidFill>
                <a:latin typeface="Source Sans Pro Light" panose="020B0403030403020204" pitchFamily="34" charset="0"/>
                <a:cs typeface="Poppins Light" pitchFamily="2" charset="77"/>
                <a:sym typeface="Helvetica"/>
              </a:rPr>
              <a:t>servizi</a:t>
            </a:r>
            <a:r>
              <a:rPr lang="en-US" sz="1200" kern="0">
                <a:solidFill>
                  <a:srgbClr val="212121"/>
                </a:solidFill>
                <a:latin typeface="Source Sans Pro Light" panose="020B0403030403020204" pitchFamily="34" charset="0"/>
                <a:cs typeface="Poppins Light" pitchFamily="2" charset="77"/>
                <a:sym typeface="Helvetica"/>
              </a:rPr>
              <a:t> di </a:t>
            </a:r>
            <a:r>
              <a:rPr lang="en-US" sz="1200" kern="0" err="1">
                <a:solidFill>
                  <a:srgbClr val="212121"/>
                </a:solidFill>
                <a:latin typeface="Source Sans Pro Light" panose="020B0403030403020204" pitchFamily="34" charset="0"/>
                <a:cs typeface="Poppins Light" pitchFamily="2" charset="77"/>
                <a:sym typeface="Helvetica"/>
              </a:rPr>
              <a:t>pagamento</a:t>
            </a:r>
            <a:endParaRPr lang="en-US" sz="1200" kern="0">
              <a:solidFill>
                <a:srgbClr val="212121"/>
              </a:solidFill>
              <a:latin typeface="Source Sans Pro Light" panose="020B0403030403020204" pitchFamily="34" charset="0"/>
              <a:cs typeface="Poppins Light" pitchFamily="2" charset="77"/>
              <a:sym typeface="Helvetica"/>
            </a:endParaRPr>
          </a:p>
        </p:txBody>
      </p:sp>
      <p:pic>
        <p:nvPicPr>
          <p:cNvPr id="6" name="Immagine 5" descr="Immagine che contiene testo, Carattere, Elementi grafici, cartello&#10;&#10;Descrizione generata automaticamente">
            <a:extLst>
              <a:ext uri="{FF2B5EF4-FFF2-40B4-BE49-F238E27FC236}">
                <a16:creationId xmlns:a16="http://schemas.microsoft.com/office/drawing/2014/main" id="{A7CE73BA-C83B-587E-515C-D7D4F33188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95830" y="773113"/>
            <a:ext cx="933450" cy="946150"/>
          </a:xfrm>
          <a:prstGeom prst="rect">
            <a:avLst/>
          </a:prstGeom>
        </p:spPr>
      </p:pic>
    </p:spTree>
    <p:extLst>
      <p:ext uri="{BB962C8B-B14F-4D97-AF65-F5344CB8AC3E}">
        <p14:creationId xmlns:p14="http://schemas.microsoft.com/office/powerpoint/2010/main" val="345969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B006-2343-9659-084B-A03EABAE56A6}"/>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EDA327FC-BDEA-EC1A-C73C-64A828AF3150}"/>
              </a:ext>
            </a:extLst>
          </p:cNvPr>
          <p:cNvSpPr txBox="1"/>
          <p:nvPr/>
        </p:nvSpPr>
        <p:spPr>
          <a:xfrm>
            <a:off x="615179" y="1694682"/>
            <a:ext cx="4764125" cy="4667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defTabSz="412750" hangingPunct="0">
              <a:lnSpc>
                <a:spcPct val="90000"/>
              </a:lnSpc>
              <a:defRPr/>
            </a:pPr>
            <a:r>
              <a:rPr lang="it-IT" sz="3000" b="1" kern="0">
                <a:solidFill>
                  <a:srgbClr val="FFFFFF"/>
                </a:solidFill>
                <a:latin typeface="Source Sans Pro" panose="020B0503030403020204" pitchFamily="34" charset="0"/>
                <a:ea typeface="Source Sans Pro Light"/>
                <a:cs typeface="Helvetica"/>
                <a:sym typeface="Helvetica"/>
              </a:rPr>
              <a:t>Il Portale Operations</a:t>
            </a:r>
            <a:endParaRPr lang="it-IT" sz="3000" b="1" kern="0">
              <a:solidFill>
                <a:srgbClr val="FFFFFF"/>
              </a:solidFill>
              <a:latin typeface="Source Sans Pro" panose="020B0503030403020204" pitchFamily="34" charset="0"/>
              <a:ea typeface="Source Sans Pro Light"/>
              <a:cs typeface="Helvetica"/>
            </a:endParaRPr>
          </a:p>
        </p:txBody>
      </p:sp>
      <p:sp>
        <p:nvSpPr>
          <p:cNvPr id="4" name="CasellaDiTesto 3">
            <a:extLst>
              <a:ext uri="{FF2B5EF4-FFF2-40B4-BE49-F238E27FC236}">
                <a16:creationId xmlns:a16="http://schemas.microsoft.com/office/drawing/2014/main" id="{7E829968-18BC-B90D-2794-33B0FBDD05A6}"/>
              </a:ext>
            </a:extLst>
          </p:cNvPr>
          <p:cNvSpPr txBox="1"/>
          <p:nvPr/>
        </p:nvSpPr>
        <p:spPr>
          <a:xfrm>
            <a:off x="550055" y="2838370"/>
            <a:ext cx="6094476" cy="2716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buNone/>
            </a:pPr>
            <a: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Il Portale Operations è la piattaforma di gestione dei TID (Terminal ID) per la gestione del parco terminali. </a:t>
            </a:r>
            <a:b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br>
            <a: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Impareremo a utilizzarlo per:</a:t>
            </a:r>
          </a:p>
          <a:p>
            <a:pPr marL="342900" lvl="0" indent="-342900">
              <a:lnSpc>
                <a:spcPct val="115000"/>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Procedere attivazione dei TID</a:t>
            </a:r>
          </a:p>
          <a:p>
            <a:pPr marL="342900" lvl="0" indent="-342900">
              <a:lnSpc>
                <a:spcPct val="115000"/>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Gestire i clienti e i dispositivi installati</a:t>
            </a:r>
          </a:p>
          <a:p>
            <a:pPr marL="342900" lvl="0" indent="-342900">
              <a:lnSpc>
                <a:spcPct val="115000"/>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Intervenire in caso di malfunzionamenti</a:t>
            </a:r>
          </a:p>
          <a:p>
            <a:pPr lvl="0">
              <a:lnSpc>
                <a:spcPct val="115000"/>
              </a:lnSpc>
              <a:spcAft>
                <a:spcPts val="800"/>
              </a:spcAft>
              <a:buSzPts val="1000"/>
              <a:tabLst>
                <a:tab pos="457200" algn="l"/>
              </a:tabLst>
            </a:pPr>
            <a:endParaRPr lang="it-IT" kern="100">
              <a:solidFill>
                <a:srgbClr val="FFFFFF"/>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4601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651E4B51-946E-B404-C067-D9DCB0A246AA}"/>
              </a:ext>
            </a:extLst>
          </p:cNvPr>
          <p:cNvPicPr>
            <a:picLocks noChangeAspect="1"/>
          </p:cNvPicPr>
          <p:nvPr/>
        </p:nvPicPr>
        <p:blipFill>
          <a:blip r:embed="rId2"/>
          <a:stretch>
            <a:fillRect/>
          </a:stretch>
        </p:blipFill>
        <p:spPr>
          <a:xfrm>
            <a:off x="5848460" y="1444120"/>
            <a:ext cx="5324637" cy="4479303"/>
          </a:xfrm>
          <a:prstGeom prst="rect">
            <a:avLst/>
          </a:prstGeom>
          <a:effectLst>
            <a:outerShdw blurRad="279400" dist="38100" dir="2700000" algn="tl" rotWithShape="0">
              <a:prstClr val="black">
                <a:alpha val="40000"/>
              </a:prstClr>
            </a:outerShdw>
          </a:effectLst>
        </p:spPr>
      </p:pic>
      <p:sp>
        <p:nvSpPr>
          <p:cNvPr id="4" name="CasellaDiTesto 3">
            <a:extLst>
              <a:ext uri="{FF2B5EF4-FFF2-40B4-BE49-F238E27FC236}">
                <a16:creationId xmlns:a16="http://schemas.microsoft.com/office/drawing/2014/main" id="{4F07C1B9-E552-1A58-FEBF-AB0CE990FEFB}"/>
              </a:ext>
            </a:extLst>
          </p:cNvPr>
          <p:cNvSpPr txBox="1"/>
          <p:nvPr/>
        </p:nvSpPr>
        <p:spPr>
          <a:xfrm>
            <a:off x="579014" y="247328"/>
            <a:ext cx="5068695" cy="1051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hangingPunct="0">
              <a:lnSpc>
                <a:spcPct val="150000"/>
              </a:lnSpc>
              <a:spcBef>
                <a:spcPts val="2000"/>
              </a:spcBef>
            </a:pPr>
            <a:r>
              <a:rPr lang="it-IT" sz="3000" kern="0">
                <a:latin typeface="Source Sans Pro Light" panose="020B0403030403020204" pitchFamily="34" charset="0"/>
                <a:ea typeface="Source Sans Pro Light"/>
                <a:cs typeface="Helvetica"/>
                <a:sym typeface="Helvetica"/>
              </a:rPr>
              <a:t>Ticket di installazione</a:t>
            </a:r>
          </a:p>
        </p:txBody>
      </p:sp>
      <p:sp>
        <p:nvSpPr>
          <p:cNvPr id="5" name="CasellaDiTesto 4">
            <a:extLst>
              <a:ext uri="{FF2B5EF4-FFF2-40B4-BE49-F238E27FC236}">
                <a16:creationId xmlns:a16="http://schemas.microsoft.com/office/drawing/2014/main" id="{8647683B-6D59-C4F7-19F5-2FEDA21357DC}"/>
              </a:ext>
            </a:extLst>
          </p:cNvPr>
          <p:cNvSpPr txBox="1"/>
          <p:nvPr/>
        </p:nvSpPr>
        <p:spPr>
          <a:xfrm>
            <a:off x="623888" y="1857583"/>
            <a:ext cx="4557712" cy="39395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hangingPunct="0">
              <a:spcBef>
                <a:spcPts val="2000"/>
              </a:spcBef>
            </a:pPr>
            <a:r>
              <a:rPr lang="it-IT" kern="100">
                <a:latin typeface="Source Sans Pro Light" panose="020B0403030403020204" pitchFamily="34" charset="0"/>
                <a:cs typeface="Times New Roman" panose="02020603050405020304" pitchFamily="18" charset="0"/>
                <a:sym typeface="Helvetica"/>
              </a:rPr>
              <a:t>A seguito dell’ok di NEXI, il backoffice di CUSTOM </a:t>
            </a:r>
            <a:r>
              <a:rPr lang="it-IT" kern="100" err="1">
                <a:latin typeface="Source Sans Pro Light" panose="020B0403030403020204" pitchFamily="34" charset="0"/>
                <a:cs typeface="Times New Roman" panose="02020603050405020304" pitchFamily="18" charset="0"/>
                <a:sym typeface="Helvetica"/>
              </a:rPr>
              <a:t>Pay</a:t>
            </a:r>
            <a:r>
              <a:rPr lang="it-IT" kern="100">
                <a:latin typeface="Source Sans Pro Light" panose="020B0403030403020204" pitchFamily="34" charset="0"/>
                <a:cs typeface="Times New Roman" panose="02020603050405020304" pitchFamily="18" charset="0"/>
                <a:sym typeface="Helvetica"/>
              </a:rPr>
              <a:t> si occupa di gestire la creazione del suddetto ticket, il quale genererà una mail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al dealer che gli comunicherà i dati del cliente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e che la soluzione di pagamento è pronta per essere installata. Ciò che dovrà fare il dealer in seguito, sarà di occuparsi della chiusura dello stesso ticket inserendo la soluzione installata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e il/i codice/i seriale/i.</a:t>
            </a:r>
          </a:p>
          <a:p>
            <a:pPr defTabSz="825500" hangingPunct="0">
              <a:spcBef>
                <a:spcPts val="2000"/>
              </a:spcBef>
            </a:pPr>
            <a:r>
              <a:rPr lang="it-IT" kern="100">
                <a:latin typeface="Source Sans Pro Light" panose="020B0403030403020204" pitchFamily="34" charset="0"/>
                <a:cs typeface="Times New Roman" panose="02020603050405020304" pitchFamily="18" charset="0"/>
                <a:sym typeface="Helvetica"/>
              </a:rPr>
              <a:t>In questo caso l’installazione può essere di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due tipi, può trattarsi di un subnoleggio al dealer o di un noleggio diretto all’esercente</a:t>
            </a:r>
          </a:p>
        </p:txBody>
      </p:sp>
    </p:spTree>
    <p:extLst>
      <p:ext uri="{BB962C8B-B14F-4D97-AF65-F5344CB8AC3E}">
        <p14:creationId xmlns:p14="http://schemas.microsoft.com/office/powerpoint/2010/main" val="402694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4E34583D-104F-3ADB-D597-271BB70DF4A0}"/>
              </a:ext>
            </a:extLst>
          </p:cNvPr>
          <p:cNvPicPr>
            <a:picLocks noChangeAspect="1"/>
          </p:cNvPicPr>
          <p:nvPr/>
        </p:nvPicPr>
        <p:blipFill>
          <a:blip r:embed="rId2"/>
          <a:stretch>
            <a:fillRect/>
          </a:stretch>
        </p:blipFill>
        <p:spPr>
          <a:xfrm>
            <a:off x="5767616" y="773113"/>
            <a:ext cx="4049059" cy="3442824"/>
          </a:xfrm>
          <a:prstGeom prst="rect">
            <a:avLst/>
          </a:prstGeom>
          <a:effectLst>
            <a:outerShdw blurRad="279400" dist="38100" dir="2700000" algn="tl" rotWithShape="0">
              <a:prstClr val="black">
                <a:alpha val="40000"/>
              </a:prstClr>
            </a:outerShdw>
          </a:effectLst>
        </p:spPr>
      </p:pic>
      <p:pic>
        <p:nvPicPr>
          <p:cNvPr id="5" name="Immagine 4">
            <a:extLst>
              <a:ext uri="{FF2B5EF4-FFF2-40B4-BE49-F238E27FC236}">
                <a16:creationId xmlns:a16="http://schemas.microsoft.com/office/drawing/2014/main" id="{789E1BFE-9901-0464-C778-97DE9CA812E1}"/>
              </a:ext>
            </a:extLst>
          </p:cNvPr>
          <p:cNvPicPr>
            <a:picLocks noChangeAspect="1"/>
          </p:cNvPicPr>
          <p:nvPr/>
        </p:nvPicPr>
        <p:blipFill>
          <a:blip r:embed="rId3"/>
          <a:stretch>
            <a:fillRect/>
          </a:stretch>
        </p:blipFill>
        <p:spPr>
          <a:xfrm>
            <a:off x="7361283" y="2997200"/>
            <a:ext cx="4049059" cy="3429000"/>
          </a:xfrm>
          <a:prstGeom prst="rect">
            <a:avLst/>
          </a:prstGeom>
          <a:effectLst>
            <a:outerShdw blurRad="279400" dist="38100" dir="2700000" algn="tl" rotWithShape="0">
              <a:prstClr val="black">
                <a:alpha val="40000"/>
              </a:prstClr>
            </a:outerShdw>
          </a:effectLst>
        </p:spPr>
      </p:pic>
      <p:sp>
        <p:nvSpPr>
          <p:cNvPr id="6" name="CasellaDiTesto 5">
            <a:extLst>
              <a:ext uri="{FF2B5EF4-FFF2-40B4-BE49-F238E27FC236}">
                <a16:creationId xmlns:a16="http://schemas.microsoft.com/office/drawing/2014/main" id="{8A73C19C-A887-E5E2-93B6-2C6887AE7E1D}"/>
              </a:ext>
            </a:extLst>
          </p:cNvPr>
          <p:cNvSpPr txBox="1"/>
          <p:nvPr/>
        </p:nvSpPr>
        <p:spPr>
          <a:xfrm>
            <a:off x="586408" y="425186"/>
            <a:ext cx="6047715" cy="12824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spcBef>
                <a:spcPts val="2000"/>
              </a:spcBef>
              <a:spcAft>
                <a:spcPts val="0"/>
              </a:spcAft>
              <a:buClrTx/>
              <a:buSzTx/>
              <a:buFontTx/>
              <a:buNone/>
              <a:tabLst/>
            </a:pPr>
            <a:r>
              <a:rPr lang="it-IT" sz="3000" kern="0">
                <a:latin typeface="Source Sans Pro Light" panose="020B0403030403020204" pitchFamily="34" charset="0"/>
                <a:ea typeface="Source Sans Pro Light"/>
                <a:cs typeface="Helvetica"/>
                <a:sym typeface="Helvetica"/>
              </a:rPr>
              <a:t>Ticket di Rimozione e </a:t>
            </a:r>
            <a:br>
              <a:rPr lang="it-IT" sz="3000" kern="0">
                <a:latin typeface="Source Sans Pro Light" panose="020B0403030403020204" pitchFamily="34" charset="0"/>
                <a:ea typeface="Source Sans Pro Light"/>
                <a:cs typeface="Helvetica"/>
                <a:sym typeface="Helvetica"/>
              </a:rPr>
            </a:br>
            <a:r>
              <a:rPr lang="it-IT" sz="3000" kern="0">
                <a:latin typeface="Source Sans Pro Light" panose="020B0403030403020204" pitchFamily="34" charset="0"/>
                <a:ea typeface="Source Sans Pro Light"/>
                <a:cs typeface="Helvetica"/>
                <a:sym typeface="Helvetica"/>
              </a:rPr>
              <a:t>Swap Hardware</a:t>
            </a:r>
          </a:p>
        </p:txBody>
      </p:sp>
      <p:sp>
        <p:nvSpPr>
          <p:cNvPr id="8" name="CasellaDiTesto 7">
            <a:extLst>
              <a:ext uri="{FF2B5EF4-FFF2-40B4-BE49-F238E27FC236}">
                <a16:creationId xmlns:a16="http://schemas.microsoft.com/office/drawing/2014/main" id="{4CC2B8A8-E6A6-D20B-DBF7-5770FC11EE99}"/>
              </a:ext>
            </a:extLst>
          </p:cNvPr>
          <p:cNvSpPr txBox="1"/>
          <p:nvPr/>
        </p:nvSpPr>
        <p:spPr>
          <a:xfrm>
            <a:off x="519409" y="2610454"/>
            <a:ext cx="4958283"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it-IT">
                <a:latin typeface="Source Sans Pro Light" panose="020B0403030403020204" pitchFamily="34" charset="0"/>
              </a:rPr>
              <a:t>Nel caso in cui un terminale o un intera soluzione </a:t>
            </a:r>
            <a:br>
              <a:rPr lang="it-IT">
                <a:latin typeface="Source Sans Pro Light" panose="020B0403030403020204" pitchFamily="34" charset="0"/>
              </a:rPr>
            </a:br>
            <a:r>
              <a:rPr lang="it-IT">
                <a:latin typeface="Source Sans Pro Light" panose="020B0403030403020204" pitchFamily="34" charset="0"/>
              </a:rPr>
              <a:t>di pagamento sia da sostituire, il backoffice di CUSTOM </a:t>
            </a:r>
            <a:r>
              <a:rPr lang="it-IT" err="1">
                <a:latin typeface="Source Sans Pro Light" panose="020B0403030403020204" pitchFamily="34" charset="0"/>
              </a:rPr>
              <a:t>Pay</a:t>
            </a:r>
            <a:r>
              <a:rPr lang="it-IT">
                <a:latin typeface="Source Sans Pro Light" panose="020B0403030403020204" pitchFamily="34" charset="0"/>
              </a:rPr>
              <a:t> si occupa di gestire la creazione </a:t>
            </a:r>
            <a:br>
              <a:rPr lang="it-IT">
                <a:latin typeface="Source Sans Pro Light" panose="020B0403030403020204" pitchFamily="34" charset="0"/>
              </a:rPr>
            </a:br>
            <a:r>
              <a:rPr lang="it-IT">
                <a:latin typeface="Source Sans Pro Light" panose="020B0403030403020204" pitchFamily="34" charset="0"/>
              </a:rPr>
              <a:t>dei suddetti ticket, i quali genereranno due mail distinte al dealer che gli comunicheranno:</a:t>
            </a:r>
          </a:p>
          <a:p>
            <a:pPr marL="285750" indent="-285750">
              <a:buFontTx/>
              <a:buChar char="-"/>
            </a:pPr>
            <a:r>
              <a:rPr lang="it-IT">
                <a:latin typeface="Source Sans Pro Light" panose="020B0403030403020204" pitchFamily="34" charset="0"/>
              </a:rPr>
              <a:t>Nella prima mail che prodotto sostituire da </a:t>
            </a:r>
            <a:br>
              <a:rPr lang="it-IT">
                <a:latin typeface="Source Sans Pro Light" panose="020B0403030403020204" pitchFamily="34" charset="0"/>
              </a:rPr>
            </a:br>
            <a:r>
              <a:rPr lang="it-IT">
                <a:latin typeface="Source Sans Pro Light" panose="020B0403030403020204" pitchFamily="34" charset="0"/>
              </a:rPr>
              <a:t>quel determinato cliente;</a:t>
            </a:r>
          </a:p>
          <a:p>
            <a:pPr marL="285750" indent="-285750">
              <a:buFontTx/>
              <a:buChar char="-"/>
            </a:pPr>
            <a:r>
              <a:rPr lang="it-IT">
                <a:latin typeface="Source Sans Pro Light" panose="020B0403030403020204" pitchFamily="34" charset="0"/>
              </a:rPr>
              <a:t>mentre nella seconda mail che prodotto andare a reinstallare, principalmente per dare la possibilità al dealer di inserire il numero seriale del nuovo prodotto.</a:t>
            </a:r>
          </a:p>
          <a:p>
            <a:endParaRPr lang="it-IT"/>
          </a:p>
        </p:txBody>
      </p:sp>
    </p:spTree>
    <p:extLst>
      <p:ext uri="{BB962C8B-B14F-4D97-AF65-F5344CB8AC3E}">
        <p14:creationId xmlns:p14="http://schemas.microsoft.com/office/powerpoint/2010/main" val="330609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testo, schermata, software, Pagina Web&#10;&#10;Il contenuto generato dall'IA potrebbe non essere corretto.">
            <a:extLst>
              <a:ext uri="{FF2B5EF4-FFF2-40B4-BE49-F238E27FC236}">
                <a16:creationId xmlns:a16="http://schemas.microsoft.com/office/drawing/2014/main" id="{91AEE34A-8BE1-63C2-005A-035864733C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4351" y="1421214"/>
            <a:ext cx="5286496" cy="4288302"/>
          </a:xfrm>
          <a:prstGeom prst="rect">
            <a:avLst/>
          </a:prstGeom>
          <a:effectLst>
            <a:outerShdw blurRad="283574" dist="38100" dir="2700000" algn="tl" rotWithShape="0">
              <a:prstClr val="black">
                <a:alpha val="40000"/>
              </a:prstClr>
            </a:outerShdw>
          </a:effectLst>
        </p:spPr>
      </p:pic>
      <p:sp>
        <p:nvSpPr>
          <p:cNvPr id="4" name="CasellaDiTesto 3">
            <a:extLst>
              <a:ext uri="{FF2B5EF4-FFF2-40B4-BE49-F238E27FC236}">
                <a16:creationId xmlns:a16="http://schemas.microsoft.com/office/drawing/2014/main" id="{B6AA4FA1-C627-9B22-5F6B-039923AF21D3}"/>
              </a:ext>
            </a:extLst>
          </p:cNvPr>
          <p:cNvSpPr txBox="1"/>
          <p:nvPr/>
        </p:nvSpPr>
        <p:spPr>
          <a:xfrm>
            <a:off x="606470" y="270333"/>
            <a:ext cx="4419480" cy="1051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50000"/>
              </a:lnSpc>
              <a:spcBef>
                <a:spcPts val="2000"/>
              </a:spcBef>
              <a:spcAft>
                <a:spcPts val="0"/>
              </a:spcAft>
              <a:buClrTx/>
              <a:buSzTx/>
              <a:buFontTx/>
              <a:buNone/>
              <a:tabLst/>
            </a:pPr>
            <a:r>
              <a:rPr lang="it-IT" sz="3000" kern="0">
                <a:latin typeface="Source Sans Pro Light" panose="020B0403030403020204" pitchFamily="34" charset="0"/>
                <a:ea typeface="Source Sans Pro Light"/>
                <a:cs typeface="Helvetica"/>
                <a:sym typeface="Helvetica"/>
              </a:rPr>
              <a:t>Ticket di dotazione</a:t>
            </a:r>
          </a:p>
        </p:txBody>
      </p:sp>
      <p:sp>
        <p:nvSpPr>
          <p:cNvPr id="5" name="CasellaDiTesto 4">
            <a:extLst>
              <a:ext uri="{FF2B5EF4-FFF2-40B4-BE49-F238E27FC236}">
                <a16:creationId xmlns:a16="http://schemas.microsoft.com/office/drawing/2014/main" id="{9C116C87-C5E5-168F-7FA8-FD50D71CF463}"/>
              </a:ext>
            </a:extLst>
          </p:cNvPr>
          <p:cNvSpPr txBox="1"/>
          <p:nvPr/>
        </p:nvSpPr>
        <p:spPr>
          <a:xfrm>
            <a:off x="606470" y="1603535"/>
            <a:ext cx="3921988" cy="42165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spcBef>
                <a:spcPts val="2000"/>
              </a:spcBef>
              <a:spcAft>
                <a:spcPts val="0"/>
              </a:spcAft>
              <a:buClrTx/>
              <a:buSzTx/>
              <a:buFontTx/>
              <a:buNone/>
              <a:tabLst/>
            </a:pPr>
            <a:r>
              <a:rPr lang="it-IT" kern="100">
                <a:latin typeface="Source Sans Pro Light" panose="020B0403030403020204" pitchFamily="34" charset="0"/>
                <a:cs typeface="Times New Roman" panose="02020603050405020304" pitchFamily="18" charset="0"/>
                <a:sym typeface="Helvetica"/>
              </a:rPr>
              <a:t>A seguito dell’ok di NEXI, il backoffice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di CUSTOM </a:t>
            </a:r>
            <a:r>
              <a:rPr lang="it-IT" kern="100" err="1">
                <a:latin typeface="Source Sans Pro Light" panose="020B0403030403020204" pitchFamily="34" charset="0"/>
                <a:cs typeface="Times New Roman" panose="02020603050405020304" pitchFamily="18" charset="0"/>
                <a:sym typeface="Helvetica"/>
              </a:rPr>
              <a:t>Pay</a:t>
            </a:r>
            <a:r>
              <a:rPr lang="it-IT" kern="100">
                <a:latin typeface="Source Sans Pro Light" panose="020B0403030403020204" pitchFamily="34" charset="0"/>
                <a:cs typeface="Times New Roman" panose="02020603050405020304" pitchFamily="18" charset="0"/>
                <a:sym typeface="Helvetica"/>
              </a:rPr>
              <a:t> si occupa di gestire la creazione del suddetto ticket, il quale genererà una mail al dealer che gli comunicherà i dati del cliente e che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la soluzione di pagamento è pronta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per essere installata. Ciò che dovrà fare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il dealer in seguito, sarà di occuparsi della chiusura dello stesso ticket inserendo la soluzione installata e </a:t>
            </a:r>
            <a:br>
              <a:rPr lang="it-IT" kern="100">
                <a:latin typeface="Source Sans Pro Light" panose="020B0403030403020204" pitchFamily="34" charset="0"/>
                <a:cs typeface="Times New Roman" panose="02020603050405020304" pitchFamily="18" charset="0"/>
                <a:sym typeface="Helvetica"/>
              </a:rPr>
            </a:br>
            <a:r>
              <a:rPr lang="it-IT" kern="100">
                <a:latin typeface="Source Sans Pro Light" panose="020B0403030403020204" pitchFamily="34" charset="0"/>
                <a:cs typeface="Times New Roman" panose="02020603050405020304" pitchFamily="18" charset="0"/>
                <a:sym typeface="Helvetica"/>
              </a:rPr>
              <a:t>il/i codice/i seriale/i.</a:t>
            </a:r>
          </a:p>
          <a:p>
            <a:pPr marL="0" marR="0" indent="0" algn="l" defTabSz="825500" rtl="0" fontAlgn="auto" latinLnBrk="0" hangingPunct="0">
              <a:spcBef>
                <a:spcPts val="2000"/>
              </a:spcBef>
              <a:spcAft>
                <a:spcPts val="0"/>
              </a:spcAft>
              <a:buClrTx/>
              <a:buSzTx/>
              <a:buFontTx/>
              <a:buNone/>
              <a:tabLst/>
            </a:pPr>
            <a:r>
              <a:rPr lang="it-IT" kern="100">
                <a:latin typeface="Source Sans Pro Light" panose="020B0403030403020204" pitchFamily="34" charset="0"/>
                <a:cs typeface="Times New Roman" panose="02020603050405020304" pitchFamily="18" charset="0"/>
                <a:sym typeface="Helvetica"/>
              </a:rPr>
              <a:t>In questo caso la soluzione di pagamento è stata venduta all’esercente.</a:t>
            </a:r>
          </a:p>
        </p:txBody>
      </p:sp>
    </p:spTree>
    <p:extLst>
      <p:ext uri="{BB962C8B-B14F-4D97-AF65-F5344CB8AC3E}">
        <p14:creationId xmlns:p14="http://schemas.microsoft.com/office/powerpoint/2010/main" val="353798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31542-FD2F-E7E8-0BF3-80639313EF66}"/>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9EE672E9-A9F6-303A-F723-438FECD86B0F}"/>
              </a:ext>
            </a:extLst>
          </p:cNvPr>
          <p:cNvSpPr txBox="1"/>
          <p:nvPr/>
        </p:nvSpPr>
        <p:spPr>
          <a:xfrm>
            <a:off x="635000" y="1694681"/>
            <a:ext cx="2720296" cy="4667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defTabSz="412750" hangingPunct="0">
              <a:lnSpc>
                <a:spcPct val="90000"/>
              </a:lnSpc>
              <a:defRPr/>
            </a:pPr>
            <a:r>
              <a:rPr lang="it-IT" sz="3000" b="1" kern="0">
                <a:solidFill>
                  <a:srgbClr val="FFFFFF"/>
                </a:solidFill>
                <a:latin typeface="Source Sans Pro" panose="020B0503030403020204" pitchFamily="34" charset="0"/>
                <a:ea typeface="Source Sans Pro Light"/>
                <a:cs typeface="Helvetica"/>
                <a:sym typeface="Helvetica"/>
              </a:rPr>
              <a:t>Il Max Store</a:t>
            </a:r>
            <a:endParaRPr lang="it-IT" sz="3000" b="1" kern="0">
              <a:solidFill>
                <a:srgbClr val="FFFFFF"/>
              </a:solidFill>
              <a:latin typeface="Source Sans Pro" panose="020B0503030403020204" pitchFamily="34" charset="0"/>
              <a:ea typeface="Source Sans Pro Light"/>
              <a:cs typeface="Helvetica"/>
            </a:endParaRPr>
          </a:p>
        </p:txBody>
      </p:sp>
      <p:sp>
        <p:nvSpPr>
          <p:cNvPr id="4" name="CasellaDiTesto 3">
            <a:extLst>
              <a:ext uri="{FF2B5EF4-FFF2-40B4-BE49-F238E27FC236}">
                <a16:creationId xmlns:a16="http://schemas.microsoft.com/office/drawing/2014/main" id="{9FAC0667-271A-1637-BCD5-A9724BA2A7D8}"/>
              </a:ext>
            </a:extLst>
          </p:cNvPr>
          <p:cNvSpPr txBox="1"/>
          <p:nvPr/>
        </p:nvSpPr>
        <p:spPr>
          <a:xfrm>
            <a:off x="558764" y="2726779"/>
            <a:ext cx="6094476" cy="28194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nSpc>
                <a:spcPct val="115000"/>
              </a:lnSpc>
              <a:spcAft>
                <a:spcPts val="800"/>
              </a:spcAft>
              <a:buNone/>
            </a:pPr>
            <a:r>
              <a:rPr lang="it-IT" kern="100">
                <a:solidFill>
                  <a:srgbClr val="FFFFFF"/>
                </a:solidFill>
                <a:latin typeface="Source Sans Pro Light" panose="020B0403030403020204" pitchFamily="34" charset="0"/>
                <a:ea typeface="Aptos" panose="020B0004020202020204" pitchFamily="34" charset="0"/>
                <a:cs typeface="Times New Roman"/>
              </a:rPr>
              <a:t>Analizzeremo l’utilizzo di Max Store, la piattaforma cloud per la gestione remota dei terminali. Questo modulo permetterà di:</a:t>
            </a:r>
          </a:p>
          <a:p>
            <a:pPr marL="342900" lvl="0" indent="-342900">
              <a:lnSpc>
                <a:spcPct val="115000"/>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a:rPr>
              <a:t>Monitorare lo stato dei terminali</a:t>
            </a:r>
          </a:p>
          <a:p>
            <a:pPr marL="342900" indent="-342900">
              <a:lnSpc>
                <a:spcPct val="115000"/>
              </a:lnSpc>
              <a:spcAft>
                <a:spcPts val="800"/>
              </a:spcAft>
              <a:buSzPts val="1000"/>
              <a:buFont typeface="Symbol" panose="05050102010706020507" pitchFamily="18" charset="2"/>
              <a:buChar char=""/>
              <a:tabLst>
                <a:tab pos="457200" algn="l"/>
              </a:tabLst>
            </a:pPr>
            <a:r>
              <a:rPr lang="it-IT" kern="100" err="1">
                <a:solidFill>
                  <a:srgbClr val="FFFFFF"/>
                </a:solidFill>
                <a:latin typeface="Source Sans Pro Light" panose="020B0403030403020204" pitchFamily="34" charset="0"/>
                <a:ea typeface="Aptos" panose="020B0004020202020204" pitchFamily="34" charset="0"/>
                <a:cs typeface="Times New Roman"/>
              </a:rPr>
              <a:t>Airviewer</a:t>
            </a:r>
            <a:endParaRPr lang="it-IT" kern="100">
              <a:solidFill>
                <a:srgbClr val="FFFFFF"/>
              </a:solidFill>
              <a:latin typeface="Source Sans Pro Light" panose="020B0403030403020204" pitchFamily="34" charset="0"/>
              <a:ea typeface="Aptos" panose="020B0004020202020204" pitchFamily="34" charset="0"/>
              <a:cs typeface="Times New Roman"/>
            </a:endParaRPr>
          </a:p>
          <a:p>
            <a:pPr marL="342900" lvl="0" indent="-342900">
              <a:lnSpc>
                <a:spcPct val="114999"/>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a:rPr>
              <a:t>Modificare configurazioni da remoto</a:t>
            </a:r>
            <a:endParaRPr lang="it-IT">
              <a:latin typeface="Source Sans Pro Light" panose="020B0403030403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it-IT" kern="100">
                <a:solidFill>
                  <a:srgbClr val="FFFFFF"/>
                </a:solidFill>
                <a:latin typeface="Source Sans Pro Light" panose="020B0403030403020204" pitchFamily="34" charset="0"/>
                <a:ea typeface="Aptos" panose="020B0004020202020204" pitchFamily="34" charset="0"/>
                <a:cs typeface="Times New Roman"/>
              </a:rPr>
              <a:t>Diagnosticare anomalie</a:t>
            </a:r>
          </a:p>
          <a:p>
            <a:pPr marL="342900" indent="-342900">
              <a:lnSpc>
                <a:spcPct val="114999"/>
              </a:lnSpc>
              <a:spcAft>
                <a:spcPts val="800"/>
              </a:spcAft>
              <a:buSzPts val="1000"/>
              <a:buFont typeface="Symbol" panose="05050102010706020507" pitchFamily="18" charset="2"/>
              <a:buChar char=""/>
              <a:tabLst>
                <a:tab pos="457200" algn="l"/>
              </a:tabLst>
            </a:pPr>
            <a:endParaRPr lang="it-IT" kern="100">
              <a:solidFill>
                <a:srgbClr val="FFFFFF"/>
              </a:solidFill>
              <a:latin typeface="Aptos"/>
              <a:ea typeface="Aptos" panose="020B0004020202020204" pitchFamily="34" charset="0"/>
              <a:cs typeface="Times New Roman"/>
            </a:endParaRPr>
          </a:p>
        </p:txBody>
      </p:sp>
    </p:spTree>
    <p:extLst>
      <p:ext uri="{BB962C8B-B14F-4D97-AF65-F5344CB8AC3E}">
        <p14:creationId xmlns:p14="http://schemas.microsoft.com/office/powerpoint/2010/main" val="197497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testo, schermata, software, Icona del computer&#10;&#10;Descrizione generata automaticamente">
            <a:extLst>
              <a:ext uri="{FF2B5EF4-FFF2-40B4-BE49-F238E27FC236}">
                <a16:creationId xmlns:a16="http://schemas.microsoft.com/office/drawing/2014/main" id="{BF3969E1-16B9-CDBC-5304-76CC5AE3D7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38" y="834073"/>
            <a:ext cx="5536598" cy="2697461"/>
          </a:xfrm>
          <a:prstGeom prst="roundRect">
            <a:avLst>
              <a:gd name="adj" fmla="val 5171"/>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Immagine 4" descr="Immagine che contiene testo, software, Icona del computer, Pagina Web&#10;&#10;Descrizione generata automaticamente">
            <a:extLst>
              <a:ext uri="{FF2B5EF4-FFF2-40B4-BE49-F238E27FC236}">
                <a16:creationId xmlns:a16="http://schemas.microsoft.com/office/drawing/2014/main" id="{FB24FB26-93F2-A527-B4C0-E7BD7C2FCB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836" y="3686120"/>
            <a:ext cx="5536598" cy="2583216"/>
          </a:xfrm>
          <a:prstGeom prst="roundRect">
            <a:avLst>
              <a:gd name="adj" fmla="val 520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6" name="Gruppo 5">
            <a:extLst>
              <a:ext uri="{FF2B5EF4-FFF2-40B4-BE49-F238E27FC236}">
                <a16:creationId xmlns:a16="http://schemas.microsoft.com/office/drawing/2014/main" id="{745DFFD9-4795-42E9-E3A3-7327041601EA}"/>
              </a:ext>
            </a:extLst>
          </p:cNvPr>
          <p:cNvGrpSpPr/>
          <p:nvPr/>
        </p:nvGrpSpPr>
        <p:grpSpPr>
          <a:xfrm>
            <a:off x="1541831" y="1829752"/>
            <a:ext cx="3881648" cy="707886"/>
            <a:chOff x="1724695" y="2240802"/>
            <a:chExt cx="7763295" cy="1415771"/>
          </a:xfrm>
        </p:grpSpPr>
        <p:sp>
          <p:nvSpPr>
            <p:cNvPr id="2" name="CasellaDiTesto 1">
              <a:extLst>
                <a:ext uri="{FF2B5EF4-FFF2-40B4-BE49-F238E27FC236}">
                  <a16:creationId xmlns:a16="http://schemas.microsoft.com/office/drawing/2014/main" id="{DE82E5A2-305B-8037-4A97-E90A70A7E4CB}"/>
                </a:ext>
              </a:extLst>
            </p:cNvPr>
            <p:cNvSpPr txBox="1">
              <a:spLocks/>
            </p:cNvSpPr>
            <p:nvPr/>
          </p:nvSpPr>
          <p:spPr>
            <a:xfrm>
              <a:off x="2392207" y="2240802"/>
              <a:ext cx="7095783" cy="1415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488936" rtl="0" eaLnBrk="1" fontAlgn="auto" latinLnBrk="0" hangingPunct="0">
                <a:lnSpc>
                  <a:spcPct val="100000"/>
                </a:lnSpc>
                <a:spcBef>
                  <a:spcPts val="0"/>
                </a:spcBef>
                <a:spcAft>
                  <a:spcPts val="0"/>
                </a:spcAft>
                <a:buClrTx/>
                <a:buSzTx/>
                <a:buFontTx/>
                <a:buNone/>
                <a:tabLst/>
                <a:defRPr/>
              </a:pPr>
              <a:r>
                <a:rPr lang="it-IT" sz="3000" kern="0">
                  <a:solidFill>
                    <a:srgbClr val="FFFFFF"/>
                  </a:solidFill>
                  <a:latin typeface="Source Sans Pro Light" panose="020B0403030403020204" pitchFamily="34" charset="0"/>
                  <a:ea typeface="Cambria" panose="02040503050406030204" pitchFamily="18" charset="0"/>
                  <a:cs typeface="Helvetica"/>
                  <a:sym typeface="Helvetica Neue"/>
                </a:rPr>
                <a:t>    </a:t>
              </a:r>
              <a:r>
                <a:rPr lang="it-IT" sz="4000" b="1" kern="0" err="1">
                  <a:solidFill>
                    <a:srgbClr val="2C2D65"/>
                  </a:solidFill>
                  <a:latin typeface="Source Sans Pro Light" panose="020B0403030403020204" pitchFamily="34" charset="0"/>
                  <a:ea typeface="Cambria" panose="02040503050406030204" pitchFamily="18" charset="0"/>
                  <a:cs typeface="Helvetica"/>
                  <a:sym typeface="Helvetica Neue"/>
                </a:rPr>
                <a:t>MaxStore</a:t>
              </a:r>
              <a:endParaRPr lang="it-IT" sz="4000" b="1" kern="0">
                <a:solidFill>
                  <a:srgbClr val="2C2D65"/>
                </a:solidFill>
                <a:latin typeface="Source Sans Pro Light" panose="020B0403030403020204" pitchFamily="34" charset="0"/>
                <a:ea typeface="Cambria" panose="02040503050406030204" pitchFamily="18" charset="0"/>
                <a:cs typeface="Helvetica"/>
                <a:sym typeface="Helvetica Neue"/>
              </a:endParaRPr>
            </a:p>
          </p:txBody>
        </p:sp>
        <p:pic>
          <p:nvPicPr>
            <p:cNvPr id="4" name="Immagine 3" descr="Immagine che contiene schermata, Elementi grafici, grafica, Policromia&#10;&#10;Descrizione generata automaticamente">
              <a:extLst>
                <a:ext uri="{FF2B5EF4-FFF2-40B4-BE49-F238E27FC236}">
                  <a16:creationId xmlns:a16="http://schemas.microsoft.com/office/drawing/2014/main" id="{C78E6F02-D86C-9F6A-64E4-B6537E5039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4695" y="2323662"/>
              <a:ext cx="1335024" cy="1157717"/>
            </a:xfrm>
            <a:prstGeom prst="rect">
              <a:avLst/>
            </a:prstGeom>
          </p:spPr>
        </p:pic>
      </p:grpSp>
      <p:sp>
        <p:nvSpPr>
          <p:cNvPr id="8" name="CasellaDiTesto 7">
            <a:extLst>
              <a:ext uri="{FF2B5EF4-FFF2-40B4-BE49-F238E27FC236}">
                <a16:creationId xmlns:a16="http://schemas.microsoft.com/office/drawing/2014/main" id="{2F72E4C8-9CD6-54F2-D1CE-F9F3257927D6}"/>
              </a:ext>
            </a:extLst>
          </p:cNvPr>
          <p:cNvSpPr txBox="1"/>
          <p:nvPr/>
        </p:nvSpPr>
        <p:spPr>
          <a:xfrm>
            <a:off x="6757852" y="4362807"/>
            <a:ext cx="4252131" cy="1538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412750" rtl="0" eaLnBrk="1" fontAlgn="auto" latinLnBrk="0" hangingPunct="0">
              <a:spcBef>
                <a:spcPts val="1000"/>
              </a:spcBef>
              <a:spcAft>
                <a:spcPts val="0"/>
              </a:spcAft>
              <a:buClrTx/>
              <a:buSzTx/>
              <a:buFontTx/>
              <a:buNone/>
              <a:tabLst/>
              <a:defRPr/>
            </a:pPr>
            <a:r>
              <a:rPr lang="it-IT" sz="2000" b="1" kern="0">
                <a:solidFill>
                  <a:srgbClr val="2C2D65"/>
                </a:solidFill>
                <a:latin typeface="Source Sans Pro Light"/>
                <a:ea typeface="Cambria"/>
                <a:cs typeface="Helvetica"/>
                <a:sym typeface="Helvetica Neue"/>
              </a:rPr>
              <a:t>La piattaforma web di gestione remota per i rivenditori Custom </a:t>
            </a:r>
            <a:r>
              <a:rPr lang="it-IT" sz="2000" b="1" kern="0" err="1">
                <a:solidFill>
                  <a:srgbClr val="2C2D65"/>
                </a:solidFill>
                <a:latin typeface="Source Sans Pro Light"/>
                <a:ea typeface="Cambria"/>
                <a:cs typeface="Helvetica"/>
                <a:sym typeface="Helvetica Neue"/>
              </a:rPr>
              <a:t>Pay</a:t>
            </a:r>
            <a:endParaRPr lang="it-IT" sz="2000" b="1" kern="0">
              <a:solidFill>
                <a:srgbClr val="2C2D65"/>
              </a:solidFill>
              <a:latin typeface="Source Sans Pro Light"/>
              <a:ea typeface="Cambria"/>
              <a:cs typeface="Helvetica"/>
            </a:endParaRPr>
          </a:p>
          <a:p>
            <a:pPr algn="ctr" defTabSz="412750">
              <a:spcBef>
                <a:spcPts val="1000"/>
              </a:spcBef>
              <a:defRPr/>
            </a:pPr>
            <a:r>
              <a:rPr lang="it-IT" sz="2000" b="1" kern="0">
                <a:solidFill>
                  <a:srgbClr val="2C2D65"/>
                </a:solidFill>
                <a:latin typeface="Source Sans Pro Semibold" panose="020B0503030403020204" pitchFamily="34" charset="0"/>
                <a:ea typeface="+mn-lt"/>
                <a:cs typeface="+mn-lt"/>
              </a:rPr>
              <a:t>https://</a:t>
            </a:r>
            <a:r>
              <a:rPr lang="it-IT" sz="2000" b="1" kern="0" err="1">
                <a:solidFill>
                  <a:srgbClr val="2C2D65"/>
                </a:solidFill>
                <a:latin typeface="Source Sans Pro Semibold" panose="020B0503030403020204" pitchFamily="34" charset="0"/>
                <a:ea typeface="+mn-lt"/>
                <a:cs typeface="+mn-lt"/>
              </a:rPr>
              <a:t>custompay.whatspos.com</a:t>
            </a:r>
            <a:r>
              <a:rPr lang="it-IT" sz="2000" b="1" kern="0">
                <a:solidFill>
                  <a:srgbClr val="2C2D65"/>
                </a:solidFill>
                <a:latin typeface="Source Sans Pro Semibold" panose="020B0503030403020204" pitchFamily="34" charset="0"/>
                <a:ea typeface="+mn-lt"/>
                <a:cs typeface="+mn-lt"/>
              </a:rPr>
              <a:t>/</a:t>
            </a:r>
            <a:r>
              <a:rPr lang="it-IT" sz="2000" b="1" kern="0" err="1">
                <a:solidFill>
                  <a:srgbClr val="2C2D65"/>
                </a:solidFill>
                <a:latin typeface="Source Sans Pro Semibold" panose="020B0503030403020204" pitchFamily="34" charset="0"/>
                <a:ea typeface="+mn-lt"/>
                <a:cs typeface="+mn-lt"/>
              </a:rPr>
              <a:t>portal</a:t>
            </a:r>
            <a:r>
              <a:rPr lang="it-IT" sz="2000" b="1" kern="0">
                <a:solidFill>
                  <a:srgbClr val="2C2D65"/>
                </a:solidFill>
                <a:latin typeface="Source Sans Pro Semibold" panose="020B0503030403020204" pitchFamily="34" charset="0"/>
                <a:ea typeface="+mn-lt"/>
                <a:cs typeface="+mn-lt"/>
              </a:rPr>
              <a:t>/#/home</a:t>
            </a:r>
            <a:endParaRPr lang="it-IT" b="1">
              <a:latin typeface="Source Sans Pro Semibold" panose="020B0503030403020204" pitchFamily="34" charset="0"/>
            </a:endParaRPr>
          </a:p>
        </p:txBody>
      </p:sp>
    </p:spTree>
    <p:extLst>
      <p:ext uri="{BB962C8B-B14F-4D97-AF65-F5344CB8AC3E}">
        <p14:creationId xmlns:p14="http://schemas.microsoft.com/office/powerpoint/2010/main" val="405290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C4EF3-0B1C-C722-3C1F-F5FA6129F31C}"/>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A7D773AD-743D-7356-DAC4-468FAFEE3CD0}"/>
              </a:ext>
            </a:extLst>
          </p:cNvPr>
          <p:cNvSpPr txBox="1"/>
          <p:nvPr/>
        </p:nvSpPr>
        <p:spPr>
          <a:xfrm>
            <a:off x="611948" y="1643565"/>
            <a:ext cx="6980851" cy="12977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defTabSz="412750" hangingPunct="0">
              <a:lnSpc>
                <a:spcPct val="90000"/>
              </a:lnSpc>
              <a:defRPr/>
            </a:pPr>
            <a:r>
              <a:rPr lang="it-IT" sz="3000" b="1" kern="0" dirty="0">
                <a:solidFill>
                  <a:srgbClr val="FFFFFF"/>
                </a:solidFill>
                <a:latin typeface="Source Sans Pro"/>
                <a:ea typeface="Source Sans Pro Light"/>
                <a:cs typeface="Helvetica"/>
                <a:sym typeface="Helvetica"/>
              </a:rPr>
              <a:t>La configurazione delle casse </a:t>
            </a:r>
            <a:r>
              <a:rPr lang="it-IT" sz="3000" b="1" kern="0" dirty="0" err="1">
                <a:solidFill>
                  <a:srgbClr val="FFFFFF"/>
                </a:solidFill>
                <a:latin typeface="Source Sans Pro"/>
                <a:ea typeface="Source Sans Pro Light"/>
                <a:cs typeface="Helvetica"/>
                <a:sym typeface="Helvetica"/>
              </a:rPr>
              <a:t>Omni</a:t>
            </a:r>
            <a:r>
              <a:rPr lang="it-IT" sz="3000" b="1" kern="0" dirty="0">
                <a:solidFill>
                  <a:srgbClr val="FFFFFF"/>
                </a:solidFill>
                <a:latin typeface="Source Sans Pro"/>
                <a:ea typeface="Source Sans Pro Light"/>
                <a:cs typeface="Helvetica"/>
                <a:sym typeface="Helvetica"/>
              </a:rPr>
              <a:t> e </a:t>
            </a:r>
            <a:r>
              <a:rPr lang="it-IT" sz="3000" b="1" kern="0" dirty="0">
                <a:solidFill>
                  <a:srgbClr val="FFFFFF"/>
                </a:solidFill>
                <a:latin typeface="Source Sans Pro"/>
                <a:ea typeface="Source Sans Pro Light"/>
                <a:cs typeface="Helvetica"/>
              </a:rPr>
              <a:t>Configurazione POS e Scambio Importo ed EDGE N+ con soft </a:t>
            </a:r>
            <a:r>
              <a:rPr lang="it-IT" sz="3000" b="1" kern="0" dirty="0" err="1">
                <a:solidFill>
                  <a:srgbClr val="FFFFFF"/>
                </a:solidFill>
                <a:latin typeface="Source Sans Pro"/>
                <a:ea typeface="Source Sans Pro Light"/>
                <a:cs typeface="Helvetica"/>
              </a:rPr>
              <a:t>pos</a:t>
            </a:r>
            <a:r>
              <a:rPr lang="it-IT" sz="3000" b="1" kern="0" dirty="0">
                <a:solidFill>
                  <a:srgbClr val="FFFFFF"/>
                </a:solidFill>
                <a:latin typeface="Source Sans Pro"/>
                <a:ea typeface="Source Sans Pro Light"/>
                <a:cs typeface="Helvetica"/>
              </a:rPr>
              <a:t> </a:t>
            </a:r>
            <a:endParaRPr lang="it-IT" sz="3000" dirty="0">
              <a:latin typeface="Source Sans Pro"/>
            </a:endParaRPr>
          </a:p>
        </p:txBody>
      </p:sp>
      <p:sp>
        <p:nvSpPr>
          <p:cNvPr id="4" name="CasellaDiTesto 3">
            <a:extLst>
              <a:ext uri="{FF2B5EF4-FFF2-40B4-BE49-F238E27FC236}">
                <a16:creationId xmlns:a16="http://schemas.microsoft.com/office/drawing/2014/main" id="{5A22AA96-C6B2-8A9E-6678-9FAB07794794}"/>
              </a:ext>
            </a:extLst>
          </p:cNvPr>
          <p:cNvSpPr txBox="1"/>
          <p:nvPr/>
        </p:nvSpPr>
        <p:spPr>
          <a:xfrm>
            <a:off x="563425" y="3514599"/>
            <a:ext cx="6536621" cy="10284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Vedremo come configurare correttamente un terminale POS per </a:t>
            </a:r>
            <a:br>
              <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br>
            <a:r>
              <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lo scambio automatico dell'importo con il registratore di cassa </a:t>
            </a:r>
            <a:br>
              <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br>
            <a:r>
              <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o software gestionale e lo scambio importo tra cassa e soft </a:t>
            </a:r>
            <a:r>
              <a:rPr lang="it-IT" kern="100" dirty="0" err="1">
                <a:solidFill>
                  <a:srgbClr val="FFFFFF"/>
                </a:solidFill>
                <a:latin typeface="Source Sans Pro Light" panose="020B0403030403020204" pitchFamily="34" charset="0"/>
                <a:ea typeface="Aptos" panose="020B0004020202020204" pitchFamily="34" charset="0"/>
                <a:cs typeface="Times New Roman" panose="02020603050405020304" pitchFamily="18" charset="0"/>
              </a:rPr>
              <a:t>pos</a:t>
            </a:r>
            <a:endParaRPr lang="it-IT" kern="100" dirty="0">
              <a:solidFill>
                <a:srgbClr val="FFFFFF"/>
              </a:solidFill>
              <a:latin typeface="Source Sans Pro Light" panose="020B0403030403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1031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F461A-15E9-1BDE-EA2A-AFC000D5B3DF}"/>
            </a:ext>
          </a:extLst>
        </p:cNvPr>
        <p:cNvGrpSpPr/>
        <p:nvPr/>
      </p:nvGrpSpPr>
      <p:grpSpPr>
        <a:xfrm>
          <a:off x="0" y="0"/>
          <a:ext cx="0" cy="0"/>
          <a:chOff x="0" y="0"/>
          <a:chExt cx="0" cy="0"/>
        </a:xfrm>
      </p:grpSpPr>
      <p:sp>
        <p:nvSpPr>
          <p:cNvPr id="8" name="Why Custom?">
            <a:extLst>
              <a:ext uri="{FF2B5EF4-FFF2-40B4-BE49-F238E27FC236}">
                <a16:creationId xmlns:a16="http://schemas.microsoft.com/office/drawing/2014/main" id="{09EAEFA6-C42D-162A-678D-42DFEED5981D}"/>
              </a:ext>
            </a:extLst>
          </p:cNvPr>
          <p:cNvSpPr txBox="1"/>
          <p:nvPr/>
        </p:nvSpPr>
        <p:spPr>
          <a:xfrm>
            <a:off x="-492695" y="680439"/>
            <a:ext cx="8720572"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488936" rtl="0" fontAlgn="auto" latinLnBrk="0" hangingPunct="0">
              <a:lnSpc>
                <a:spcPct val="100000"/>
              </a:lnSpc>
              <a:spcBef>
                <a:spcPts val="0"/>
              </a:spcBef>
              <a:spcAft>
                <a:spcPts val="0"/>
              </a:spcAft>
              <a:buClrTx/>
              <a:buSzTx/>
              <a:buFontTx/>
              <a:buNone/>
              <a:tabLst/>
              <a:defRPr kumimoji="0" sz="1800" b="0" i="0" u="none" strike="noStrike" cap="all" spc="0" normalizeH="0" baseline="0">
                <a:ln>
                  <a:noFill/>
                </a:ln>
                <a:solidFill>
                  <a:srgbClr val="FFFFFF"/>
                </a:solidFill>
                <a:effectLst/>
                <a:uFillTx/>
                <a:latin typeface="+mj-lt"/>
                <a:ea typeface="+mj-ea"/>
                <a:cs typeface="+mj-cs"/>
                <a:sym typeface="Helvetica Neue"/>
              </a:defRPr>
            </a:lvl9pPr>
          </a:lstStyle>
          <a:p>
            <a:pPr algn="ctr" defTabSz="412750">
              <a:defRPr/>
            </a:pPr>
            <a:r>
              <a:rPr lang="it-IT" sz="2000" b="1" cap="none" spc="300">
                <a:latin typeface="Source Sans Pro" panose="020B0503030403020204" pitchFamily="34" charset="0"/>
                <a:cs typeface="Segoe UI"/>
                <a:sym typeface="Source Sans Pro Light"/>
              </a:rPr>
              <a:t>Schema di collegamento Pos/SW + RT </a:t>
            </a:r>
            <a:r>
              <a:rPr lang="it-IT" sz="2000" cap="none" spc="300">
                <a:latin typeface="Source Sans Pro" panose="020B0503030403020204" pitchFamily="34" charset="0"/>
                <a:ea typeface="Source Sans Pro Light"/>
                <a:sym typeface="Source Sans Pro Light"/>
              </a:rPr>
              <a:t>: </a:t>
            </a:r>
          </a:p>
          <a:p>
            <a:pPr algn="ctr" defTabSz="412750">
              <a:defRPr/>
            </a:pPr>
            <a:r>
              <a:rPr lang="it-IT" sz="2000" cap="none" spc="300">
                <a:latin typeface="Source Sans Pro" panose="020B0503030403020204" pitchFamily="34" charset="0"/>
                <a:ea typeface="Source Sans Pro Light"/>
                <a:sym typeface="Source Sans Pro Light"/>
              </a:rPr>
              <a:t>Collegamento ETH/WiFi con indirizzi IP fissi</a:t>
            </a:r>
          </a:p>
        </p:txBody>
      </p:sp>
      <p:grpSp>
        <p:nvGrpSpPr>
          <p:cNvPr id="9" name="Gruppo 8">
            <a:extLst>
              <a:ext uri="{FF2B5EF4-FFF2-40B4-BE49-F238E27FC236}">
                <a16:creationId xmlns:a16="http://schemas.microsoft.com/office/drawing/2014/main" id="{E741FAB9-A675-9CCE-8DE9-FD6F89791CE1}"/>
              </a:ext>
            </a:extLst>
          </p:cNvPr>
          <p:cNvGrpSpPr/>
          <p:nvPr/>
        </p:nvGrpSpPr>
        <p:grpSpPr>
          <a:xfrm>
            <a:off x="390109" y="1577077"/>
            <a:ext cx="3357340" cy="1930426"/>
            <a:chOff x="1722523" y="1781744"/>
            <a:chExt cx="3764056" cy="2164283"/>
          </a:xfrm>
        </p:grpSpPr>
        <p:pic>
          <p:nvPicPr>
            <p:cNvPr id="10" name="Immagine 9">
              <a:extLst>
                <a:ext uri="{FF2B5EF4-FFF2-40B4-BE49-F238E27FC236}">
                  <a16:creationId xmlns:a16="http://schemas.microsoft.com/office/drawing/2014/main" id="{E329AEC0-D063-3686-9DA3-CF6AA6FBCC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22523" y="1781744"/>
              <a:ext cx="2341553" cy="1873243"/>
            </a:xfrm>
            <a:prstGeom prst="rect">
              <a:avLst/>
            </a:prstGeom>
            <a:noFill/>
            <a:ln w="25400" cap="flat">
              <a:noFill/>
              <a:prstDash val="solid"/>
              <a:round/>
            </a:ln>
            <a:effectLst>
              <a:outerShdw blurRad="50800" dist="38100" dir="8100000" algn="tr" rotWithShape="0">
                <a:prstClr val="black">
                  <a:alpha val="40000"/>
                </a:prstClr>
              </a:outerShdw>
            </a:effectLst>
            <a:sp3d/>
          </p:spPr>
        </p:pic>
        <p:pic>
          <p:nvPicPr>
            <p:cNvPr id="11" name="Immagine 10">
              <a:extLst>
                <a:ext uri="{FF2B5EF4-FFF2-40B4-BE49-F238E27FC236}">
                  <a16:creationId xmlns:a16="http://schemas.microsoft.com/office/drawing/2014/main" id="{1AFD93FD-12FA-90B4-73C5-8C1A0E6973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56473" y="2382750"/>
              <a:ext cx="2030106" cy="1563277"/>
            </a:xfrm>
            <a:prstGeom prst="rect">
              <a:avLst/>
            </a:prstGeom>
            <a:noFill/>
            <a:ln w="25400" cap="flat">
              <a:noFill/>
              <a:prstDash val="solid"/>
              <a:round/>
            </a:ln>
            <a:effectLst>
              <a:outerShdw blurRad="50800" dist="38100" dir="8100000" algn="tr" rotWithShape="0">
                <a:prstClr val="black">
                  <a:alpha val="40000"/>
                </a:prstClr>
              </a:outerShdw>
            </a:effectLst>
            <a:sp3d/>
          </p:spPr>
        </p:pic>
      </p:grpSp>
      <p:grpSp>
        <p:nvGrpSpPr>
          <p:cNvPr id="12" name="Gruppo 11">
            <a:extLst>
              <a:ext uri="{FF2B5EF4-FFF2-40B4-BE49-F238E27FC236}">
                <a16:creationId xmlns:a16="http://schemas.microsoft.com/office/drawing/2014/main" id="{48D0C81B-516E-FAC4-3EB3-0834673868A6}"/>
              </a:ext>
            </a:extLst>
          </p:cNvPr>
          <p:cNvGrpSpPr/>
          <p:nvPr/>
        </p:nvGrpSpPr>
        <p:grpSpPr>
          <a:xfrm>
            <a:off x="-52364" y="3191976"/>
            <a:ext cx="3636491" cy="2479670"/>
            <a:chOff x="1551388" y="3293355"/>
            <a:chExt cx="3915249" cy="2669750"/>
          </a:xfrm>
        </p:grpSpPr>
        <p:pic>
          <p:nvPicPr>
            <p:cNvPr id="13" name="Immagine 12">
              <a:extLst>
                <a:ext uri="{FF2B5EF4-FFF2-40B4-BE49-F238E27FC236}">
                  <a16:creationId xmlns:a16="http://schemas.microsoft.com/office/drawing/2014/main" id="{907155E3-309D-64BB-1AFA-391E86830F6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04093" y="3913477"/>
              <a:ext cx="2062544" cy="2049628"/>
            </a:xfrm>
            <a:prstGeom prst="rect">
              <a:avLst/>
            </a:prstGeom>
            <a:noFill/>
            <a:ln w="25400" cap="flat">
              <a:noFill/>
              <a:prstDash val="solid"/>
              <a:round/>
            </a:ln>
            <a:effectLst>
              <a:outerShdw blurRad="50800" dist="38100" dir="8100000" algn="tr" rotWithShape="0">
                <a:prstClr val="black">
                  <a:alpha val="40000"/>
                </a:prstClr>
              </a:outerShdw>
            </a:effectLst>
            <a:sp3d/>
          </p:spPr>
        </p:pic>
        <p:pic>
          <p:nvPicPr>
            <p:cNvPr id="14" name="Immagine 13">
              <a:extLst>
                <a:ext uri="{FF2B5EF4-FFF2-40B4-BE49-F238E27FC236}">
                  <a16:creationId xmlns:a16="http://schemas.microsoft.com/office/drawing/2014/main" id="{2EEDD4BA-B208-C3A0-8A54-7D2369456E25}"/>
                </a:ext>
              </a:extLst>
            </p:cNvPr>
            <p:cNvPicPr>
              <a:picLocks noChangeAspect="1"/>
            </p:cNvPicPr>
            <p:nvPr/>
          </p:nvPicPr>
          <p:blipFill rotWithShape="1">
            <a:blip r:embed="rId5">
              <a:extLst>
                <a:ext uri="{28A0092B-C50C-407E-A947-70E740481C1C}">
                  <a14:useLocalDpi xmlns:a14="http://schemas.microsoft.com/office/drawing/2010/main" val="0"/>
                </a:ext>
              </a:extLst>
            </a:blip>
            <a:srcRect r="14846"/>
            <a:stretch/>
          </p:blipFill>
          <p:spPr>
            <a:xfrm>
              <a:off x="1551388" y="3293355"/>
              <a:ext cx="2254007" cy="1782153"/>
            </a:xfrm>
            <a:prstGeom prst="rect">
              <a:avLst/>
            </a:prstGeom>
            <a:noFill/>
            <a:ln w="25400" cap="flat">
              <a:noFill/>
              <a:prstDash val="solid"/>
              <a:round/>
            </a:ln>
            <a:effectLst>
              <a:outerShdw blurRad="50800" dist="38100" dir="8100000" algn="tr" rotWithShape="0">
                <a:prstClr val="black">
                  <a:alpha val="40000"/>
                </a:prstClr>
              </a:outerShdw>
            </a:effectLst>
            <a:sp3d/>
          </p:spPr>
        </p:pic>
      </p:grpSp>
      <p:pic>
        <p:nvPicPr>
          <p:cNvPr id="15" name="Immagine 14" descr="Immagine che contiene Cellulare, gadget, Dispositivo elettronico, Dispositivo portatile per comunicazioni&#10;&#10;Descrizione generata automaticamente">
            <a:extLst>
              <a:ext uri="{FF2B5EF4-FFF2-40B4-BE49-F238E27FC236}">
                <a16:creationId xmlns:a16="http://schemas.microsoft.com/office/drawing/2014/main" id="{8C160EAF-3865-D5A4-778F-234568611D65}"/>
              </a:ext>
            </a:extLst>
          </p:cNvPr>
          <p:cNvPicPr>
            <a:picLocks noChangeAspect="1"/>
          </p:cNvPicPr>
          <p:nvPr/>
        </p:nvPicPr>
        <p:blipFill rotWithShape="1">
          <a:blip r:embed="rId6">
            <a:extLst>
              <a:ext uri="{28A0092B-C50C-407E-A947-70E740481C1C}">
                <a14:useLocalDpi xmlns:a14="http://schemas.microsoft.com/office/drawing/2010/main" val="0"/>
              </a:ext>
            </a:extLst>
          </a:blip>
          <a:srcRect l="15350" t="13352" r="27109" b="15476"/>
          <a:stretch>
            <a:fillRect/>
          </a:stretch>
        </p:blipFill>
        <p:spPr>
          <a:xfrm>
            <a:off x="5019002" y="1735594"/>
            <a:ext cx="1794728" cy="1930996"/>
          </a:xfrm>
          <a:prstGeom prst="rect">
            <a:avLst/>
          </a:prstGeom>
        </p:spPr>
      </p:pic>
      <p:pic>
        <p:nvPicPr>
          <p:cNvPr id="16" name="Immagine 15" descr="Immagine che contiene testo, telecomando, controllo&#10;&#10;Il contenuto generato dall&amp;#39;IA potrebbe non essere corretto.">
            <a:extLst>
              <a:ext uri="{FF2B5EF4-FFF2-40B4-BE49-F238E27FC236}">
                <a16:creationId xmlns:a16="http://schemas.microsoft.com/office/drawing/2014/main" id="{6B9A09AC-0046-4733-D453-42A994B9A89E}"/>
              </a:ext>
            </a:extLst>
          </p:cNvPr>
          <p:cNvPicPr>
            <a:picLocks noChangeAspect="1"/>
          </p:cNvPicPr>
          <p:nvPr/>
        </p:nvPicPr>
        <p:blipFill>
          <a:blip r:embed="rId7"/>
          <a:srcRect l="16918" t="1955" r="24683" b="7403"/>
          <a:stretch>
            <a:fillRect/>
          </a:stretch>
        </p:blipFill>
        <p:spPr>
          <a:xfrm>
            <a:off x="4922085" y="3556043"/>
            <a:ext cx="2328262" cy="2250573"/>
          </a:xfrm>
          <a:prstGeom prst="rect">
            <a:avLst/>
          </a:prstGeom>
        </p:spPr>
      </p:pic>
      <p:pic>
        <p:nvPicPr>
          <p:cNvPr id="17" name="Immagine 16" descr="Immagine che contiene nero, oscurità&#10;&#10;Il contenuto generato dall&amp;#39;IA potrebbe non essere corretto.">
            <a:extLst>
              <a:ext uri="{FF2B5EF4-FFF2-40B4-BE49-F238E27FC236}">
                <a16:creationId xmlns:a16="http://schemas.microsoft.com/office/drawing/2014/main" id="{66E4E8D2-4C2A-5BEB-723B-3B28D27F6F87}"/>
              </a:ext>
            </a:extLst>
          </p:cNvPr>
          <p:cNvPicPr>
            <a:picLocks noChangeAspect="1"/>
          </p:cNvPicPr>
          <p:nvPr/>
        </p:nvPicPr>
        <p:blipFill>
          <a:blip r:embed="rId8">
            <a:duotone>
              <a:prstClr val="black"/>
              <a:srgbClr val="FFFFFF">
                <a:tint val="45000"/>
                <a:satMod val="400000"/>
              </a:srgbClr>
            </a:duotone>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4033445" y="4313470"/>
            <a:ext cx="1060450" cy="1039284"/>
          </a:xfrm>
          <a:prstGeom prst="rect">
            <a:avLst/>
          </a:prstGeom>
          <a:ln>
            <a:noFill/>
          </a:ln>
        </p:spPr>
      </p:pic>
      <p:pic>
        <p:nvPicPr>
          <p:cNvPr id="18" name="Immagine 17" descr="Immagine che contiene gadget, Cellulare, Dispositivo elettronico, elettronica&#10;&#10;Il contenuto generato dall&amp;#39;IA potrebbe non essere corretto.">
            <a:extLst>
              <a:ext uri="{FF2B5EF4-FFF2-40B4-BE49-F238E27FC236}">
                <a16:creationId xmlns:a16="http://schemas.microsoft.com/office/drawing/2014/main" id="{44FA48EC-5D8A-7335-7890-642C7C0CC1EA}"/>
              </a:ext>
            </a:extLst>
          </p:cNvPr>
          <p:cNvPicPr>
            <a:picLocks noChangeAspect="1"/>
          </p:cNvPicPr>
          <p:nvPr/>
        </p:nvPicPr>
        <p:blipFill>
          <a:blip r:embed="rId10"/>
          <a:stretch>
            <a:fillRect/>
          </a:stretch>
        </p:blipFill>
        <p:spPr>
          <a:xfrm>
            <a:off x="6505864" y="1898106"/>
            <a:ext cx="2266950" cy="1495425"/>
          </a:xfrm>
          <a:prstGeom prst="rect">
            <a:avLst/>
          </a:prstGeom>
        </p:spPr>
      </p:pic>
      <p:pic>
        <p:nvPicPr>
          <p:cNvPr id="19" name="Elemento grafico 18" descr="Ethernet con riempimento a tinta unita">
            <a:extLst>
              <a:ext uri="{FF2B5EF4-FFF2-40B4-BE49-F238E27FC236}">
                <a16:creationId xmlns:a16="http://schemas.microsoft.com/office/drawing/2014/main" id="{998AE203-8EB0-8753-1903-3986DD3011B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79495" y="2318203"/>
            <a:ext cx="914400" cy="914400"/>
          </a:xfrm>
          <a:prstGeom prst="rect">
            <a:avLst/>
          </a:prstGeom>
        </p:spPr>
      </p:pic>
    </p:spTree>
    <p:extLst>
      <p:ext uri="{BB962C8B-B14F-4D97-AF65-F5344CB8AC3E}">
        <p14:creationId xmlns:p14="http://schemas.microsoft.com/office/powerpoint/2010/main" val="381203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E0F0-1BCC-819D-0A9B-E607AE8AEEC2}"/>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4F23D892-B7BF-3034-D549-A74D7F584682}"/>
              </a:ext>
            </a:extLst>
          </p:cNvPr>
          <p:cNvSpPr txBox="1"/>
          <p:nvPr/>
        </p:nvSpPr>
        <p:spPr>
          <a:xfrm>
            <a:off x="581749" y="659011"/>
            <a:ext cx="10519937" cy="55399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412750" hangingPunct="0">
              <a:lnSpc>
                <a:spcPct val="90000"/>
              </a:lnSpc>
              <a:spcBef>
                <a:spcPts val="1000"/>
              </a:spcBef>
              <a:defRPr/>
            </a:pPr>
            <a:r>
              <a:rPr lang="it-IT" sz="3000" b="1" kern="0" dirty="0">
                <a:solidFill>
                  <a:srgbClr val="FFFFFF"/>
                </a:solidFill>
                <a:latin typeface="Source Sans Pro"/>
                <a:ea typeface="Source Sans Pro Light"/>
                <a:cs typeface="Helvetica"/>
                <a:sym typeface="Helvetica"/>
              </a:rPr>
              <a:t>COME PROGRAMMARE UN OMNI KEY</a:t>
            </a:r>
            <a:endParaRPr lang="it-IT" sz="3000" b="1" kern="0" dirty="0">
              <a:solidFill>
                <a:srgbClr val="FFFFFF"/>
              </a:solidFill>
              <a:latin typeface="Source Sans Pro"/>
              <a:ea typeface="Source Sans Pro Light"/>
              <a:cs typeface="Helvetica"/>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PROGRAMMAZIONE ETH FUSION e CUSTOM PAY</a:t>
            </a:r>
            <a:endParaRPr lang="it-IT" kern="100" dirty="0">
              <a:solidFill>
                <a:srgbClr val="FFFFFF"/>
              </a:solidFill>
              <a:latin typeface="Source Sans Pro Light" panose="020B0403030403020204" pitchFamily="34" charset="0"/>
              <a:cs typeface="Times New Roman" panose="02020603050405020304" pitchFamily="18" charset="0"/>
              <a:hlinkClick r:id="" action="ppaction://noaction">
                <a:extLst>
                  <a:ext uri="{A12FA001-AC4F-418D-AE19-62706E023703}">
                    <ahyp:hlinkClr xmlns:ahyp="http://schemas.microsoft.com/office/drawing/2018/hyperlinkcolor" val="tx"/>
                  </a:ext>
                </a:extLst>
              </a:hlinkClick>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PROGRAMMAZIONE ETH TERMINALE INTEGRATO</a:t>
            </a:r>
            <a:endParaRPr lang="it-IT"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PROGRAMMAZIONE PAXTOOLS e CARTE Su Q10A</a:t>
            </a:r>
            <a:endParaRPr lang="it-IT"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PROVA DI TRANSAZIONE</a:t>
            </a:r>
            <a:endParaRPr lang="it-IT"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endParaRPr lang="it-IT" kern="100" dirty="0">
              <a:solidFill>
                <a:srgbClr val="FFFFFF"/>
              </a:solidFill>
              <a:latin typeface="Source Sans Pro Light" panose="020B0403030403020204" pitchFamily="34" charset="0"/>
              <a:cs typeface="Times New Roman" panose="02020603050405020304" pitchFamily="18" charset="0"/>
            </a:endParaRPr>
          </a:p>
          <a:p>
            <a:pPr defTabSz="412750" hangingPunct="0">
              <a:lnSpc>
                <a:spcPct val="90000"/>
              </a:lnSpc>
              <a:spcBef>
                <a:spcPts val="1000"/>
              </a:spcBef>
              <a:defRPr/>
            </a:pPr>
            <a:r>
              <a:rPr lang="it-IT" sz="3000" b="1" kern="0" dirty="0">
                <a:solidFill>
                  <a:srgbClr val="FFFFFF"/>
                </a:solidFill>
                <a:latin typeface="Source Sans Pro"/>
                <a:ea typeface="Source Sans Pro Light"/>
                <a:cs typeface="Helvetica"/>
              </a:rPr>
              <a:t>COME PROGRAMMARE UN OMNI TOUCH</a:t>
            </a: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PROGRAMMAZIONE ETH</a:t>
            </a:r>
            <a:endParaRPr lang="it-IT" kern="100" dirty="0">
              <a:solidFill>
                <a:srgbClr val="FFFFFF"/>
              </a:solidFill>
              <a:latin typeface="Source Sans Pro Light" panose="020B040303040302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8">
                  <a:extLst>
                    <a:ext uri="{A12FA001-AC4F-418D-AE19-62706E023703}">
                      <ahyp:hlinkClr xmlns:ahyp="http://schemas.microsoft.com/office/drawing/2018/hyperlinkcolor" val="tx"/>
                    </a:ext>
                  </a:extLst>
                </a:hlinkClick>
              </a:rPr>
              <a:t>PROGRAMMAZIONE </a:t>
            </a:r>
            <a:r>
              <a:rPr lang="it-IT" kern="100" dirty="0" err="1">
                <a:solidFill>
                  <a:srgbClr val="FFFFFF"/>
                </a:solidFill>
                <a:latin typeface="Source Sans Pro Light" panose="020B0403030403020204" pitchFamily="34" charset="0"/>
                <a:cs typeface="Times New Roman" panose="02020603050405020304" pitchFamily="18" charset="0"/>
                <a:hlinkClick r:id="rId8">
                  <a:extLst>
                    <a:ext uri="{A12FA001-AC4F-418D-AE19-62706E023703}">
                      <ahyp:hlinkClr xmlns:ahyp="http://schemas.microsoft.com/office/drawing/2018/hyperlinkcolor" val="tx"/>
                    </a:ext>
                  </a:extLst>
                </a:hlinkClick>
              </a:rPr>
              <a:t>KeepUpSmart</a:t>
            </a:r>
            <a:endParaRPr lang="it-IT"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9">
                  <a:extLst>
                    <a:ext uri="{A12FA001-AC4F-418D-AE19-62706E023703}">
                      <ahyp:hlinkClr xmlns:ahyp="http://schemas.microsoft.com/office/drawing/2018/hyperlinkcolor" val="tx"/>
                    </a:ext>
                  </a:extLst>
                </a:hlinkClick>
              </a:rPr>
              <a:t>PROGRAMMAZIONE PAXTOOLS e CARTE</a:t>
            </a:r>
            <a:r>
              <a:rPr lang="en-US" kern="100" dirty="0">
                <a:solidFill>
                  <a:srgbClr val="FFFFFF"/>
                </a:solidFill>
                <a:latin typeface="Source Sans Pro Light" panose="020B0403030403020204" pitchFamily="34" charset="0"/>
                <a:cs typeface="Times New Roman" panose="02020603050405020304" pitchFamily="18" charset="0"/>
                <a:hlinkClick r:id="rId9">
                  <a:extLst>
                    <a:ext uri="{A12FA001-AC4F-418D-AE19-62706E023703}">
                      <ahyp:hlinkClr xmlns:ahyp="http://schemas.microsoft.com/office/drawing/2018/hyperlinkcolor" val="tx"/>
                    </a:ext>
                  </a:extLst>
                </a:hlinkClick>
              </a:rPr>
              <a:t> </a:t>
            </a:r>
            <a:r>
              <a:rPr lang="en-US" kern="100" dirty="0" err="1">
                <a:solidFill>
                  <a:srgbClr val="FFFFFF"/>
                </a:solidFill>
                <a:latin typeface="Source Sans Pro Light" panose="020B0403030403020204" pitchFamily="34" charset="0"/>
                <a:cs typeface="Times New Roman" panose="02020603050405020304" pitchFamily="18" charset="0"/>
                <a:hlinkClick r:id="rId9">
                  <a:extLst>
                    <a:ext uri="{A12FA001-AC4F-418D-AE19-62706E023703}">
                      <ahyp:hlinkClr xmlns:ahyp="http://schemas.microsoft.com/office/drawing/2018/hyperlinkcolor" val="tx"/>
                    </a:ext>
                  </a:extLst>
                </a:hlinkClick>
              </a:rPr>
              <a:t>su</a:t>
            </a:r>
            <a:r>
              <a:rPr lang="en-US" kern="100" dirty="0">
                <a:solidFill>
                  <a:srgbClr val="FFFFFF"/>
                </a:solidFill>
                <a:latin typeface="Source Sans Pro Light" panose="020B0403030403020204" pitchFamily="34" charset="0"/>
                <a:cs typeface="Times New Roman" panose="02020603050405020304" pitchFamily="18" charset="0"/>
                <a:hlinkClick r:id="rId9">
                  <a:extLst>
                    <a:ext uri="{A12FA001-AC4F-418D-AE19-62706E023703}">
                      <ahyp:hlinkClr xmlns:ahyp="http://schemas.microsoft.com/office/drawing/2018/hyperlinkcolor" val="tx"/>
                    </a:ext>
                  </a:extLst>
                </a:hlinkClick>
              </a:rPr>
              <a:t> Q10A</a:t>
            </a:r>
            <a:endParaRPr lang="en-US"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hlinkClick r:id="rId10">
                  <a:extLst>
                    <a:ext uri="{A12FA001-AC4F-418D-AE19-62706E023703}">
                      <ahyp:hlinkClr xmlns:ahyp="http://schemas.microsoft.com/office/drawing/2018/hyperlinkcolor" val="tx"/>
                    </a:ext>
                  </a:extLst>
                </a:hlinkClick>
              </a:rPr>
              <a:t>PROVA DI TRANSAZIONE</a:t>
            </a:r>
            <a:endParaRPr lang="it-IT" kern="100" dirty="0">
              <a:solidFill>
                <a:srgbClr val="FFFFFF"/>
              </a:solidFill>
              <a:latin typeface="Source Sans Pro Light" panose="020B0403030403020204" pitchFamily="34" charset="0"/>
              <a:cs typeface="Times New Roman" panose="02020603050405020304" pitchFamily="18" charset="0"/>
            </a:endParaRPr>
          </a:p>
          <a:p>
            <a:pPr defTabSz="825500">
              <a:spcBef>
                <a:spcPts val="1000"/>
              </a:spcBef>
            </a:pPr>
            <a:endParaRPr lang="it-IT" sz="1600" dirty="0">
              <a:solidFill>
                <a:srgbClr val="FFFFFF"/>
              </a:solidFill>
              <a:latin typeface="Source Sans Pro Light"/>
              <a:ea typeface="Source Sans Pro Light"/>
              <a:hlinkClick r:id="rId11">
                <a:extLst>
                  <a:ext uri="{A12FA001-AC4F-418D-AE19-62706E023703}">
                    <ahyp:hlinkClr xmlns:ahyp="http://schemas.microsoft.com/office/drawing/2018/hyperlinkcolor" val="tx"/>
                  </a:ext>
                </a:extLst>
              </a:hlinkClick>
            </a:endParaRPr>
          </a:p>
          <a:p>
            <a:pPr defTabSz="825500">
              <a:spcBef>
                <a:spcPts val="1000"/>
              </a:spcBef>
            </a:pPr>
            <a:endParaRPr lang="it-IT" sz="1600" dirty="0">
              <a:solidFill>
                <a:srgbClr val="FFFFFF"/>
              </a:solidFill>
              <a:latin typeface="Source Sans Pro Light"/>
              <a:ea typeface="Source Sans Pro Light"/>
              <a:hlinkClick r:id="rId11">
                <a:extLst>
                  <a:ext uri="{A12FA001-AC4F-418D-AE19-62706E023703}">
                    <ahyp:hlinkClr xmlns:ahyp="http://schemas.microsoft.com/office/drawing/2018/hyperlinkcolor" val="tx"/>
                  </a:ext>
                </a:extLst>
              </a:hlinkClick>
            </a:endParaRPr>
          </a:p>
        </p:txBody>
      </p:sp>
      <p:pic>
        <p:nvPicPr>
          <p:cNvPr id="5" name="Immagine 4">
            <a:extLst>
              <a:ext uri="{FF2B5EF4-FFF2-40B4-BE49-F238E27FC236}">
                <a16:creationId xmlns:a16="http://schemas.microsoft.com/office/drawing/2014/main" id="{60E9196B-113E-A6E9-C2E1-784547A1C599}"/>
              </a:ext>
            </a:extLst>
          </p:cNvPr>
          <p:cNvPicPr>
            <a:picLocks noChangeAspect="1"/>
          </p:cNvPicPr>
          <p:nvPr/>
        </p:nvPicPr>
        <p:blipFill>
          <a:blip r:embed="rId12"/>
          <a:srcRect t="20815" b="20815"/>
          <a:stretch/>
        </p:blipFill>
        <p:spPr>
          <a:xfrm>
            <a:off x="5044098" y="477336"/>
            <a:ext cx="5112123" cy="2725397"/>
          </a:xfrm>
          <a:prstGeom prst="rect">
            <a:avLst/>
          </a:prstGeom>
        </p:spPr>
      </p:pic>
      <p:pic>
        <p:nvPicPr>
          <p:cNvPr id="6" name="Immagine 5">
            <a:extLst>
              <a:ext uri="{FF2B5EF4-FFF2-40B4-BE49-F238E27FC236}">
                <a16:creationId xmlns:a16="http://schemas.microsoft.com/office/drawing/2014/main" id="{233A7E09-B95D-86F7-6489-ACD865C2F4D1}"/>
              </a:ext>
            </a:extLst>
          </p:cNvPr>
          <p:cNvPicPr>
            <a:picLocks noChangeAspect="1"/>
          </p:cNvPicPr>
          <p:nvPr/>
        </p:nvPicPr>
        <p:blipFill>
          <a:blip r:embed="rId13"/>
          <a:srcRect t="20815" b="20815"/>
          <a:stretch/>
        </p:blipFill>
        <p:spPr>
          <a:xfrm>
            <a:off x="4352788" y="3655268"/>
            <a:ext cx="5112122" cy="2725395"/>
          </a:xfrm>
          <a:prstGeom prst="rect">
            <a:avLst/>
          </a:prstGeom>
        </p:spPr>
      </p:pic>
      <p:pic>
        <p:nvPicPr>
          <p:cNvPr id="2" name="Immagine 1" descr="Immagine che contiene Dispositivo elettronico, elettronica, testo, interno&#10;&#10;Descrizione generata automaticamente">
            <a:extLst>
              <a:ext uri="{FF2B5EF4-FFF2-40B4-BE49-F238E27FC236}">
                <a16:creationId xmlns:a16="http://schemas.microsoft.com/office/drawing/2014/main" id="{EA745064-7549-4B54-6B6B-1E0317FF2838}"/>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52653" y="659011"/>
            <a:ext cx="2152602" cy="1719092"/>
          </a:xfrm>
          <a:prstGeom prst="rect">
            <a:avLst/>
          </a:prstGeom>
        </p:spPr>
      </p:pic>
      <p:pic>
        <p:nvPicPr>
          <p:cNvPr id="4" name="Immagine 3" descr="Immagine che contiene testo, schermata, multimediale, bancomat&#10;&#10;Descrizione generata automaticamente">
            <a:extLst>
              <a:ext uri="{FF2B5EF4-FFF2-40B4-BE49-F238E27FC236}">
                <a16:creationId xmlns:a16="http://schemas.microsoft.com/office/drawing/2014/main" id="{4FD37DAF-96AC-717E-BABE-AA61AEA4E4D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552653" y="3772099"/>
            <a:ext cx="2152601" cy="1719092"/>
          </a:xfrm>
          <a:prstGeom prst="rect">
            <a:avLst/>
          </a:prstGeom>
        </p:spPr>
      </p:pic>
    </p:spTree>
    <p:extLst>
      <p:ext uri="{BB962C8B-B14F-4D97-AF65-F5344CB8AC3E}">
        <p14:creationId xmlns:p14="http://schemas.microsoft.com/office/powerpoint/2010/main" val="4217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68BFD-AB13-593F-8F6A-DA92D7DE8E79}"/>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B8B03FC8-149D-6D64-8803-D4278933A459}"/>
              </a:ext>
            </a:extLst>
          </p:cNvPr>
          <p:cNvSpPr txBox="1"/>
          <p:nvPr/>
        </p:nvSpPr>
        <p:spPr>
          <a:xfrm>
            <a:off x="836031" y="2465400"/>
            <a:ext cx="10519937" cy="22057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412750" hangingPunct="0">
              <a:lnSpc>
                <a:spcPct val="90000"/>
              </a:lnSpc>
              <a:spcBef>
                <a:spcPts val="1000"/>
              </a:spcBef>
              <a:defRPr/>
            </a:pPr>
            <a:r>
              <a:rPr lang="it-IT" sz="3000" b="1" kern="0" dirty="0">
                <a:solidFill>
                  <a:srgbClr val="FFFFFF"/>
                </a:solidFill>
                <a:latin typeface="Source Sans Pro"/>
                <a:ea typeface="Source Sans Pro Light"/>
                <a:cs typeface="Helvetica"/>
                <a:sym typeface="Helvetica"/>
              </a:rPr>
              <a:t>EDGE N+SOFT POS</a:t>
            </a: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sym typeface="Helvetica"/>
                <a:hlinkClick r:id="rId2">
                  <a:extLst>
                    <a:ext uri="{A12FA001-AC4F-418D-AE19-62706E023703}">
                      <ahyp:hlinkClr xmlns:ahyp="http://schemas.microsoft.com/office/drawing/2018/hyperlinkcolor" val="tx"/>
                    </a:ext>
                  </a:extLst>
                </a:hlinkClick>
              </a:rPr>
              <a:t>Configurazione NEXI POS e KeepUp Smart</a:t>
            </a:r>
            <a:endParaRPr lang="it-IT" kern="100" dirty="0">
              <a:solidFill>
                <a:srgbClr val="FFFFFF"/>
              </a:solidFill>
              <a:latin typeface="Source Sans Pro Light" panose="020B0403030403020204" pitchFamily="34" charset="0"/>
              <a:cs typeface="Times New Roman" panose="02020603050405020304" pitchFamily="18" charset="0"/>
              <a:sym typeface="Helvetica"/>
            </a:endParaRPr>
          </a:p>
          <a:p>
            <a:pPr defTabSz="825500">
              <a:spcBef>
                <a:spcPts val="1000"/>
              </a:spcBef>
            </a:pPr>
            <a:r>
              <a:rPr lang="it-IT" kern="100" dirty="0">
                <a:solidFill>
                  <a:srgbClr val="FFFFFF"/>
                </a:solidFill>
                <a:latin typeface="Source Sans Pro Light" panose="020B0403030403020204" pitchFamily="34" charset="0"/>
                <a:cs typeface="Times New Roman" panose="02020603050405020304" pitchFamily="18" charset="0"/>
                <a:sym typeface="Helvetica"/>
                <a:hlinkClick r:id="rId3">
                  <a:extLst>
                    <a:ext uri="{A12FA001-AC4F-418D-AE19-62706E023703}">
                      <ahyp:hlinkClr xmlns:ahyp="http://schemas.microsoft.com/office/drawing/2018/hyperlinkcolor" val="tx"/>
                    </a:ext>
                  </a:extLst>
                </a:hlinkClick>
              </a:rPr>
              <a:t>Prova di Transazione</a:t>
            </a:r>
            <a:endParaRPr lang="it-IT" kern="100" dirty="0">
              <a:solidFill>
                <a:srgbClr val="FFFFFF"/>
              </a:solidFill>
              <a:latin typeface="Source Sans Pro Light" panose="020B0403030403020204" pitchFamily="34" charset="0"/>
              <a:cs typeface="Times New Roman" panose="02020603050405020304" pitchFamily="18" charset="0"/>
              <a:sym typeface="Helvetica"/>
            </a:endParaRPr>
          </a:p>
          <a:p>
            <a:pPr defTabSz="825500">
              <a:spcBef>
                <a:spcPts val="1000"/>
              </a:spcBef>
            </a:pPr>
            <a:endParaRPr lang="it-IT" sz="1600" dirty="0">
              <a:solidFill>
                <a:schemeClr val="dk1"/>
              </a:solidFill>
              <a:latin typeface="Source Sans Pro Light"/>
              <a:ea typeface="Source Sans Pro Light"/>
            </a:endParaRPr>
          </a:p>
          <a:p>
            <a:pPr defTabSz="825500">
              <a:spcBef>
                <a:spcPts val="1000"/>
              </a:spcBef>
            </a:pPr>
            <a:endParaRPr lang="it-IT" sz="1600" dirty="0">
              <a:solidFill>
                <a:schemeClr val="dk1"/>
              </a:solidFill>
              <a:latin typeface="Source Sans Pro Light"/>
            </a:endParaRPr>
          </a:p>
        </p:txBody>
      </p:sp>
      <p:pic>
        <p:nvPicPr>
          <p:cNvPr id="3" name="Immagine 2">
            <a:extLst>
              <a:ext uri="{FF2B5EF4-FFF2-40B4-BE49-F238E27FC236}">
                <a16:creationId xmlns:a16="http://schemas.microsoft.com/office/drawing/2014/main" id="{BF7C0810-4F57-47DB-6E80-A0ECD081502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951094" y="1552390"/>
            <a:ext cx="5861155" cy="3831300"/>
          </a:xfrm>
          <a:prstGeom prst="rect">
            <a:avLst/>
          </a:prstGeom>
        </p:spPr>
      </p:pic>
    </p:spTree>
    <p:extLst>
      <p:ext uri="{BB962C8B-B14F-4D97-AF65-F5344CB8AC3E}">
        <p14:creationId xmlns:p14="http://schemas.microsoft.com/office/powerpoint/2010/main" val="341289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167D0-D534-6980-DA47-D873605E3655}"/>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5631A012-38AE-0919-6927-2E0754C286A1}"/>
              </a:ext>
            </a:extLst>
          </p:cNvPr>
          <p:cNvSpPr txBox="1"/>
          <p:nvPr/>
        </p:nvSpPr>
        <p:spPr>
          <a:xfrm>
            <a:off x="623888" y="2997200"/>
            <a:ext cx="6622006" cy="6052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defTabSz="412750">
              <a:lnSpc>
                <a:spcPct val="90000"/>
              </a:lnSpc>
              <a:defRPr/>
            </a:pPr>
            <a:r>
              <a:rPr lang="it-IT" sz="4000" b="1" kern="0">
                <a:solidFill>
                  <a:srgbClr val="FFFFFF"/>
                </a:solidFill>
                <a:latin typeface="Source Sans Pro"/>
                <a:ea typeface="Source Sans Pro Light"/>
                <a:cs typeface="Helvetica"/>
                <a:sym typeface="Helvetica"/>
              </a:rPr>
              <a:t>FAQ</a:t>
            </a:r>
            <a:endParaRPr lang="it-IT"/>
          </a:p>
        </p:txBody>
      </p:sp>
    </p:spTree>
    <p:extLst>
      <p:ext uri="{BB962C8B-B14F-4D97-AF65-F5344CB8AC3E}">
        <p14:creationId xmlns:p14="http://schemas.microsoft.com/office/powerpoint/2010/main" val="2313846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A5495491-A73D-344E-F867-593535DBB066}"/>
              </a:ext>
            </a:extLst>
          </p:cNvPr>
          <p:cNvSpPr txBox="1"/>
          <p:nvPr/>
        </p:nvSpPr>
        <p:spPr>
          <a:xfrm>
            <a:off x="262859" y="780862"/>
            <a:ext cx="9047642" cy="5078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42900" indent="-342900">
              <a:buFont typeface="+mj-lt"/>
              <a:buAutoNum type="arabicPeriod"/>
            </a:pPr>
            <a:r>
              <a:rPr lang="it-IT" b="1" dirty="0">
                <a:solidFill>
                  <a:srgbClr val="FFFFFF"/>
                </a:solidFill>
                <a:latin typeface="Source Sans Pro" panose="020B0503030403020204" pitchFamily="34" charset="0"/>
                <a:ea typeface="Source Sans Pro" panose="020B0503030403020204" pitchFamily="34" charset="0"/>
              </a:rPr>
              <a:t>Cosa è il TID o TML?​</a:t>
            </a:r>
          </a:p>
          <a:p>
            <a:pPr marL="342900" indent="-342900">
              <a:buAutoNum type="arabicPeriod"/>
            </a:pPr>
            <a:endParaRPr lang="it-IT" b="1" dirty="0">
              <a:solidFill>
                <a:srgbClr val="FFFFFF"/>
              </a:solidFill>
              <a:latin typeface="Source Sans Pro" panose="020B0503030403020204" pitchFamily="34" charset="0"/>
              <a:ea typeface="Source Sans Pro" panose="020B0503030403020204" pitchFamily="34" charset="0"/>
            </a:endParaRPr>
          </a:p>
          <a:p>
            <a:r>
              <a:rPr lang="it-IT" dirty="0">
                <a:solidFill>
                  <a:srgbClr val="FFFFFF"/>
                </a:solidFill>
                <a:latin typeface="Source Sans Pro" panose="020B0503030403020204" pitchFamily="34" charset="0"/>
                <a:ea typeface="Source Sans Pro" panose="020B0503030403020204" pitchFamily="34" charset="0"/>
              </a:rPr>
              <a:t>Il </a:t>
            </a:r>
            <a:r>
              <a:rPr lang="it-IT" b="1" dirty="0">
                <a:solidFill>
                  <a:srgbClr val="03ACA1"/>
                </a:solidFill>
                <a:latin typeface="Source Sans Pro" panose="020B0503030403020204" pitchFamily="34" charset="0"/>
                <a:ea typeface="Source Sans Pro" panose="020B0503030403020204" pitchFamily="34" charset="0"/>
              </a:rPr>
              <a:t>TID</a:t>
            </a:r>
            <a:r>
              <a:rPr lang="it-IT" dirty="0">
                <a:solidFill>
                  <a:srgbClr val="FFFFFF"/>
                </a:solidFill>
                <a:latin typeface="Source Sans Pro" panose="020B0503030403020204" pitchFamily="34" charset="0"/>
                <a:ea typeface="Source Sans Pro" panose="020B0503030403020204" pitchFamily="34" charset="0"/>
              </a:rPr>
              <a:t> (terminal ID) – anche detto TML - è il codice convenzionamento che Custom </a:t>
            </a:r>
            <a:r>
              <a:rPr lang="it-IT" dirty="0" err="1">
                <a:solidFill>
                  <a:srgbClr val="FFFFFF"/>
                </a:solidFill>
                <a:latin typeface="Source Sans Pro" panose="020B0503030403020204" pitchFamily="34" charset="0"/>
                <a:ea typeface="Source Sans Pro" panose="020B0503030403020204" pitchFamily="34" charset="0"/>
              </a:rPr>
              <a:t>Pay</a:t>
            </a:r>
            <a:r>
              <a:rPr lang="it-IT" dirty="0">
                <a:solidFill>
                  <a:srgbClr val="FFFFFF"/>
                </a:solidFill>
                <a:latin typeface="Source Sans Pro" panose="020B0503030403020204" pitchFamily="34" charset="0"/>
                <a:ea typeface="Source Sans Pro" panose="020B0503030403020204" pitchFamily="34" charset="0"/>
              </a:rPr>
              <a:t> assegna ad ogni singola pratica e che verrà successivamente utilizzato dal dealer per indentificare quello specifico terminale di pagamento.</a:t>
            </a:r>
          </a:p>
          <a:p>
            <a:endParaRPr lang="it-IT" b="1" dirty="0">
              <a:solidFill>
                <a:srgbClr val="FFFFFF"/>
              </a:solidFill>
              <a:latin typeface="Source Sans Pro" panose="020B0503030403020204" pitchFamily="34" charset="0"/>
              <a:ea typeface="Source Sans Pro" panose="020B0503030403020204" pitchFamily="34" charset="0"/>
            </a:endParaRPr>
          </a:p>
          <a:p>
            <a:r>
              <a:rPr lang="it-IT" b="1" dirty="0">
                <a:solidFill>
                  <a:srgbClr val="FFFFFF"/>
                </a:solidFill>
                <a:latin typeface="Source Sans Pro" panose="020B0503030403020204" pitchFamily="34" charset="0"/>
                <a:ea typeface="Source Sans Pro" panose="020B0503030403020204" pitchFamily="34" charset="0"/>
              </a:rPr>
              <a:t>2.  Quanto tempo occorre per attivare un contratto e avere il TID/TML?​</a:t>
            </a:r>
          </a:p>
          <a:p>
            <a:endParaRPr lang="it-IT" b="1" dirty="0">
              <a:solidFill>
                <a:srgbClr val="FFFFFF"/>
              </a:solidFill>
              <a:latin typeface="Source Sans Pro" panose="020B0503030403020204" pitchFamily="34" charset="0"/>
              <a:ea typeface="Source Sans Pro" panose="020B0503030403020204" pitchFamily="34" charset="0"/>
            </a:endParaRPr>
          </a:p>
          <a:p>
            <a:r>
              <a:rPr lang="it-IT" dirty="0">
                <a:solidFill>
                  <a:srgbClr val="FFFFFF"/>
                </a:solidFill>
                <a:latin typeface="Source Sans Pro" panose="020B0503030403020204" pitchFamily="34" charset="0"/>
                <a:ea typeface="Source Sans Pro" panose="020B0503030403020204" pitchFamily="34" charset="0"/>
              </a:rPr>
              <a:t>In genere, per attivare un contratto e avere un TID/TML occorrono tra gli 8 e i 10       giorni lavorativi tenendo in considerazione il fatto che il dealer potrebbe avere già la   merce in casa oppure avere la necessità di riceverla e questo, di conseguenza,        andrebbe ad influire sulle tempistiche sopra citate.       </a:t>
            </a:r>
          </a:p>
          <a:p>
            <a:r>
              <a:rPr lang="it-IT" dirty="0">
                <a:solidFill>
                  <a:srgbClr val="FFFFFF"/>
                </a:solidFill>
                <a:latin typeface="Source Sans Pro" panose="020B0503030403020204" pitchFamily="34" charset="0"/>
                <a:ea typeface="Source Sans Pro" panose="020B0503030403020204" pitchFamily="34" charset="0"/>
              </a:rPr>
              <a:t>                                             </a:t>
            </a:r>
          </a:p>
          <a:p>
            <a:r>
              <a:rPr lang="it-IT" i="1" dirty="0">
                <a:solidFill>
                  <a:srgbClr val="FFFFFF"/>
                </a:solidFill>
                <a:latin typeface="Source Sans Pro" panose="020B0503030403020204" pitchFamily="34" charset="0"/>
                <a:ea typeface="Source Sans Pro" panose="020B0503030403020204" pitchFamily="34" charset="0"/>
              </a:rPr>
              <a:t>(ad esempio nel caso di un subnoleggio, in cui il dealer ha già preventivamente acquistato la merce, verrebbero rispettate le tempistiche di 8 gg lavorativi circa, in quanto dal momento che NEXI ci dà l'ok per procedere con il convenzionamento, noi caricheremmo il ticket sulla piattaforma Operations e quindi, a seguito di comunicazione via mail, potreste procedere con l'installazione della soluzione stessa). </a:t>
            </a:r>
            <a:endParaRPr lang="it-IT" dirty="0">
              <a:solidFill>
                <a:srgbClr val="FFFFF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17009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72722-BFE3-D961-1772-0146923589E3}"/>
            </a:ext>
          </a:extLst>
        </p:cNvPr>
        <p:cNvGrpSpPr/>
        <p:nvPr/>
      </p:nvGrpSpPr>
      <p:grpSpPr>
        <a:xfrm>
          <a:off x="0" y="0"/>
          <a:ext cx="0" cy="0"/>
          <a:chOff x="0" y="0"/>
          <a:chExt cx="0" cy="0"/>
        </a:xfrm>
      </p:grpSpPr>
      <p:sp>
        <p:nvSpPr>
          <p:cNvPr id="8" name="CasellaDiTesto 7">
            <a:extLst>
              <a:ext uri="{FF2B5EF4-FFF2-40B4-BE49-F238E27FC236}">
                <a16:creationId xmlns:a16="http://schemas.microsoft.com/office/drawing/2014/main" id="{ED977A07-8998-68E7-D297-A96AFF0E1C22}"/>
              </a:ext>
            </a:extLst>
          </p:cNvPr>
          <p:cNvSpPr txBox="1"/>
          <p:nvPr/>
        </p:nvSpPr>
        <p:spPr>
          <a:xfrm>
            <a:off x="267309" y="773113"/>
            <a:ext cx="8889401" cy="57349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nSpc>
                <a:spcPts val="2000"/>
              </a:lnSpc>
            </a:pPr>
            <a:r>
              <a:rPr lang="it-IT" b="1" dirty="0">
                <a:solidFill>
                  <a:srgbClr val="FFFFFF"/>
                </a:solidFill>
                <a:latin typeface="Source Sans Pro" panose="020B0503030403020204" pitchFamily="34" charset="0"/>
                <a:ea typeface="Source Sans Pro" panose="020B0503030403020204" pitchFamily="34" charset="0"/>
              </a:rPr>
              <a:t>3. Cosa è una lead?      </a:t>
            </a: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endParaRPr lang="it-IT" b="1"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b="0" i="0" u="none" strike="noStrike" dirty="0">
                <a:solidFill>
                  <a:srgbClr val="FFFFFF"/>
                </a:solidFill>
                <a:effectLst/>
                <a:latin typeface="Source Sans Pro" panose="020B0503030403020204" pitchFamily="34" charset="0"/>
                <a:ea typeface="Source Sans Pro" panose="020B0503030403020204" pitchFamily="34" charset="0"/>
              </a:rPr>
              <a:t>Una </a:t>
            </a:r>
            <a:r>
              <a:rPr lang="it-IT" b="1" i="0" u="none" strike="noStrike" dirty="0">
                <a:solidFill>
                  <a:srgbClr val="03ACA1"/>
                </a:solidFill>
                <a:effectLst/>
                <a:latin typeface="Source Sans Pro" panose="020B0503030403020204" pitchFamily="34" charset="0"/>
                <a:ea typeface="Source Sans Pro" panose="020B0503030403020204" pitchFamily="34" charset="0"/>
              </a:rPr>
              <a:t>LEAD </a:t>
            </a:r>
            <a:r>
              <a:rPr lang="it-IT" b="0" i="0" u="none" strike="noStrike" dirty="0">
                <a:solidFill>
                  <a:srgbClr val="FFFFFF"/>
                </a:solidFill>
                <a:effectLst/>
                <a:latin typeface="Source Sans Pro" panose="020B0503030403020204" pitchFamily="34" charset="0"/>
                <a:ea typeface="Source Sans Pro" panose="020B0503030403020204" pitchFamily="34" charset="0"/>
              </a:rPr>
              <a:t>è un modulo in cui vengono inseriti i dati principali ed essenziali necessari per una prima interfaccia tra dealer &gt; esercente e successivamente tra esercente &gt; Custom </a:t>
            </a:r>
            <a:r>
              <a:rPr lang="it-IT" b="0" i="0" u="none" strike="noStrike" dirty="0" err="1">
                <a:solidFill>
                  <a:srgbClr val="FFFFFF"/>
                </a:solidFill>
                <a:effectLst/>
                <a:latin typeface="Source Sans Pro" panose="020B0503030403020204" pitchFamily="34" charset="0"/>
                <a:ea typeface="Source Sans Pro" panose="020B0503030403020204" pitchFamily="34" charset="0"/>
              </a:rPr>
              <a:t>Pay</a:t>
            </a:r>
            <a:r>
              <a:rPr lang="it-IT" b="0" i="0" u="none" strike="noStrike" dirty="0">
                <a:solidFill>
                  <a:srgbClr val="FFFFFF"/>
                </a:solidFill>
                <a:effectLst/>
                <a:latin typeface="Source Sans Pro" panose="020B0503030403020204" pitchFamily="34" charset="0"/>
                <a:ea typeface="Source Sans Pro" panose="020B0503030403020204" pitchFamily="34" charset="0"/>
              </a:rPr>
              <a:t>. E' fondamentale quindi, inserire e compilare tutti i campi, in quanto serviranno al back office di Custom </a:t>
            </a:r>
            <a:r>
              <a:rPr lang="it-IT" b="0" i="0" u="none" strike="noStrike" dirty="0" err="1">
                <a:solidFill>
                  <a:srgbClr val="FFFFFF"/>
                </a:solidFill>
                <a:effectLst/>
                <a:latin typeface="Source Sans Pro" panose="020B0503030403020204" pitchFamily="34" charset="0"/>
                <a:ea typeface="Source Sans Pro" panose="020B0503030403020204" pitchFamily="34" charset="0"/>
              </a:rPr>
              <a:t>Pay</a:t>
            </a:r>
            <a:r>
              <a:rPr lang="it-IT" b="0" i="0" u="none" strike="noStrike" dirty="0">
                <a:solidFill>
                  <a:srgbClr val="FFFFFF"/>
                </a:solidFill>
                <a:effectLst/>
                <a:latin typeface="Source Sans Pro" panose="020B0503030403020204" pitchFamily="34" charset="0"/>
                <a:ea typeface="Source Sans Pro" panose="020B0503030403020204" pitchFamily="34" charset="0"/>
              </a:rPr>
              <a:t> per instaurare un rapporto, in questo caso di convenzionamento, con quello che diventerà un nuovo potenziale cliente.</a:t>
            </a:r>
            <a:endParaRPr lang="it-IT" dirty="0">
              <a:solidFill>
                <a:srgbClr val="FFFFFF"/>
              </a:solidFill>
              <a:latin typeface="Source Sans Pro" panose="020B0503030403020204" pitchFamily="34" charset="0"/>
              <a:ea typeface="Source Sans Pro" panose="020B0503030403020204" pitchFamily="34" charset="0"/>
            </a:endParaRPr>
          </a:p>
          <a:p>
            <a:pPr marL="342900" indent="-342900">
              <a:lnSpc>
                <a:spcPts val="2000"/>
              </a:lnSpc>
              <a:buAutoNum type="arabicPeriod"/>
            </a:pPr>
            <a:endParaRPr lang="it-IT" b="1"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b="1" dirty="0">
                <a:solidFill>
                  <a:srgbClr val="FFFFFF"/>
                </a:solidFill>
                <a:latin typeface="Source Sans Pro" panose="020B0503030403020204" pitchFamily="34" charset="0"/>
                <a:ea typeface="Source Sans Pro" panose="020B0503030403020204" pitchFamily="34" charset="0"/>
              </a:rPr>
              <a:t>4. A chi devo mandare la lead?                                                                                                                 </a:t>
            </a:r>
          </a:p>
          <a:p>
            <a:pPr>
              <a:lnSpc>
                <a:spcPts val="2000"/>
              </a:lnSpc>
            </a:pP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dirty="0">
                <a:solidFill>
                  <a:srgbClr val="FFFFFF"/>
                </a:solidFill>
                <a:latin typeface="Source Sans Pro" panose="020B0503030403020204" pitchFamily="34" charset="0"/>
                <a:ea typeface="Source Sans Pro" panose="020B0503030403020204" pitchFamily="34" charset="0"/>
              </a:rPr>
              <a:t>Come indicato nel modulo stesso, la lead è da inviare alla mail </a:t>
            </a:r>
            <a:r>
              <a:rPr lang="it-IT" b="1" dirty="0">
                <a:solidFill>
                  <a:srgbClr val="03ACA1"/>
                </a:solidFill>
                <a:latin typeface="Source Sans Pro" panose="020B0503030403020204" pitchFamily="34" charset="0"/>
                <a:ea typeface="Source Sans Pro" panose="020B0503030403020204" pitchFamily="34" charset="0"/>
              </a:rPr>
              <a:t>lead@custompay.it </a:t>
            </a:r>
            <a:r>
              <a:rPr lang="it-IT" dirty="0">
                <a:solidFill>
                  <a:srgbClr val="FFFFFF"/>
                </a:solidFill>
                <a:latin typeface="Source Sans Pro" panose="020B0503030403020204" pitchFamily="34" charset="0"/>
                <a:ea typeface="Source Sans Pro" panose="020B0503030403020204" pitchFamily="34" charset="0"/>
              </a:rPr>
              <a:t>ed, inoltre, sono da allegare al suddetto ordine copia del documento di identità e della tessera sanitaria sia del legale rappresentante sia dei soci effettivi (+25% di quote).</a:t>
            </a:r>
            <a:endParaRPr lang="it-IT" dirty="0">
              <a:latin typeface="Source Sans Pro" panose="020B0503030403020204" pitchFamily="34" charset="0"/>
              <a:ea typeface="Source Sans Pro" panose="020B0503030403020204" pitchFamily="34" charset="0"/>
            </a:endParaRPr>
          </a:p>
          <a:p>
            <a:pPr>
              <a:lnSpc>
                <a:spcPts val="2000"/>
              </a:lnSpc>
            </a:pP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b="1" dirty="0">
                <a:solidFill>
                  <a:srgbClr val="FFFFFF"/>
                </a:solidFill>
                <a:latin typeface="Source Sans Pro" panose="020B0503030403020204" pitchFamily="34" charset="0"/>
                <a:ea typeface="Source Sans Pro" panose="020B0503030403020204" pitchFamily="34" charset="0"/>
              </a:rPr>
              <a:t>5. Come si collegano i terminali POS ai registratori telematici o ai software?                                                     </a:t>
            </a:r>
          </a:p>
          <a:p>
            <a:pPr>
              <a:lnSpc>
                <a:spcPts val="2000"/>
              </a:lnSpc>
            </a:pP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dirty="0">
                <a:solidFill>
                  <a:srgbClr val="FFFFFF"/>
                </a:solidFill>
                <a:latin typeface="Source Sans Pro" panose="020B0503030403020204" pitchFamily="34" charset="0"/>
                <a:ea typeface="Source Sans Pro" panose="020B0503030403020204" pitchFamily="34" charset="0"/>
              </a:rPr>
              <a:t>Si Collegano via Ethernet/WiFi con IP Fissi e non dinamici</a:t>
            </a:r>
            <a:endParaRPr lang="it-IT" dirty="0">
              <a:solidFill>
                <a:srgbClr val="212121"/>
              </a:solidFill>
              <a:latin typeface="Source Sans Pro" panose="020B0503030403020204" pitchFamily="34" charset="0"/>
              <a:ea typeface="Source Sans Pro" panose="020B0503030403020204" pitchFamily="34" charset="0"/>
            </a:endParaRPr>
          </a:p>
          <a:p>
            <a:pPr>
              <a:lnSpc>
                <a:spcPts val="2000"/>
              </a:lnSpc>
            </a:pP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b="1" dirty="0">
                <a:solidFill>
                  <a:srgbClr val="FFFFFF"/>
                </a:solidFill>
                <a:latin typeface="Source Sans Pro" panose="020B0503030403020204" pitchFamily="34" charset="0"/>
                <a:ea typeface="Source Sans Pro" panose="020B0503030403020204" pitchFamily="34" charset="0"/>
              </a:rPr>
              <a:t>6. Chi deve chiamare l'esercente in caso di problemi sulle transazioni?                                                         </a:t>
            </a:r>
          </a:p>
          <a:p>
            <a:pPr>
              <a:lnSpc>
                <a:spcPts val="2000"/>
              </a:lnSpc>
            </a:pPr>
            <a:endParaRPr lang="it-IT" dirty="0">
              <a:solidFill>
                <a:srgbClr val="FFFFFF"/>
              </a:solidFill>
              <a:latin typeface="Source Sans Pro" panose="020B0503030403020204" pitchFamily="34" charset="0"/>
              <a:ea typeface="Source Sans Pro" panose="020B0503030403020204" pitchFamily="34" charset="0"/>
            </a:endParaRPr>
          </a:p>
          <a:p>
            <a:pPr>
              <a:lnSpc>
                <a:spcPts val="2000"/>
              </a:lnSpc>
            </a:pPr>
            <a:r>
              <a:rPr lang="it-IT" dirty="0">
                <a:solidFill>
                  <a:srgbClr val="FFFFFF"/>
                </a:solidFill>
                <a:latin typeface="Source Sans Pro" panose="020B0503030403020204" pitchFamily="34" charset="0"/>
                <a:ea typeface="Source Sans Pro" panose="020B0503030403020204" pitchFamily="34" charset="0"/>
              </a:rPr>
              <a:t>In caso di problemi sulle transazioni, l'esercente deve chiamare il numero 02 345 448 disponibile 24 ore su 24 e 365 giorni l’anno.</a:t>
            </a:r>
            <a:endParaRPr lang="it-IT"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7775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B89E0A56-15A4-D2FE-FC8D-9D09DDC3343C}"/>
              </a:ext>
            </a:extLst>
          </p:cNvPr>
          <p:cNvSpPr txBox="1"/>
          <p:nvPr/>
        </p:nvSpPr>
        <p:spPr>
          <a:xfrm>
            <a:off x="271834" y="765364"/>
            <a:ext cx="11144816" cy="5078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it-IT" b="1" dirty="0">
                <a:solidFill>
                  <a:srgbClr val="FFFFFF"/>
                </a:solidFill>
                <a:latin typeface="Source Sans Pro" panose="020B0503030403020204" pitchFamily="34" charset="0"/>
                <a:ea typeface="Source Sans Pro" panose="020B0503030403020204" pitchFamily="34" charset="0"/>
              </a:rPr>
              <a:t>7. Chi deve chiamare l'esercente in caso di problemi sulle soluzione POS o RT+POS?                                           </a:t>
            </a:r>
            <a:r>
              <a:rPr lang="it-IT" dirty="0">
                <a:solidFill>
                  <a:srgbClr val="FFFFFF"/>
                </a:solidFill>
                <a:latin typeface="Source Sans Pro" panose="020B0503030403020204" pitchFamily="34" charset="0"/>
                <a:ea typeface="Source Sans Pro" panose="020B0503030403020204" pitchFamily="34" charset="0"/>
              </a:rPr>
              <a:t>  </a:t>
            </a:r>
            <a:endParaRPr lang="en-US" dirty="0">
              <a:solidFill>
                <a:srgbClr val="FFFFFF"/>
              </a:solidFill>
              <a:latin typeface="Source Sans Pro" panose="020B0503030403020204" pitchFamily="34" charset="0"/>
              <a:ea typeface="Source Sans Pro" panose="020B0503030403020204" pitchFamily="34" charset="0"/>
            </a:endParaRPr>
          </a:p>
          <a:p>
            <a:r>
              <a:rPr lang="it-IT" dirty="0">
                <a:solidFill>
                  <a:srgbClr val="FFFFFF"/>
                </a:solidFill>
                <a:latin typeface="Source Sans Pro" panose="020B0503030403020204" pitchFamily="34" charset="0"/>
                <a:ea typeface="Source Sans Pro" panose="020B0503030403020204" pitchFamily="34" charset="0"/>
              </a:rPr>
              <a:t>Il numero di assistenza Custom Pay </a:t>
            </a:r>
            <a:r>
              <a:rPr lang="it-IT" b="1" dirty="0">
                <a:solidFill>
                  <a:srgbClr val="03ACA1"/>
                </a:solidFill>
                <a:latin typeface="Source Sans Pro" panose="020B0503030403020204" pitchFamily="34" charset="0"/>
                <a:ea typeface="Source Sans Pro" panose="020B0503030403020204" pitchFamily="34" charset="0"/>
              </a:rPr>
              <a:t>0521 1855755</a:t>
            </a:r>
            <a:r>
              <a:rPr lang="it-IT" dirty="0">
                <a:solidFill>
                  <a:srgbClr val="FFFFFF"/>
                </a:solidFill>
                <a:latin typeface="Source Sans Pro" panose="020B0503030403020204" pitchFamily="34" charset="0"/>
                <a:ea typeface="Source Sans Pro" panose="020B0503030403020204" pitchFamily="34" charset="0"/>
              </a:rPr>
              <a:t> è dedicato al dealer per la configurazione e le problematiche        legate al dispositivo.</a:t>
            </a:r>
            <a:endParaRPr lang="en-US" dirty="0">
              <a:solidFill>
                <a:srgbClr val="FFFFFF"/>
              </a:solidFill>
              <a:latin typeface="Source Sans Pro" panose="020B0503030403020204" pitchFamily="34" charset="0"/>
              <a:ea typeface="Source Sans Pro" panose="020B0503030403020204" pitchFamily="34" charset="0"/>
            </a:endParaRPr>
          </a:p>
          <a:p>
            <a:endParaRPr lang="it-IT" dirty="0">
              <a:solidFill>
                <a:srgbClr val="FFFFFF"/>
              </a:solidFill>
              <a:latin typeface="Source Sans Pro" panose="020B0503030403020204" pitchFamily="34" charset="0"/>
              <a:ea typeface="Source Sans Pro" panose="020B0503030403020204" pitchFamily="34" charset="0"/>
            </a:endParaRPr>
          </a:p>
          <a:p>
            <a:endParaRPr lang="it-IT" dirty="0">
              <a:solidFill>
                <a:srgbClr val="FFFFFF"/>
              </a:solidFill>
              <a:latin typeface="Source Sans Pro" panose="020B0503030403020204" pitchFamily="34" charset="0"/>
              <a:ea typeface="Source Sans Pro" panose="020B0503030403020204" pitchFamily="34" charset="0"/>
            </a:endParaRPr>
          </a:p>
          <a:p>
            <a:r>
              <a:rPr lang="it-IT" b="1" dirty="0">
                <a:solidFill>
                  <a:srgbClr val="FFFFFF"/>
                </a:solidFill>
                <a:latin typeface="Source Sans Pro" panose="020B0503030403020204" pitchFamily="34" charset="0"/>
                <a:ea typeface="Source Sans Pro" panose="020B0503030403020204" pitchFamily="34" charset="0"/>
              </a:rPr>
              <a:t>8. Occorre aprire un conto corrente Custom Pay?                                                                                                   </a:t>
            </a:r>
          </a:p>
          <a:p>
            <a:r>
              <a:rPr lang="it-IT" dirty="0">
                <a:solidFill>
                  <a:srgbClr val="FFFFFF"/>
                </a:solidFill>
                <a:latin typeface="Source Sans Pro" panose="020B0503030403020204" pitchFamily="34" charset="0"/>
                <a:ea typeface="Source Sans Pro" panose="020B0503030403020204" pitchFamily="34" charset="0"/>
              </a:rPr>
              <a:t>No, non occorre aprire un conto corrente Custom Pay, in quanto l'esercente comunicherà al dealer, che a suo   volta lo indicherà sul modulo di lead, il suo codice IBAN già esistente sul quale egli stesso darà disposizione   che vengano accreditate le transazioni. E' possibile cambiare, in qualsiasi momento, l’ IBAN di accredito          senza dover sottoscrivere un nuovo contratto di convenzionamento. </a:t>
            </a:r>
            <a:endParaRPr lang="it-IT" dirty="0">
              <a:latin typeface="Source Sans Pro" panose="020B0503030403020204" pitchFamily="34" charset="0"/>
              <a:ea typeface="Source Sans Pro" panose="020B0503030403020204" pitchFamily="34" charset="0"/>
            </a:endParaRPr>
          </a:p>
          <a:p>
            <a:endParaRPr lang="it-IT" dirty="0">
              <a:solidFill>
                <a:srgbClr val="FFFFFF"/>
              </a:solidFill>
              <a:latin typeface="Source Sans Pro" panose="020B0503030403020204" pitchFamily="34" charset="0"/>
              <a:ea typeface="Source Sans Pro" panose="020B0503030403020204" pitchFamily="34" charset="0"/>
            </a:endParaRPr>
          </a:p>
          <a:p>
            <a:endParaRPr lang="it-IT" dirty="0">
              <a:solidFill>
                <a:srgbClr val="FFFFFF"/>
              </a:solidFill>
              <a:latin typeface="Source Sans Pro" panose="020B0503030403020204" pitchFamily="34" charset="0"/>
              <a:ea typeface="Source Sans Pro" panose="020B0503030403020204" pitchFamily="34" charset="0"/>
            </a:endParaRPr>
          </a:p>
          <a:p>
            <a:r>
              <a:rPr lang="it-IT" b="1" dirty="0">
                <a:solidFill>
                  <a:srgbClr val="FFFFFF"/>
                </a:solidFill>
                <a:latin typeface="Source Sans Pro" panose="020B0503030403020204" pitchFamily="34" charset="0"/>
                <a:ea typeface="Source Sans Pro" panose="020B0503030403020204" pitchFamily="34" charset="0"/>
              </a:rPr>
              <a:t>9. Quando vengono accreditate le transazioni?                                                                                                         </a:t>
            </a:r>
            <a:r>
              <a:rPr lang="it-IT" dirty="0">
                <a:solidFill>
                  <a:srgbClr val="FFFFFF"/>
                </a:solidFill>
                <a:latin typeface="Source Sans Pro" panose="020B0503030403020204" pitchFamily="34" charset="0"/>
                <a:ea typeface="Source Sans Pro" panose="020B0503030403020204" pitchFamily="34" charset="0"/>
              </a:rPr>
              <a:t> </a:t>
            </a:r>
          </a:p>
          <a:p>
            <a:r>
              <a:rPr lang="it-IT" dirty="0">
                <a:solidFill>
                  <a:srgbClr val="FFFFFF"/>
                </a:solidFill>
                <a:latin typeface="Source Sans Pro" panose="020B0503030403020204" pitchFamily="34" charset="0"/>
                <a:ea typeface="Source Sans Pro" panose="020B0503030403020204" pitchFamily="34" charset="0"/>
              </a:rPr>
              <a:t>Le banche che intervengono nell’operazione – quella incaricata da Nexi e quella dell’Esercente – devono         eseguire l’operazione di accredito delle somme entro precisi termini temporali previsti dal D. Lgs. 11/2010. La      data valuta dell’accredito sul conto dell’Esercente non può essere successiva alla giornata operativa in cui   l’importo dell’operazione di pagamento viene accreditato sul conto della banca dell’Esercente.</a:t>
            </a:r>
            <a:endParaRPr lang="it-IT" dirty="0">
              <a:latin typeface="Source Sans Pro" panose="020B0503030403020204" pitchFamily="34" charset="0"/>
              <a:ea typeface="Source Sans Pro" panose="020B0503030403020204" pitchFamily="34" charset="0"/>
            </a:endParaRPr>
          </a:p>
          <a:p>
            <a:endParaRPr lang="it-IT" dirty="0">
              <a:solidFill>
                <a:srgbClr val="FFFFF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425299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10C81FFD-7E18-9F55-DE20-481548DAF8D6}"/>
              </a:ext>
            </a:extLst>
          </p:cNvPr>
          <p:cNvGraphicFramePr>
            <a:graphicFrameLocks noGrp="1"/>
          </p:cNvGraphicFramePr>
          <p:nvPr>
            <p:extLst>
              <p:ext uri="{D42A27DB-BD31-4B8C-83A1-F6EECF244321}">
                <p14:modId xmlns:p14="http://schemas.microsoft.com/office/powerpoint/2010/main" val="4213561269"/>
              </p:ext>
            </p:extLst>
          </p:nvPr>
        </p:nvGraphicFramePr>
        <p:xfrm>
          <a:off x="3531351" y="1812046"/>
          <a:ext cx="5126847" cy="3265823"/>
        </p:xfrm>
        <a:graphic>
          <a:graphicData uri="http://schemas.openxmlformats.org/drawingml/2006/table">
            <a:tbl>
              <a:tblPr bandRow="1">
                <a:tableStyleId>{5C22544A-7EE6-4342-B048-85BDC9FD1C3A}</a:tableStyleId>
              </a:tblPr>
              <a:tblGrid>
                <a:gridCol w="5126847">
                  <a:extLst>
                    <a:ext uri="{9D8B030D-6E8A-4147-A177-3AD203B41FA5}">
                      <a16:colId xmlns:a16="http://schemas.microsoft.com/office/drawing/2014/main" val="2006178037"/>
                    </a:ext>
                  </a:extLst>
                </a:gridCol>
              </a:tblGrid>
              <a:tr h="322420">
                <a:tc>
                  <a:txBody>
                    <a:bodyPr/>
                    <a:lstStyle/>
                    <a:p>
                      <a:pPr algn="ctr" rtl="0" fontAlgn="base">
                        <a:lnSpc>
                          <a:spcPts val="1125"/>
                        </a:lnSpc>
                        <a:buNone/>
                      </a:pPr>
                      <a:r>
                        <a:rPr lang="it-IT" sz="1600" b="1" i="0" u="none" strike="noStrike" cap="all">
                          <a:solidFill>
                            <a:srgbClr val="F2F2F2"/>
                          </a:solidFill>
                          <a:effectLst/>
                          <a:latin typeface="Source Sans Pro"/>
                        </a:rPr>
                        <a:t>CLUSTER CIRCUITI</a:t>
                      </a:r>
                      <a:endParaRPr lang="it-IT" sz="1600" b="1" i="0" cap="all">
                        <a:solidFill>
                          <a:srgbClr val="80818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7383" cap="flat" cmpd="sng" algn="ctr">
                      <a:solidFill>
                        <a:srgbClr val="FFFFFF"/>
                      </a:solidFill>
                      <a:prstDash val="solid"/>
                      <a:round/>
                      <a:headEnd type="none" w="med" len="med"/>
                      <a:tailEnd type="none" w="med" len="med"/>
                    </a:lnB>
                    <a:solidFill>
                      <a:srgbClr val="03ACA1"/>
                    </a:solidFill>
                  </a:tcPr>
                </a:tc>
                <a:extLst>
                  <a:ext uri="{0D108BD9-81ED-4DB2-BD59-A6C34878D82A}">
                    <a16:rowId xmlns:a16="http://schemas.microsoft.com/office/drawing/2014/main" val="2424848372"/>
                  </a:ext>
                </a:extLst>
              </a:tr>
              <a:tr h="455181">
                <a:tc>
                  <a:txBody>
                    <a:bodyPr/>
                    <a:lstStyle/>
                    <a:p>
                      <a:pPr lvl="0" algn="ctr">
                        <a:lnSpc>
                          <a:spcPct val="100000"/>
                        </a:lnSpc>
                        <a:spcBef>
                          <a:spcPts val="0"/>
                        </a:spcBef>
                        <a:spcAft>
                          <a:spcPts val="0"/>
                        </a:spcAft>
                        <a:buNone/>
                      </a:pPr>
                      <a:r>
                        <a:rPr lang="it-IT" sz="1600" b="1" i="0" u="none" strike="noStrike" cap="all" spc="160" baseline="0" noProof="0">
                          <a:solidFill>
                            <a:srgbClr val="002060"/>
                          </a:solidFill>
                          <a:effectLst/>
                          <a:uFillTx/>
                          <a:latin typeface="Source Sans Pro"/>
                          <a:ea typeface="+mn-ea"/>
                          <a:cs typeface="+mn-cs"/>
                          <a:sym typeface="Helvetica"/>
                        </a:rPr>
                        <a:t>PAGOBANCOMAT/BANCOMAT PAY</a:t>
                      </a:r>
                    </a:p>
                    <a:p>
                      <a:pPr lvl="0" algn="ctr">
                        <a:lnSpc>
                          <a:spcPts val="1125"/>
                        </a:lnSpc>
                        <a:buNone/>
                      </a:pPr>
                      <a:endParaRPr lang="it-IT" sz="1600" b="1" i="0" u="none" strike="noStrike" cap="all">
                        <a:solidFill>
                          <a:srgbClr val="00206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73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63803"/>
                  </a:ext>
                </a:extLst>
              </a:tr>
              <a:tr h="417250">
                <a:tc>
                  <a:txBody>
                    <a:bodyPr/>
                    <a:lstStyle/>
                    <a:p>
                      <a:pPr algn="ctr" rtl="0" fontAlgn="base">
                        <a:lnSpc>
                          <a:spcPts val="1125"/>
                        </a:lnSpc>
                        <a:buNone/>
                      </a:pPr>
                      <a:r>
                        <a:rPr lang="it-IT" sz="1600" b="1" i="0" u="none" strike="noStrike" cap="all">
                          <a:solidFill>
                            <a:srgbClr val="002060"/>
                          </a:solidFill>
                          <a:effectLst/>
                          <a:latin typeface="Source Sans Pro"/>
                        </a:rPr>
                        <a:t>CARTE VISA/MASTERCARD CONSUMER</a:t>
                      </a:r>
                      <a:endParaRPr lang="it-IT" sz="1600" b="1" i="0" cap="all">
                        <a:solidFill>
                          <a:srgbClr val="00206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62046235"/>
                  </a:ext>
                </a:extLst>
              </a:tr>
              <a:tr h="417250">
                <a:tc>
                  <a:txBody>
                    <a:bodyPr/>
                    <a:lstStyle/>
                    <a:p>
                      <a:pPr algn="ctr" rtl="0" fontAlgn="base">
                        <a:lnSpc>
                          <a:spcPts val="1125"/>
                        </a:lnSpc>
                        <a:buNone/>
                      </a:pPr>
                      <a:r>
                        <a:rPr lang="it-IT" sz="1600" b="1" i="0" u="none" strike="noStrike" cap="all">
                          <a:solidFill>
                            <a:srgbClr val="002060"/>
                          </a:solidFill>
                          <a:effectLst/>
                          <a:latin typeface="Source Sans Pro"/>
                        </a:rPr>
                        <a:t>CARTE VISA/MASTERCARD COMMERCIAL</a:t>
                      </a:r>
                      <a:endParaRPr lang="it-IT" sz="1600" b="1" i="0" cap="all">
                        <a:solidFill>
                          <a:srgbClr val="00206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351296688"/>
                  </a:ext>
                </a:extLst>
              </a:tr>
              <a:tr h="417250">
                <a:tc>
                  <a:txBody>
                    <a:bodyPr/>
                    <a:lstStyle/>
                    <a:p>
                      <a:pPr algn="ctr" rtl="0" fontAlgn="base">
                        <a:lnSpc>
                          <a:spcPts val="1125"/>
                        </a:lnSpc>
                        <a:buNone/>
                      </a:pPr>
                      <a:r>
                        <a:rPr lang="it-IT" sz="1600" b="1" i="0" u="none" strike="noStrike" cap="all">
                          <a:solidFill>
                            <a:srgbClr val="002060"/>
                          </a:solidFill>
                          <a:effectLst/>
                          <a:latin typeface="Source Sans Pro"/>
                        </a:rPr>
                        <a:t>CARTE VISA/MASTERCARD CONSUMER EXTRA</a:t>
                      </a:r>
                      <a:endParaRPr lang="it-IT" sz="1600" b="1" i="0" cap="all">
                        <a:solidFill>
                          <a:srgbClr val="00206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704467705"/>
                  </a:ext>
                </a:extLst>
              </a:tr>
              <a:tr h="417250">
                <a:tc>
                  <a:txBody>
                    <a:bodyPr/>
                    <a:lstStyle/>
                    <a:p>
                      <a:pPr algn="ctr" rtl="0" fontAlgn="base">
                        <a:lnSpc>
                          <a:spcPts val="1125"/>
                        </a:lnSpc>
                        <a:buNone/>
                      </a:pPr>
                      <a:r>
                        <a:rPr lang="it-IT" sz="1600" b="1" i="0" u="none" strike="noStrike" cap="all">
                          <a:solidFill>
                            <a:srgbClr val="002060"/>
                          </a:solidFill>
                          <a:effectLst/>
                          <a:latin typeface="Source Sans Pro"/>
                        </a:rPr>
                        <a:t>CARTE VISA/MASTERCARD COMMERCIAL EXTRA</a:t>
                      </a:r>
                      <a:endParaRPr lang="it-IT" sz="1600" b="1" i="0" cap="all">
                        <a:solidFill>
                          <a:srgbClr val="002060"/>
                        </a:solidFill>
                        <a:effectLst/>
                        <a:latin typeface="Source Sans Pro"/>
                      </a:endParaRPr>
                    </a:p>
                  </a:txBody>
                  <a:tcPr marL="62579" marR="62579" marT="62579" marB="625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34935101"/>
                  </a:ext>
                </a:extLst>
              </a:tr>
              <a:tr h="322420">
                <a:tc>
                  <a:txBody>
                    <a:bodyPr/>
                    <a:lstStyle/>
                    <a:p>
                      <a:pPr lvl="0" algn="ctr">
                        <a:lnSpc>
                          <a:spcPts val="1125"/>
                        </a:lnSpc>
                        <a:buNone/>
                      </a:pPr>
                      <a:r>
                        <a:rPr lang="it-IT" sz="1600" b="1" i="0" u="none" strike="noStrike" cap="all">
                          <a:solidFill>
                            <a:srgbClr val="002060"/>
                          </a:solidFill>
                          <a:effectLst/>
                          <a:latin typeface="Source Sans Pro"/>
                        </a:rPr>
                        <a:t>JCP</a:t>
                      </a:r>
                    </a:p>
                  </a:txBody>
                  <a:tcPr marL="62579" marR="62579" marT="62579" marB="62579" anchor="ct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02833243"/>
                  </a:ext>
                </a:extLst>
              </a:tr>
              <a:tr h="417250">
                <a:tc>
                  <a:txBody>
                    <a:bodyPr/>
                    <a:lstStyle/>
                    <a:p>
                      <a:pPr lvl="0" algn="ctr">
                        <a:lnSpc>
                          <a:spcPts val="1125"/>
                        </a:lnSpc>
                        <a:buNone/>
                      </a:pPr>
                      <a:r>
                        <a:rPr lang="it-IT" sz="1600" b="1" i="0" u="none" strike="noStrike" cap="all">
                          <a:solidFill>
                            <a:srgbClr val="002060"/>
                          </a:solidFill>
                          <a:effectLst/>
                          <a:latin typeface="Source Sans Pro"/>
                        </a:rPr>
                        <a:t>UPI</a:t>
                      </a:r>
                    </a:p>
                  </a:txBody>
                  <a:tcPr marL="62579" marR="62579" marT="62579" marB="62579" anchor="ctr">
                    <a:lnL w="9524">
                      <a:solidFill>
                        <a:srgbClr val="FFFFFF"/>
                      </a:solidFill>
                    </a:lnL>
                    <a:lnR w="9524">
                      <a:solidFill>
                        <a:srgbClr val="FFFFFF"/>
                      </a:solidFill>
                    </a:lnR>
                    <a:lnT w="9524">
                      <a:solidFill>
                        <a:srgbClr val="FFFFFF"/>
                      </a:solidFill>
                    </a:lnT>
                    <a:lnB w="9524">
                      <a:solidFill>
                        <a:srgbClr val="FFFFFF"/>
                      </a:solidFill>
                    </a:lnB>
                    <a:solidFill>
                      <a:schemeClr val="tx2">
                        <a:lumMod val="20000"/>
                        <a:lumOff val="80000"/>
                      </a:schemeClr>
                    </a:solidFill>
                  </a:tcPr>
                </a:tc>
                <a:extLst>
                  <a:ext uri="{0D108BD9-81ED-4DB2-BD59-A6C34878D82A}">
                    <a16:rowId xmlns:a16="http://schemas.microsoft.com/office/drawing/2014/main" val="1636710598"/>
                  </a:ext>
                </a:extLst>
              </a:tr>
            </a:tbl>
          </a:graphicData>
        </a:graphic>
      </p:graphicFrame>
      <p:sp>
        <p:nvSpPr>
          <p:cNvPr id="3" name="Ovale 2">
            <a:extLst>
              <a:ext uri="{FF2B5EF4-FFF2-40B4-BE49-F238E27FC236}">
                <a16:creationId xmlns:a16="http://schemas.microsoft.com/office/drawing/2014/main" id="{8755A145-C249-FC31-B728-553DBA111AA0}"/>
              </a:ext>
            </a:extLst>
          </p:cNvPr>
          <p:cNvSpPr/>
          <p:nvPr/>
        </p:nvSpPr>
        <p:spPr>
          <a:xfrm>
            <a:off x="17665278" y="5406439"/>
            <a:ext cx="4307990" cy="4307990"/>
          </a:xfrm>
          <a:prstGeom prst="ellipse">
            <a:avLst/>
          </a:prstGeom>
          <a:solidFill>
            <a:srgbClr val="03ACA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
        <p:nvSpPr>
          <p:cNvPr id="5" name="Ovale 4">
            <a:extLst>
              <a:ext uri="{FF2B5EF4-FFF2-40B4-BE49-F238E27FC236}">
                <a16:creationId xmlns:a16="http://schemas.microsoft.com/office/drawing/2014/main" id="{AD234FEF-08B6-1DC2-7F3E-D13E946ED298}"/>
              </a:ext>
            </a:extLst>
          </p:cNvPr>
          <p:cNvSpPr/>
          <p:nvPr/>
        </p:nvSpPr>
        <p:spPr>
          <a:xfrm>
            <a:off x="17665278" y="5406439"/>
            <a:ext cx="4307990" cy="4307990"/>
          </a:xfrm>
          <a:prstGeom prst="ellipse">
            <a:avLst/>
          </a:prstGeom>
          <a:solidFill>
            <a:srgbClr val="03ACA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
        <p:nvSpPr>
          <p:cNvPr id="25" name="Ovale 24">
            <a:extLst>
              <a:ext uri="{FF2B5EF4-FFF2-40B4-BE49-F238E27FC236}">
                <a16:creationId xmlns:a16="http://schemas.microsoft.com/office/drawing/2014/main" id="{09BD30B1-A508-1CA0-DCBF-21497A7549EF}"/>
              </a:ext>
            </a:extLst>
          </p:cNvPr>
          <p:cNvSpPr>
            <a:spLocks noChangeAspect="1"/>
          </p:cNvSpPr>
          <p:nvPr/>
        </p:nvSpPr>
        <p:spPr>
          <a:xfrm>
            <a:off x="1186710" y="4037876"/>
            <a:ext cx="1012127"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pic>
        <p:nvPicPr>
          <p:cNvPr id="14" name="Elemento grafico 13">
            <a:extLst>
              <a:ext uri="{FF2B5EF4-FFF2-40B4-BE49-F238E27FC236}">
                <a16:creationId xmlns:a16="http://schemas.microsoft.com/office/drawing/2014/main" id="{D08B6971-F330-0C65-A038-3E00D09178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07618" y="4277781"/>
            <a:ext cx="778681" cy="564524"/>
          </a:xfrm>
          <a:prstGeom prst="rect">
            <a:avLst/>
          </a:prstGeom>
        </p:spPr>
      </p:pic>
      <p:sp>
        <p:nvSpPr>
          <p:cNvPr id="26" name="Ovale 25">
            <a:extLst>
              <a:ext uri="{FF2B5EF4-FFF2-40B4-BE49-F238E27FC236}">
                <a16:creationId xmlns:a16="http://schemas.microsoft.com/office/drawing/2014/main" id="{8002E2E4-9FCF-F0AF-848C-47237B824E96}"/>
              </a:ext>
            </a:extLst>
          </p:cNvPr>
          <p:cNvSpPr>
            <a:spLocks noChangeAspect="1"/>
          </p:cNvSpPr>
          <p:nvPr/>
        </p:nvSpPr>
        <p:spPr>
          <a:xfrm>
            <a:off x="1148128" y="1443215"/>
            <a:ext cx="992836"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pic>
        <p:nvPicPr>
          <p:cNvPr id="10" name="Elemento grafico 9">
            <a:extLst>
              <a:ext uri="{FF2B5EF4-FFF2-40B4-BE49-F238E27FC236}">
                <a16:creationId xmlns:a16="http://schemas.microsoft.com/office/drawing/2014/main" id="{2BF4FD69-3D4F-5EC0-B743-215C091FE8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28605" y="1637273"/>
            <a:ext cx="841573" cy="656220"/>
          </a:xfrm>
          <a:prstGeom prst="rect">
            <a:avLst/>
          </a:prstGeom>
        </p:spPr>
      </p:pic>
      <p:sp>
        <p:nvSpPr>
          <p:cNvPr id="27" name="Ovale 26">
            <a:extLst>
              <a:ext uri="{FF2B5EF4-FFF2-40B4-BE49-F238E27FC236}">
                <a16:creationId xmlns:a16="http://schemas.microsoft.com/office/drawing/2014/main" id="{0F31A3C3-D0E5-1566-65D6-FE3D703AA4E6}"/>
              </a:ext>
            </a:extLst>
          </p:cNvPr>
          <p:cNvSpPr>
            <a:spLocks noChangeAspect="1"/>
          </p:cNvSpPr>
          <p:nvPr/>
        </p:nvSpPr>
        <p:spPr>
          <a:xfrm>
            <a:off x="1148127" y="2629621"/>
            <a:ext cx="1012127"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pic>
        <p:nvPicPr>
          <p:cNvPr id="12" name="Elemento grafico 11">
            <a:extLst>
              <a:ext uri="{FF2B5EF4-FFF2-40B4-BE49-F238E27FC236}">
                <a16:creationId xmlns:a16="http://schemas.microsoft.com/office/drawing/2014/main" id="{DC47AB81-A44B-6EFE-0508-F93395DC445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81984" y="2831608"/>
            <a:ext cx="745913" cy="646575"/>
          </a:xfrm>
          <a:prstGeom prst="rect">
            <a:avLst/>
          </a:prstGeom>
        </p:spPr>
      </p:pic>
      <p:sp>
        <p:nvSpPr>
          <p:cNvPr id="28" name="Ovale 27">
            <a:extLst>
              <a:ext uri="{FF2B5EF4-FFF2-40B4-BE49-F238E27FC236}">
                <a16:creationId xmlns:a16="http://schemas.microsoft.com/office/drawing/2014/main" id="{96B8529A-DC82-3F99-0C38-DEFE4940E89A}"/>
              </a:ext>
            </a:extLst>
          </p:cNvPr>
          <p:cNvSpPr>
            <a:spLocks noChangeAspect="1"/>
          </p:cNvSpPr>
          <p:nvPr/>
        </p:nvSpPr>
        <p:spPr>
          <a:xfrm>
            <a:off x="9588001" y="1578252"/>
            <a:ext cx="992836"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
        <p:nvSpPr>
          <p:cNvPr id="29" name="Ovale 28">
            <a:extLst>
              <a:ext uri="{FF2B5EF4-FFF2-40B4-BE49-F238E27FC236}">
                <a16:creationId xmlns:a16="http://schemas.microsoft.com/office/drawing/2014/main" id="{46D24A5E-1EC2-D77D-EDFF-80CDACB604DA}"/>
              </a:ext>
            </a:extLst>
          </p:cNvPr>
          <p:cNvSpPr>
            <a:spLocks noChangeAspect="1"/>
          </p:cNvSpPr>
          <p:nvPr/>
        </p:nvSpPr>
        <p:spPr>
          <a:xfrm>
            <a:off x="9645875" y="2812886"/>
            <a:ext cx="992836"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sp>
        <p:nvSpPr>
          <p:cNvPr id="30" name="Ovale 29">
            <a:extLst>
              <a:ext uri="{FF2B5EF4-FFF2-40B4-BE49-F238E27FC236}">
                <a16:creationId xmlns:a16="http://schemas.microsoft.com/office/drawing/2014/main" id="{A4DFBED9-5C55-581A-BC2B-CE4038106457}"/>
              </a:ext>
            </a:extLst>
          </p:cNvPr>
          <p:cNvSpPr>
            <a:spLocks noChangeAspect="1"/>
          </p:cNvSpPr>
          <p:nvPr/>
        </p:nvSpPr>
        <p:spPr>
          <a:xfrm>
            <a:off x="9645874" y="4037873"/>
            <a:ext cx="992836"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pic>
        <p:nvPicPr>
          <p:cNvPr id="8" name="Elemento grafico 7">
            <a:extLst>
              <a:ext uri="{FF2B5EF4-FFF2-40B4-BE49-F238E27FC236}">
                <a16:creationId xmlns:a16="http://schemas.microsoft.com/office/drawing/2014/main" id="{CAD09D52-82B1-E463-2DE4-B804327162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49718" y="1781957"/>
            <a:ext cx="876984" cy="640233"/>
          </a:xfrm>
          <a:prstGeom prst="rect">
            <a:avLst/>
          </a:prstGeom>
        </p:spPr>
      </p:pic>
      <p:pic>
        <p:nvPicPr>
          <p:cNvPr id="11" name="Elemento grafico 10">
            <a:extLst>
              <a:ext uri="{FF2B5EF4-FFF2-40B4-BE49-F238E27FC236}">
                <a16:creationId xmlns:a16="http://schemas.microsoft.com/office/drawing/2014/main" id="{C7D520BC-958B-9D92-6242-13BC608C84B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82637" y="3080805"/>
            <a:ext cx="716315" cy="508500"/>
          </a:xfrm>
          <a:prstGeom prst="rect">
            <a:avLst/>
          </a:prstGeom>
        </p:spPr>
      </p:pic>
      <p:pic>
        <p:nvPicPr>
          <p:cNvPr id="15" name="Elemento grafico 14">
            <a:extLst>
              <a:ext uri="{FF2B5EF4-FFF2-40B4-BE49-F238E27FC236}">
                <a16:creationId xmlns:a16="http://schemas.microsoft.com/office/drawing/2014/main" id="{BCB81C5D-1262-ADB1-D51D-BD61DC33B2B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727277" y="4233648"/>
            <a:ext cx="821094" cy="653579"/>
          </a:xfrm>
          <a:prstGeom prst="rect">
            <a:avLst/>
          </a:prstGeom>
        </p:spPr>
      </p:pic>
      <p:sp>
        <p:nvSpPr>
          <p:cNvPr id="31" name="Ovale 30">
            <a:extLst>
              <a:ext uri="{FF2B5EF4-FFF2-40B4-BE49-F238E27FC236}">
                <a16:creationId xmlns:a16="http://schemas.microsoft.com/office/drawing/2014/main" id="{DC8649A9-0E5D-D5F0-A4C0-294BD8BC0DEE}"/>
              </a:ext>
            </a:extLst>
          </p:cNvPr>
          <p:cNvSpPr>
            <a:spLocks noChangeAspect="1"/>
          </p:cNvSpPr>
          <p:nvPr/>
        </p:nvSpPr>
        <p:spPr>
          <a:xfrm>
            <a:off x="10581493" y="5494353"/>
            <a:ext cx="992836" cy="1056401"/>
          </a:xfrm>
          <a:prstGeom prst="ellipse">
            <a:avLst/>
          </a:prstGeom>
          <a:solidFill>
            <a:srgbClr val="FFFFFF"/>
          </a:solidFill>
          <a:ln w="25400" cap="flat">
            <a:solidFill>
              <a:srgbClr val="FFFFFF"/>
            </a:solidFill>
            <a:prstDash val="solid"/>
            <a:round/>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1pPr>
            <a:lvl2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2pPr>
            <a:lvl3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3pPr>
            <a:lvl4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4pPr>
            <a:lvl5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5pPr>
            <a:lvl6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6pPr>
            <a:lvl7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7pPr>
            <a:lvl8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8pPr>
            <a:lvl9pPr marL="0" marR="0" indent="0" algn="l" defTabSz="977871" rtl="0" fontAlgn="auto" latinLnBrk="0" hangingPunct="0">
              <a:lnSpc>
                <a:spcPct val="100000"/>
              </a:lnSpc>
              <a:spcBef>
                <a:spcPts val="0"/>
              </a:spcBef>
              <a:spcAft>
                <a:spcPts val="0"/>
              </a:spcAft>
              <a:buClrTx/>
              <a:buSzTx/>
              <a:buFontTx/>
              <a:buNone/>
              <a:tabLst/>
              <a:defRPr kumimoji="0" sz="3600" b="0" i="0" u="none" strike="noStrike" cap="all" spc="0" normalizeH="0" baseline="0">
                <a:ln>
                  <a:noFill/>
                </a:ln>
                <a:solidFill>
                  <a:srgbClr val="FFFFFF"/>
                </a:solidFill>
                <a:effectLst/>
                <a:uFillTx/>
                <a:latin typeface="+mj-lt"/>
                <a:ea typeface="+mj-ea"/>
                <a:cs typeface="+mj-cs"/>
                <a:sym typeface="Helvetica Neue"/>
              </a:defRPr>
            </a:lvl9pPr>
          </a:lstStyle>
          <a:p>
            <a:pPr marL="0" marR="0" indent="0" algn="l" defTabSz="825500" rtl="0" fontAlgn="auto" latinLnBrk="0" hangingPunct="0">
              <a:lnSpc>
                <a:spcPct val="150000"/>
              </a:lnSpc>
              <a:spcBef>
                <a:spcPts val="2000"/>
              </a:spcBef>
              <a:spcAft>
                <a:spcPts val="0"/>
              </a:spcAft>
              <a:buClrTx/>
              <a:buSzTx/>
              <a:buFontTx/>
              <a:buNone/>
              <a:tabLst/>
            </a:pPr>
            <a:endParaRPr kumimoji="0" lang="it-IT" sz="2500" b="0" i="0" u="none" strike="noStrike" cap="none" spc="0" normalizeH="0" baseline="0">
              <a:ln>
                <a:noFill/>
              </a:ln>
              <a:solidFill>
                <a:srgbClr val="212121"/>
              </a:solidFill>
              <a:effectLst/>
              <a:uFillTx/>
              <a:latin typeface="+mn-lt"/>
              <a:ea typeface="+mn-ea"/>
              <a:cs typeface="+mn-cs"/>
              <a:sym typeface="Helvetica"/>
            </a:endParaRPr>
          </a:p>
        </p:txBody>
      </p:sp>
      <p:pic>
        <p:nvPicPr>
          <p:cNvPr id="13" name="Elemento grafico 12">
            <a:extLst>
              <a:ext uri="{FF2B5EF4-FFF2-40B4-BE49-F238E27FC236}">
                <a16:creationId xmlns:a16="http://schemas.microsoft.com/office/drawing/2014/main" id="{1D271D21-9269-D684-0956-C8C99813672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584543" y="5713252"/>
            <a:ext cx="987052" cy="607336"/>
          </a:xfrm>
          <a:prstGeom prst="rect">
            <a:avLst/>
          </a:prstGeom>
        </p:spPr>
      </p:pic>
      <p:sp>
        <p:nvSpPr>
          <p:cNvPr id="32" name="CasellaDiTesto 31">
            <a:extLst>
              <a:ext uri="{FF2B5EF4-FFF2-40B4-BE49-F238E27FC236}">
                <a16:creationId xmlns:a16="http://schemas.microsoft.com/office/drawing/2014/main" id="{A0245C7C-A3CA-2821-8EBB-E4B8D50CD4EA}"/>
              </a:ext>
            </a:extLst>
          </p:cNvPr>
          <p:cNvSpPr txBox="1"/>
          <p:nvPr/>
        </p:nvSpPr>
        <p:spPr>
          <a:xfrm>
            <a:off x="305958" y="5201968"/>
            <a:ext cx="10110208" cy="13465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lnSpc>
                <a:spcPts val="1875"/>
              </a:lnSpc>
              <a:spcBef>
                <a:spcPts val="2000"/>
              </a:spcBef>
            </a:pPr>
            <a:r>
              <a:rPr lang="it-IT" b="1" dirty="0">
                <a:solidFill>
                  <a:srgbClr val="FFFFFF"/>
                </a:solidFill>
                <a:latin typeface="Source Sans Pro" panose="020B0503030403020204" pitchFamily="34" charset="0"/>
                <a:ea typeface="Source Sans Pro" panose="020B0503030403020204" pitchFamily="34" charset="0"/>
                <a:cs typeface="Arial"/>
              </a:rPr>
              <a:t>11. E American Express? </a:t>
            </a:r>
            <a:endParaRPr lang="it-IT" b="1" dirty="0">
              <a:latin typeface="Source Sans Pro" panose="020B0503030403020204" pitchFamily="34" charset="0"/>
              <a:ea typeface="Source Sans Pro" panose="020B0503030403020204" pitchFamily="34" charset="0"/>
            </a:endParaRPr>
          </a:p>
          <a:p>
            <a:pPr defTabSz="825500">
              <a:lnSpc>
                <a:spcPts val="1875"/>
              </a:lnSpc>
              <a:spcBef>
                <a:spcPts val="2000"/>
              </a:spcBef>
            </a:pPr>
            <a:r>
              <a:rPr lang="it-IT" dirty="0">
                <a:solidFill>
                  <a:srgbClr val="FFFFFF"/>
                </a:solidFill>
                <a:latin typeface="Source Sans Pro" panose="020B0503030403020204" pitchFamily="34" charset="0"/>
                <a:ea typeface="Source Sans Pro" panose="020B0503030403020204" pitchFamily="34" charset="0"/>
                <a:cs typeface="Arial"/>
              </a:rPr>
              <a:t>Amex è un convenzionamento diretto con l'esercente, che una volta fatta richiesta ad Amex, </a:t>
            </a:r>
            <a:br>
              <a:rPr lang="it-IT" dirty="0">
                <a:solidFill>
                  <a:srgbClr val="FFFFFF"/>
                </a:solidFill>
                <a:latin typeface="Source Sans Pro" panose="020B0503030403020204" pitchFamily="34" charset="0"/>
                <a:ea typeface="Source Sans Pro" panose="020B0503030403020204" pitchFamily="34" charset="0"/>
                <a:cs typeface="Arial"/>
              </a:rPr>
            </a:br>
            <a:r>
              <a:rPr lang="it-IT" dirty="0">
                <a:solidFill>
                  <a:srgbClr val="FFFFFF"/>
                </a:solidFill>
                <a:latin typeface="Source Sans Pro" panose="020B0503030403020204" pitchFamily="34" charset="0"/>
                <a:ea typeface="Source Sans Pro" panose="020B0503030403020204" pitchFamily="34" charset="0"/>
                <a:cs typeface="Arial"/>
              </a:rPr>
              <a:t>è possibile abilitare sul POS </a:t>
            </a:r>
            <a:r>
              <a:rPr lang="it-IT" dirty="0" err="1">
                <a:solidFill>
                  <a:srgbClr val="FFFFFF"/>
                </a:solidFill>
                <a:latin typeface="Source Sans Pro" panose="020B0503030403020204" pitchFamily="34" charset="0"/>
                <a:ea typeface="Source Sans Pro" panose="020B0503030403020204" pitchFamily="34" charset="0"/>
                <a:cs typeface="Arial"/>
              </a:rPr>
              <a:t>CustomPay</a:t>
            </a:r>
            <a:endParaRPr lang="en-US" dirty="0">
              <a:latin typeface="Source Sans Pro" panose="020B0503030403020204" pitchFamily="34" charset="0"/>
              <a:ea typeface="Source Sans Pro" panose="020B0503030403020204" pitchFamily="34" charset="0"/>
            </a:endParaRPr>
          </a:p>
        </p:txBody>
      </p:sp>
      <p:sp>
        <p:nvSpPr>
          <p:cNvPr id="33" name="CasellaDiTesto 32">
            <a:extLst>
              <a:ext uri="{FF2B5EF4-FFF2-40B4-BE49-F238E27FC236}">
                <a16:creationId xmlns:a16="http://schemas.microsoft.com/office/drawing/2014/main" id="{6ED43D53-3EE7-F806-75F9-679BB3C08B4D}"/>
              </a:ext>
            </a:extLst>
          </p:cNvPr>
          <p:cNvSpPr txBox="1"/>
          <p:nvPr/>
        </p:nvSpPr>
        <p:spPr>
          <a:xfrm>
            <a:off x="309914" y="401325"/>
            <a:ext cx="5135301" cy="7745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defTabSz="825500" hangingPunct="0">
              <a:lnSpc>
                <a:spcPct val="150000"/>
              </a:lnSpc>
              <a:spcBef>
                <a:spcPts val="2000"/>
              </a:spcBef>
            </a:pPr>
            <a:r>
              <a:rPr lang="it-IT" b="1" dirty="0">
                <a:solidFill>
                  <a:srgbClr val="FFFFFF"/>
                </a:solidFill>
                <a:latin typeface="Source Sans Pro" panose="020B0503030403020204" pitchFamily="34" charset="0"/>
                <a:ea typeface="Source Sans Pro" panose="020B0503030403020204" pitchFamily="34" charset="0"/>
              </a:rPr>
              <a:t>10. Quali circuiti vengono gestiti?</a:t>
            </a:r>
            <a:endParaRPr lang="it-IT" b="1"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842484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963B9-C14E-DD9C-7460-CAEC09A99212}"/>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1E7D54BB-7059-A465-6A62-2DE7FA86E71E}"/>
              </a:ext>
            </a:extLst>
          </p:cNvPr>
          <p:cNvSpPr txBox="1"/>
          <p:nvPr/>
        </p:nvSpPr>
        <p:spPr>
          <a:xfrm>
            <a:off x="985350" y="2508738"/>
            <a:ext cx="6622006" cy="6052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defTabSz="412750">
              <a:lnSpc>
                <a:spcPct val="90000"/>
              </a:lnSpc>
              <a:defRPr/>
            </a:pPr>
            <a:r>
              <a:rPr lang="it-IT" sz="4000" b="1" kern="0">
                <a:solidFill>
                  <a:srgbClr val="FFFFFF"/>
                </a:solidFill>
                <a:latin typeface="Source Sans Pro"/>
                <a:ea typeface="Source Sans Pro Light"/>
                <a:cs typeface="Helvetica"/>
                <a:sym typeface="Helvetica"/>
              </a:rPr>
              <a:t>GRAZIE DELL'ATTENZIONE</a:t>
            </a:r>
            <a:endParaRPr lang="it-IT"/>
          </a:p>
        </p:txBody>
      </p:sp>
    </p:spTree>
    <p:extLst>
      <p:ext uri="{BB962C8B-B14F-4D97-AF65-F5344CB8AC3E}">
        <p14:creationId xmlns:p14="http://schemas.microsoft.com/office/powerpoint/2010/main" val="107881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Pay">
  <a:themeElements>
    <a:clrScheme name="White">
      <a:dk1>
        <a:srgbClr val="212121"/>
      </a:dk1>
      <a:lt1>
        <a:srgbClr val="808180"/>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825500" rtl="0" fontAlgn="auto" latinLnBrk="0" hangingPunct="0">
          <a:lnSpc>
            <a:spcPct val="150000"/>
          </a:lnSpc>
          <a:spcBef>
            <a:spcPts val="2000"/>
          </a:spcBef>
          <a:spcAft>
            <a:spcPts val="0"/>
          </a:spcAft>
          <a:buClrTx/>
          <a:buSzTx/>
          <a:buFontTx/>
          <a:buNone/>
          <a:tabLst/>
          <a:defRPr kumimoji="0" sz="2500" b="0" i="0" u="none" strike="noStrike" cap="none" spc="0" normalizeH="0" baseline="0">
            <a:ln>
              <a:noFill/>
            </a:ln>
            <a:solidFill>
              <a:srgbClr val="212121"/>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2000"/>
          </a:spcBef>
          <a:spcAft>
            <a:spcPts val="0"/>
          </a:spcAft>
          <a:buClrTx/>
          <a:buSzTx/>
          <a:buFontTx/>
          <a:buNone/>
          <a:tabLst/>
          <a:defRPr kumimoji="0" sz="2500" b="0" i="0" u="none" strike="noStrike" cap="none" spc="0" normalizeH="0" baseline="0">
            <a:ln>
              <a:noFill/>
            </a:ln>
            <a:solidFill>
              <a:srgbClr val="212121"/>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Custom Pay">
  <a:themeElements>
    <a:clrScheme name="White">
      <a:dk1>
        <a:srgbClr val="212121"/>
      </a:dk1>
      <a:lt1>
        <a:srgbClr val="808180"/>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825500" rtl="0" fontAlgn="auto" latinLnBrk="0" hangingPunct="0">
          <a:lnSpc>
            <a:spcPct val="150000"/>
          </a:lnSpc>
          <a:spcBef>
            <a:spcPts val="2000"/>
          </a:spcBef>
          <a:spcAft>
            <a:spcPts val="0"/>
          </a:spcAft>
          <a:buClrTx/>
          <a:buSzTx/>
          <a:buFontTx/>
          <a:buNone/>
          <a:tabLst/>
          <a:defRPr kumimoji="0" sz="2500" b="0" i="0" u="none" strike="noStrike" cap="none" spc="0" normalizeH="0" baseline="0">
            <a:ln>
              <a:noFill/>
            </a:ln>
            <a:solidFill>
              <a:srgbClr val="212121"/>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50000"/>
          </a:lnSpc>
          <a:spcBef>
            <a:spcPts val="2000"/>
          </a:spcBef>
          <a:spcAft>
            <a:spcPts val="0"/>
          </a:spcAft>
          <a:buClrTx/>
          <a:buSzTx/>
          <a:buFontTx/>
          <a:buNone/>
          <a:tabLst/>
          <a:defRPr kumimoji="0" sz="2500" b="0" i="0" u="none" strike="noStrike" cap="none" spc="0" normalizeH="0" baseline="0">
            <a:ln>
              <a:noFill/>
            </a:ln>
            <a:solidFill>
              <a:srgbClr val="212121"/>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A441E976E4BC4B973D5DC5E21D5E3B" ma:contentTypeVersion="16" ma:contentTypeDescription="Create a new document." ma:contentTypeScope="" ma:versionID="9d65f01f05a406597c2b3c0f9d88c6d3">
  <xsd:schema xmlns:xsd="http://www.w3.org/2001/XMLSchema" xmlns:xs="http://www.w3.org/2001/XMLSchema" xmlns:p="http://schemas.microsoft.com/office/2006/metadata/properties" xmlns:ns2="b2457317-bc06-4822-90b1-4739f00f335d" xmlns:ns3="42852c63-7609-486f-94fd-14be883e09fe" targetNamespace="http://schemas.microsoft.com/office/2006/metadata/properties" ma:root="true" ma:fieldsID="de94a20c1e19e40d000eab0ac2ee6b40" ns2:_="" ns3:_="">
    <xsd:import namespace="b2457317-bc06-4822-90b1-4739f00f335d"/>
    <xsd:import namespace="42852c63-7609-486f-94fd-14be883e09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457317-bc06-4822-90b1-4739f00f33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370089c-7fa6-495d-8d1c-c16837b2652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852c63-7609-486f-94fd-14be883e09f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13536d0-991a-46d5-8fb8-f8942c132728}" ma:internalName="TaxCatchAll" ma:showField="CatchAllData" ma:web="42852c63-7609-486f-94fd-14be883e09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2457317-bc06-4822-90b1-4739f00f335d">
      <Terms xmlns="http://schemas.microsoft.com/office/infopath/2007/PartnerControls"/>
    </lcf76f155ced4ddcb4097134ff3c332f>
    <TaxCatchAll xmlns="42852c63-7609-486f-94fd-14be883e09fe" xsi:nil="true"/>
  </documentManagement>
</p:properties>
</file>

<file path=customXml/itemProps1.xml><?xml version="1.0" encoding="utf-8"?>
<ds:datastoreItem xmlns:ds="http://schemas.openxmlformats.org/officeDocument/2006/customXml" ds:itemID="{F898CECE-EBEF-4BD4-9300-727985A808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457317-bc06-4822-90b1-4739f00f335d"/>
    <ds:schemaRef ds:uri="42852c63-7609-486f-94fd-14be883e09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E50ADC-AFDF-4E4C-BD1E-AAFB0B6BB45A}">
  <ds:schemaRefs>
    <ds:schemaRef ds:uri="http://schemas.microsoft.com/sharepoint/v3/contenttype/forms"/>
  </ds:schemaRefs>
</ds:datastoreItem>
</file>

<file path=customXml/itemProps3.xml><?xml version="1.0" encoding="utf-8"?>
<ds:datastoreItem xmlns:ds="http://schemas.openxmlformats.org/officeDocument/2006/customXml" ds:itemID="{4C0ED1C1-7224-4B7D-B24B-FFA8782C10CC}">
  <ds:schemaRefs>
    <ds:schemaRef ds:uri="b2457317-bc06-4822-90b1-4739f00f335d"/>
    <ds:schemaRef ds:uri="http://purl.org/dc/terms/"/>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42852c63-7609-486f-94fd-14be883e09fe"/>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1860</TotalTime>
  <Words>2642</Words>
  <Application>Microsoft Office PowerPoint</Application>
  <PresentationFormat>Widescreen</PresentationFormat>
  <Paragraphs>277</Paragraphs>
  <Slides>35</Slides>
  <Notes>4</Notes>
  <HiddenSlides>0</HiddenSlides>
  <MMClips>0</MMClips>
  <ScaleCrop>false</ScaleCrop>
  <HeadingPairs>
    <vt:vector size="6" baseType="variant">
      <vt:variant>
        <vt:lpstr>Caratteri utilizzati</vt:lpstr>
      </vt:variant>
      <vt:variant>
        <vt:i4>12</vt:i4>
      </vt:variant>
      <vt:variant>
        <vt:lpstr>Tema</vt:lpstr>
      </vt:variant>
      <vt:variant>
        <vt:i4>4</vt:i4>
      </vt:variant>
      <vt:variant>
        <vt:lpstr>Titoli diapositive</vt:lpstr>
      </vt:variant>
      <vt:variant>
        <vt:i4>35</vt:i4>
      </vt:variant>
    </vt:vector>
  </HeadingPairs>
  <TitlesOfParts>
    <vt:vector size="51" baseType="lpstr">
      <vt:lpstr>Aptos</vt:lpstr>
      <vt:lpstr>Aptos Display</vt:lpstr>
      <vt:lpstr>Arial</vt:lpstr>
      <vt:lpstr>Arial,Sans-Serif</vt:lpstr>
      <vt:lpstr>Courier New</vt:lpstr>
      <vt:lpstr>Helvetica</vt:lpstr>
      <vt:lpstr>Source Sans Pro</vt:lpstr>
      <vt:lpstr>Source Sans Pro Light</vt:lpstr>
      <vt:lpstr>Source Sans Pro Regular</vt:lpstr>
      <vt:lpstr>Source Sans Pro Semibold</vt:lpstr>
      <vt:lpstr>Symbol</vt:lpstr>
      <vt:lpstr>Titillium Web</vt:lpstr>
      <vt:lpstr>Tema di Office</vt:lpstr>
      <vt:lpstr>Custom Pay</vt:lpstr>
      <vt:lpstr>1_Tema di Office</vt:lpstr>
      <vt:lpstr>1_Custom Pay</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Veronica Capra</dc:creator>
  <cp:lastModifiedBy>Elisa Rozzi</cp:lastModifiedBy>
  <cp:revision>9</cp:revision>
  <dcterms:created xsi:type="dcterms:W3CDTF">2025-05-12T08:08:12Z</dcterms:created>
  <dcterms:modified xsi:type="dcterms:W3CDTF">2026-02-11T11:00:39Z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0x0101008EA441E976E4BC4B973D5DC5E21D5E3B</vt:lpwstr>
  </property>
  <property fmtid="{D5CDD505-2E9C-101B-9397-08002B2CF9AE}" pid="3" name="MediaServiceImageTags">
    <vt:lpwstr/>
  </property>
</Properties>
</file>